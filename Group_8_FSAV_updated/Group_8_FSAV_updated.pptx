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charts/chart2.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3.xml" ContentType="application/vnd.openxmlformats-officedocument.drawingml.chart+xml"/>
  <Override PartName="/ppt/notesSlides/notesSlide8.xml" ContentType="application/vnd.openxmlformats-officedocument.presentationml.notesSlide+xml"/>
  <Override PartName="/ppt/charts/chart4.xml" ContentType="application/vnd.openxmlformats-officedocument.drawingml.chart+xml"/>
  <Override PartName="/ppt/charts/chart5.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6.xml" ContentType="application/vnd.openxmlformats-officedocument.drawingml.chart+xml"/>
  <Override PartName="/ppt/notesSlides/notesSlide12.xml" ContentType="application/vnd.openxmlformats-officedocument.presentationml.notesSlide+xml"/>
  <Override PartName="/ppt/charts/chart7.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9B75C62-4FF3-4E67-A71A-1DD6E8300A2F}" v="2" dt="2026-08-22T18:24:36.88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00" autoAdjust="0"/>
    <p:restoredTop sz="94610"/>
  </p:normalViewPr>
  <p:slideViewPr>
    <p:cSldViewPr snapToGrid="0" snapToObjects="1">
      <p:cViewPr varScale="1">
        <p:scale>
          <a:sx n="111" d="100"/>
          <a:sy n="111" d="100"/>
        </p:scale>
        <p:origin x="306"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ukul singh" userId="ec6051dbf28ceb1b" providerId="LiveId" clId="{F1BC96D7-F33A-4721-998D-9F167CE43CD8}"/>
    <pc:docChg chg="modSld">
      <pc:chgData name="mukul singh" userId="ec6051dbf28ceb1b" providerId="LiveId" clId="{F1BC96D7-F33A-4721-998D-9F167CE43CD8}" dt="2026-08-22T18:24:49.386" v="20" actId="14100"/>
      <pc:docMkLst>
        <pc:docMk/>
      </pc:docMkLst>
      <pc:sldChg chg="modSp mod">
        <pc:chgData name="mukul singh" userId="ec6051dbf28ceb1b" providerId="LiveId" clId="{F1BC96D7-F33A-4721-998D-9F167CE43CD8}" dt="2026-08-22T18:23:46.005" v="5" actId="20577"/>
        <pc:sldMkLst>
          <pc:docMk/>
          <pc:sldMk cId="0" sldId="256"/>
        </pc:sldMkLst>
        <pc:spChg chg="mod">
          <ac:chgData name="mukul singh" userId="ec6051dbf28ceb1b" providerId="LiveId" clId="{F1BC96D7-F33A-4721-998D-9F167CE43CD8}" dt="2026-08-22T18:23:46.005" v="5" actId="20577"/>
          <ac:spMkLst>
            <pc:docMk/>
            <pc:sldMk cId="0" sldId="256"/>
            <ac:spMk id="7" creationId="{00000000-0000-0000-0000-000000000000}"/>
          </ac:spMkLst>
        </pc:spChg>
      </pc:sldChg>
      <pc:sldChg chg="addSp modSp mod">
        <pc:chgData name="mukul singh" userId="ec6051dbf28ceb1b" providerId="LiveId" clId="{F1BC96D7-F33A-4721-998D-9F167CE43CD8}" dt="2026-08-22T18:24:49.386" v="20" actId="14100"/>
        <pc:sldMkLst>
          <pc:docMk/>
          <pc:sldMk cId="0" sldId="270"/>
        </pc:sldMkLst>
        <pc:spChg chg="add mod">
          <ac:chgData name="mukul singh" userId="ec6051dbf28ceb1b" providerId="LiveId" clId="{F1BC96D7-F33A-4721-998D-9F167CE43CD8}" dt="2026-08-22T18:24:49.386" v="20" actId="14100"/>
          <ac:spMkLst>
            <pc:docMk/>
            <pc:sldMk cId="0" sldId="270"/>
            <ac:spMk id="23" creationId="{1E1C92F2-2F8F-7E15-8F11-7E059F8662DB}"/>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1" i="0" u="none" strike="noStrike">
                <a:solidFill>
                  <a:srgbClr val="1E2A22"/>
                </a:solidFill>
                <a:latin typeface="Calibri"/>
              </a:defRPr>
            </a:pPr>
            <a:r>
              <a:rPr lang="en-US" sz="1200" b="1" i="0" u="none" strike="noStrike">
                <a:solidFill>
                  <a:srgbClr val="1E2A22"/>
                </a:solidFill>
                <a:latin typeface="Calibri"/>
              </a:rPr>
              <a:t>Net Sales, FY2017–FY2026</a:t>
            </a:r>
          </a:p>
        </c:rich>
      </c:tx>
      <c:overlay val="0"/>
    </c:title>
    <c:autoTitleDeleted val="0"/>
    <c:plotArea>
      <c:layout/>
      <c:barChart>
        <c:barDir val="col"/>
        <c:grouping val="clustered"/>
        <c:varyColors val="0"/>
        <c:ser>
          <c:idx val="0"/>
          <c:order val="0"/>
          <c:tx>
            <c:strRef>
              <c:f>Sheet1!$B$1</c:f>
              <c:strCache>
                <c:ptCount val="1"/>
                <c:pt idx="0">
                  <c:v>Net Sales (Rs. crore)</c:v>
                </c:pt>
              </c:strCache>
            </c:strRef>
          </c:tx>
          <c:spPr>
            <a:solidFill>
              <a:srgbClr val="1E2A22"/>
            </a:solidFill>
            <a:effectLst/>
          </c:spPr>
          <c:invertIfNegative val="0"/>
          <c:dLbls>
            <c:numFmt formatCode="#,##0" sourceLinked="0"/>
            <c:spPr>
              <a:noFill/>
              <a:ln>
                <a:noFill/>
              </a:ln>
              <a:effectLst/>
            </c:spPr>
            <c:txPr>
              <a:bodyPr/>
              <a:lstStyle/>
              <a:p>
                <a:pPr>
                  <a:defRPr sz="1200" b="0" i="0" u="none" strike="noStrike">
                    <a:solidFill>
                      <a:srgbClr val="1E2A22"/>
                    </a:solidFill>
                    <a:latin typeface="Aria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4"/>
                <c:pt idx="0">
                  <c:v>FY23</c:v>
                </c:pt>
                <c:pt idx="1">
                  <c:v>FY24</c:v>
                </c:pt>
                <c:pt idx="2">
                  <c:v>FY25</c:v>
                </c:pt>
                <c:pt idx="3">
                  <c:v>FY26</c:v>
                </c:pt>
              </c:strCache>
            </c:strRef>
          </c:cat>
          <c:val>
            <c:numRef>
              <c:f>Sheet1!$B$2:$B$11</c:f>
              <c:numCache>
                <c:formatCode>General</c:formatCode>
                <c:ptCount val="4"/>
                <c:pt idx="0">
                  <c:v>60580</c:v>
                </c:pt>
                <c:pt idx="1">
                  <c:v>61896</c:v>
                </c:pt>
                <c:pt idx="2">
                  <c:v>61328</c:v>
                </c:pt>
                <c:pt idx="3">
                  <c:v>64468</c:v>
                </c:pt>
              </c:numCache>
            </c:numRef>
          </c:val>
          <c:extLst>
            <c:ext xmlns:c16="http://schemas.microsoft.com/office/drawing/2014/chart" uri="{C3380CC4-5D6E-409C-BE32-E72D297353CC}">
              <c16:uniqueId val="{00000000-B623-4940-8A86-2CC60F729625}"/>
            </c:ext>
          </c:extLst>
        </c:ser>
        <c:dLbls>
          <c:dLblPos val="outEnd"/>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CDD3CB"/>
            </a:solidFill>
            <a:prstDash val="solid"/>
            <a:round/>
          </a:ln>
        </c:spPr>
        <c:txPr>
          <a:bodyPr/>
          <a:lstStyle/>
          <a:p>
            <a:pPr>
              <a:defRPr sz="900" b="0" i="0" u="none" strike="noStrike">
                <a:solidFill>
                  <a:srgbClr val="5B6058"/>
                </a:solidFill>
                <a:latin typeface="Calibri"/>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CDD3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6058"/>
                </a:solidFill>
                <a:latin typeface="Calibri"/>
              </a:defRPr>
            </a:pPr>
            <a:endParaRPr lang="en-US"/>
          </a:p>
        </c:txPr>
        <c:crossAx val="2094734554"/>
        <c:crosses val="autoZero"/>
        <c:crossBetween val="between"/>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1" i="0" u="none" strike="noStrike">
                <a:solidFill>
                  <a:srgbClr val="1E2A22"/>
                </a:solidFill>
                <a:latin typeface="Calibri"/>
              </a:defRPr>
            </a:pPr>
            <a:r>
              <a:rPr lang="en-US" sz="1200" b="1" i="0" u="none" strike="noStrike">
                <a:solidFill>
                  <a:srgbClr val="1E2A22"/>
                </a:solidFill>
                <a:latin typeface="Calibri"/>
              </a:rPr>
              <a:t>Operating Margin, ROE and ROCE (%), FY2017–FY2026</a:t>
            </a:r>
          </a:p>
        </c:rich>
      </c:tx>
      <c:overlay val="0"/>
    </c:title>
    <c:autoTitleDeleted val="0"/>
    <c:plotArea>
      <c:layout>
        <c:manualLayout>
          <c:layoutTarget val="inner"/>
          <c:xMode val="edge"/>
          <c:yMode val="edge"/>
          <c:x val="4.1613079615048121E-2"/>
          <c:y val="0.10131578947368421"/>
          <c:w val="0.93928969816272967"/>
          <c:h val="0.80021250633144536"/>
        </c:manualLayout>
      </c:layout>
      <c:lineChart>
        <c:grouping val="standard"/>
        <c:varyColors val="0"/>
        <c:ser>
          <c:idx val="0"/>
          <c:order val="0"/>
          <c:tx>
            <c:strRef>
              <c:f>Sheet1!$B$1</c:f>
              <c:strCache>
                <c:ptCount val="1"/>
                <c:pt idx="0">
                  <c:v>Operating Margin %</c:v>
                </c:pt>
              </c:strCache>
            </c:strRef>
          </c:tx>
          <c:spPr>
            <a:ln w="28575" cap="flat">
              <a:solidFill>
                <a:srgbClr val="8C6A3F"/>
              </a:solidFill>
              <a:prstDash val="solid"/>
              <a:round/>
            </a:ln>
            <a:effectLst/>
          </c:spPr>
          <c:marker>
            <c:symbol val="circle"/>
            <c:size val="5"/>
            <c:spPr>
              <a:solidFill>
                <a:srgbClr val="8C6A3F"/>
              </a:solidFill>
              <a:ln w="9525" cap="flat">
                <a:solidFill>
                  <a:srgbClr val="8C6A3F"/>
                </a:solidFill>
                <a:prstDash val="solid"/>
                <a:round/>
              </a:ln>
              <a:effectLst/>
            </c:spPr>
          </c:marker>
          <c:dLbls>
            <c:numFmt formatCode="#,##0" sourceLinked="0"/>
            <c:spPr>
              <a:noFill/>
              <a:ln>
                <a:noFill/>
              </a:ln>
              <a:effectLst/>
            </c:spPr>
            <c:txPr>
              <a:bodyPr/>
              <a:lstStyle/>
              <a:p>
                <a:pPr>
                  <a:defRPr sz="1200" b="0" i="0" u="none" strike="noStrike">
                    <a:solidFill>
                      <a:srgbClr val="000000"/>
                    </a:solidFill>
                    <a:latin typeface="Arial"/>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4"/>
                <c:pt idx="0">
                  <c:v>FY23</c:v>
                </c:pt>
                <c:pt idx="1">
                  <c:v>FY24</c:v>
                </c:pt>
                <c:pt idx="2">
                  <c:v>FY25</c:v>
                </c:pt>
                <c:pt idx="3">
                  <c:v>FY26</c:v>
                </c:pt>
              </c:strCache>
            </c:strRef>
          </c:cat>
          <c:val>
            <c:numRef>
              <c:f>Sheet1!$B$2:$B$11</c:f>
              <c:numCache>
                <c:formatCode>General</c:formatCode>
                <c:ptCount val="4"/>
                <c:pt idx="0">
                  <c:v>22.2</c:v>
                </c:pt>
                <c:pt idx="1">
                  <c:v>23</c:v>
                </c:pt>
                <c:pt idx="2">
                  <c:v>24.1</c:v>
                </c:pt>
                <c:pt idx="3">
                  <c:v>28.9</c:v>
                </c:pt>
              </c:numCache>
            </c:numRef>
          </c:val>
          <c:smooth val="0"/>
          <c:extLst>
            <c:ext xmlns:c16="http://schemas.microsoft.com/office/drawing/2014/chart" uri="{C3380CC4-5D6E-409C-BE32-E72D297353CC}">
              <c16:uniqueId val="{00000000-BB08-409E-B72F-17F84195AE6F}"/>
            </c:ext>
          </c:extLst>
        </c:ser>
        <c:ser>
          <c:idx val="1"/>
          <c:order val="1"/>
          <c:tx>
            <c:strRef>
              <c:f>Sheet1!$C$1</c:f>
              <c:strCache>
                <c:ptCount val="1"/>
                <c:pt idx="0">
                  <c:v>ROE %</c:v>
                </c:pt>
              </c:strCache>
            </c:strRef>
          </c:tx>
          <c:spPr>
            <a:ln w="28575" cap="flat">
              <a:solidFill>
                <a:srgbClr val="AA5A34"/>
              </a:solidFill>
              <a:prstDash val="solid"/>
              <a:round/>
            </a:ln>
            <a:effectLst/>
          </c:spPr>
          <c:marker>
            <c:symbol val="circle"/>
            <c:size val="5"/>
            <c:spPr>
              <a:solidFill>
                <a:srgbClr val="AA5A34"/>
              </a:solidFill>
              <a:ln w="9525" cap="flat">
                <a:solidFill>
                  <a:srgbClr val="AA5A34"/>
                </a:solidFill>
                <a:prstDash val="solid"/>
                <a:round/>
              </a:ln>
              <a:effectLst/>
            </c:spPr>
          </c:marker>
          <c:dLbls>
            <c:numFmt formatCode="#,##0" sourceLinked="0"/>
            <c:spPr>
              <a:noFill/>
              <a:ln>
                <a:noFill/>
              </a:ln>
              <a:effectLst/>
            </c:spPr>
            <c:txPr>
              <a:bodyPr/>
              <a:lstStyle/>
              <a:p>
                <a:pPr>
                  <a:defRPr sz="1200" b="0" i="0" u="none" strike="noStrike">
                    <a:solidFill>
                      <a:srgbClr val="000000"/>
                    </a:solidFill>
                    <a:latin typeface="Arial"/>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4"/>
                <c:pt idx="0">
                  <c:v>FY23</c:v>
                </c:pt>
                <c:pt idx="1">
                  <c:v>FY24</c:v>
                </c:pt>
                <c:pt idx="2">
                  <c:v>FY25</c:v>
                </c:pt>
                <c:pt idx="3">
                  <c:v>FY26</c:v>
                </c:pt>
              </c:strCache>
            </c:strRef>
          </c:cat>
          <c:val>
            <c:numRef>
              <c:f>Sheet1!$C$2:$C$11</c:f>
              <c:numCache>
                <c:formatCode>General</c:formatCode>
                <c:ptCount val="4"/>
                <c:pt idx="0">
                  <c:v>20.399999999999999</c:v>
                </c:pt>
                <c:pt idx="1">
                  <c:v>20.2</c:v>
                </c:pt>
                <c:pt idx="2">
                  <c:v>21.2</c:v>
                </c:pt>
                <c:pt idx="3">
                  <c:v>30.6</c:v>
                </c:pt>
              </c:numCache>
            </c:numRef>
          </c:val>
          <c:smooth val="0"/>
          <c:extLst>
            <c:ext xmlns:c16="http://schemas.microsoft.com/office/drawing/2014/chart" uri="{C3380CC4-5D6E-409C-BE32-E72D297353CC}">
              <c16:uniqueId val="{00000001-BB08-409E-B72F-17F84195AE6F}"/>
            </c:ext>
          </c:extLst>
        </c:ser>
        <c:ser>
          <c:idx val="2"/>
          <c:order val="2"/>
          <c:tx>
            <c:strRef>
              <c:f>Sheet1!$D$1</c:f>
              <c:strCache>
                <c:ptCount val="1"/>
                <c:pt idx="0">
                  <c:v>ROCE %</c:v>
                </c:pt>
              </c:strCache>
            </c:strRef>
          </c:tx>
          <c:spPr>
            <a:ln w="28575" cap="flat">
              <a:solidFill>
                <a:srgbClr val="1E2A22"/>
              </a:solidFill>
              <a:prstDash val="solid"/>
              <a:round/>
            </a:ln>
            <a:effectLst/>
          </c:spPr>
          <c:marker>
            <c:symbol val="circle"/>
            <c:size val="5"/>
            <c:spPr>
              <a:solidFill>
                <a:srgbClr val="1E2A22"/>
              </a:solidFill>
              <a:ln w="9525" cap="flat">
                <a:solidFill>
                  <a:srgbClr val="1E2A22"/>
                </a:solidFill>
                <a:prstDash val="solid"/>
                <a:round/>
              </a:ln>
              <a:effectLst/>
            </c:spPr>
          </c:marker>
          <c:dLbls>
            <c:numFmt formatCode="#,##0" sourceLinked="0"/>
            <c:spPr>
              <a:noFill/>
              <a:ln>
                <a:noFill/>
              </a:ln>
              <a:effectLst/>
            </c:spPr>
            <c:txPr>
              <a:bodyPr/>
              <a:lstStyle/>
              <a:p>
                <a:pPr>
                  <a:defRPr sz="1200" b="0" i="0" u="none" strike="noStrike">
                    <a:solidFill>
                      <a:srgbClr val="000000"/>
                    </a:solidFill>
                    <a:latin typeface="Arial"/>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4"/>
                <c:pt idx="0">
                  <c:v>FY23</c:v>
                </c:pt>
                <c:pt idx="1">
                  <c:v>FY24</c:v>
                </c:pt>
                <c:pt idx="2">
                  <c:v>FY25</c:v>
                </c:pt>
                <c:pt idx="3">
                  <c:v>FY26</c:v>
                </c:pt>
              </c:strCache>
            </c:strRef>
          </c:cat>
          <c:val>
            <c:numRef>
              <c:f>Sheet1!$D$2:$D$11</c:f>
              <c:numCache>
                <c:formatCode>General</c:formatCode>
                <c:ptCount val="4"/>
                <c:pt idx="0">
                  <c:v>27.1</c:v>
                </c:pt>
                <c:pt idx="1">
                  <c:v>28.1</c:v>
                </c:pt>
                <c:pt idx="2">
                  <c:v>29.4</c:v>
                </c:pt>
                <c:pt idx="3">
                  <c:v>38</c:v>
                </c:pt>
              </c:numCache>
            </c:numRef>
          </c:val>
          <c:smooth val="0"/>
          <c:extLst>
            <c:ext xmlns:c16="http://schemas.microsoft.com/office/drawing/2014/chart" uri="{C3380CC4-5D6E-409C-BE32-E72D297353CC}">
              <c16:uniqueId val="{00000002-BB08-409E-B72F-17F84195AE6F}"/>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CDD3CB"/>
            </a:solidFill>
            <a:prstDash val="solid"/>
            <a:round/>
          </a:ln>
        </c:spPr>
        <c:txPr>
          <a:bodyPr/>
          <a:lstStyle/>
          <a:p>
            <a:pPr>
              <a:defRPr sz="900" b="0" i="0" u="none" strike="noStrike">
                <a:solidFill>
                  <a:srgbClr val="5B6058"/>
                </a:solidFill>
                <a:latin typeface="Calibri"/>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CDD3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6058"/>
                </a:solidFill>
                <a:latin typeface="Calibri"/>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950">
              <a:solidFill>
                <a:srgbClr val="5B6058"/>
              </a:solidFill>
              <a:latin typeface="Calibri"/>
              <a:cs typeface="Calibri"/>
            </a:defRPr>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manualLayout>
          <c:layoutTarget val="inner"/>
          <c:xMode val="edge"/>
          <c:yMode val="edge"/>
          <c:x val="2.5045537340619307E-2"/>
          <c:y val="0"/>
          <c:w val="0.94990892531876137"/>
          <c:h val="0.67905083991574"/>
        </c:manualLayout>
      </c:layout>
      <c:lineChart>
        <c:grouping val="standard"/>
        <c:varyColors val="0"/>
        <c:ser>
          <c:idx val="0"/>
          <c:order val="0"/>
          <c:tx>
            <c:strRef>
              <c:f>Sheet1!$B$1</c:f>
              <c:strCache>
                <c:ptCount val="1"/>
                <c:pt idx="0">
                  <c:v>Net margin (idx)</c:v>
                </c:pt>
              </c:strCache>
            </c:strRef>
          </c:tx>
          <c:spPr>
            <a:ln w="25400" cap="flat">
              <a:solidFill>
                <a:srgbClr val="AA5A34"/>
              </a:solidFill>
              <a:prstDash val="solid"/>
              <a:round/>
            </a:ln>
            <a:effectLst/>
          </c:spPr>
          <c:marker>
            <c:symbol val="circle"/>
            <c:size val="5"/>
            <c:spPr>
              <a:solidFill>
                <a:srgbClr val="AA5A34"/>
              </a:solidFill>
              <a:ln w="9525" cap="flat">
                <a:solidFill>
                  <a:srgbClr val="AA5A34"/>
                </a:solidFill>
                <a:prstDash val="solid"/>
                <a:round/>
              </a:ln>
              <a:effectLst/>
            </c:spPr>
          </c:marker>
          <c:dLbls>
            <c:numFmt formatCode="#,##0" sourceLinked="0"/>
            <c:spPr>
              <a:noFill/>
              <a:ln>
                <a:noFill/>
              </a:ln>
              <a:effectLst/>
            </c:spPr>
            <c:txPr>
              <a:bodyPr/>
              <a:lstStyle/>
              <a:p>
                <a:pPr>
                  <a:defRPr sz="1200" b="0" i="0" u="none" strike="noStrike">
                    <a:solidFill>
                      <a:srgbClr val="000000"/>
                    </a:solidFill>
                    <a:latin typeface="Arial"/>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4"/>
                <c:pt idx="0">
                  <c:v>FY23</c:v>
                </c:pt>
                <c:pt idx="1">
                  <c:v>FY24</c:v>
                </c:pt>
                <c:pt idx="2">
                  <c:v>FY25</c:v>
                </c:pt>
                <c:pt idx="3">
                  <c:v>FY26</c:v>
                </c:pt>
              </c:strCache>
            </c:strRef>
          </c:cat>
          <c:val>
            <c:numRef>
              <c:f>Sheet1!$B$2:$B$11</c:f>
              <c:numCache>
                <c:formatCode>General</c:formatCode>
                <c:ptCount val="4"/>
                <c:pt idx="0">
                  <c:v>124</c:v>
                </c:pt>
                <c:pt idx="1">
                  <c:v>123</c:v>
                </c:pt>
                <c:pt idx="2">
                  <c:v>129</c:v>
                </c:pt>
                <c:pt idx="3">
                  <c:v>173</c:v>
                </c:pt>
              </c:numCache>
            </c:numRef>
          </c:val>
          <c:smooth val="0"/>
          <c:extLst>
            <c:ext xmlns:c16="http://schemas.microsoft.com/office/drawing/2014/chart" uri="{C3380CC4-5D6E-409C-BE32-E72D297353CC}">
              <c16:uniqueId val="{00000000-832A-4A84-B8DD-01C6EA33413D}"/>
            </c:ext>
          </c:extLst>
        </c:ser>
        <c:ser>
          <c:idx val="1"/>
          <c:order val="1"/>
          <c:tx>
            <c:strRef>
              <c:f>Sheet1!$C$1</c:f>
              <c:strCache>
                <c:ptCount val="1"/>
                <c:pt idx="0">
                  <c:v>Equity multiplier (idx)</c:v>
                </c:pt>
              </c:strCache>
            </c:strRef>
          </c:tx>
          <c:spPr>
            <a:ln w="25400" cap="flat">
              <a:solidFill>
                <a:srgbClr val="1E2A22"/>
              </a:solidFill>
              <a:prstDash val="solid"/>
              <a:round/>
            </a:ln>
            <a:effectLst/>
          </c:spPr>
          <c:marker>
            <c:symbol val="circle"/>
            <c:size val="5"/>
            <c:spPr>
              <a:solidFill>
                <a:srgbClr val="1E2A22"/>
              </a:solidFill>
              <a:ln w="9525" cap="flat">
                <a:solidFill>
                  <a:srgbClr val="1E2A22"/>
                </a:solidFill>
                <a:prstDash val="solid"/>
                <a:round/>
              </a:ln>
              <a:effectLst/>
            </c:spPr>
          </c:marker>
          <c:dLbls>
            <c:numFmt formatCode="#,##0" sourceLinked="0"/>
            <c:spPr>
              <a:noFill/>
              <a:ln>
                <a:noFill/>
              </a:ln>
              <a:effectLst/>
            </c:spPr>
            <c:txPr>
              <a:bodyPr/>
              <a:lstStyle/>
              <a:p>
                <a:pPr>
                  <a:defRPr sz="1200" b="0" i="0" u="none" strike="noStrike">
                    <a:solidFill>
                      <a:srgbClr val="000000"/>
                    </a:solidFill>
                    <a:latin typeface="Arial"/>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4"/>
                <c:pt idx="0">
                  <c:v>FY23</c:v>
                </c:pt>
                <c:pt idx="1">
                  <c:v>FY24</c:v>
                </c:pt>
                <c:pt idx="2">
                  <c:v>FY25</c:v>
                </c:pt>
                <c:pt idx="3">
                  <c:v>FY26</c:v>
                </c:pt>
              </c:strCache>
            </c:strRef>
          </c:cat>
          <c:val>
            <c:numRef>
              <c:f>Sheet1!$C$2:$C$11</c:f>
              <c:numCache>
                <c:formatCode>General</c:formatCode>
                <c:ptCount val="4"/>
                <c:pt idx="0">
                  <c:v>62</c:v>
                </c:pt>
                <c:pt idx="1">
                  <c:v>66</c:v>
                </c:pt>
                <c:pt idx="2">
                  <c:v>70</c:v>
                </c:pt>
                <c:pt idx="3">
                  <c:v>70</c:v>
                </c:pt>
              </c:numCache>
            </c:numRef>
          </c:val>
          <c:smooth val="0"/>
          <c:extLst>
            <c:ext xmlns:c16="http://schemas.microsoft.com/office/drawing/2014/chart" uri="{C3380CC4-5D6E-409C-BE32-E72D297353CC}">
              <c16:uniqueId val="{00000001-832A-4A84-B8DD-01C6EA33413D}"/>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CDD3CB"/>
            </a:solidFill>
            <a:prstDash val="solid"/>
            <a:round/>
          </a:ln>
        </c:spPr>
        <c:txPr>
          <a:bodyPr/>
          <a:lstStyle/>
          <a:p>
            <a:pPr>
              <a:defRPr sz="750" b="0" i="0" u="none" strike="noStrike">
                <a:solidFill>
                  <a:srgbClr val="5B6058"/>
                </a:solidFill>
                <a:latin typeface="Calibri"/>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solidFill>
          <a:srgbClr val="FFFFFF"/>
        </a:solidFill>
        <a:ln>
          <a:noFill/>
        </a:ln>
        <a:effectLst/>
      </c:spPr>
    </c:plotArea>
    <c:legend>
      <c:legendPos val="b"/>
      <c:overlay val="0"/>
      <c:txPr>
        <a:bodyPr/>
        <a:lstStyle/>
        <a:p>
          <a:pPr>
            <a:defRPr sz="800">
              <a:solidFill>
                <a:srgbClr val="5B6058"/>
              </a:solidFill>
              <a:latin typeface="Calibri"/>
              <a:cs typeface="Calibri"/>
            </a:defRPr>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1" i="0" u="none" strike="noStrike">
                <a:solidFill>
                  <a:srgbClr val="1E2A22"/>
                </a:solidFill>
                <a:latin typeface="Calibri"/>
              </a:defRPr>
            </a:pPr>
            <a:r>
              <a:rPr lang="en-US" sz="1100" b="1" i="0" u="none" strike="noStrike">
                <a:solidFill>
                  <a:srgbClr val="1E2A22"/>
                </a:solidFill>
                <a:latin typeface="Calibri"/>
              </a:rPr>
              <a:t>Altman Z-Score</a:t>
            </a:r>
          </a:p>
        </c:rich>
      </c:tx>
      <c:overlay val="0"/>
    </c:title>
    <c:autoTitleDeleted val="0"/>
    <c:plotArea>
      <c:layout/>
      <c:barChart>
        <c:barDir val="col"/>
        <c:grouping val="clustered"/>
        <c:varyColors val="0"/>
        <c:ser>
          <c:idx val="0"/>
          <c:order val="0"/>
          <c:tx>
            <c:strRef>
              <c:f>Sheet1!$B$1</c:f>
              <c:strCache>
                <c:ptCount val="1"/>
                <c:pt idx="0">
                  <c:v>Altman Z-Score</c:v>
                </c:pt>
              </c:strCache>
            </c:strRef>
          </c:tx>
          <c:spPr>
            <a:solidFill>
              <a:srgbClr val="1E2A22"/>
            </a:solidFill>
            <a:effectLst/>
          </c:spPr>
          <c:invertIfNegative val="0"/>
          <c:dLbls>
            <c:numFmt formatCode="#,##0" sourceLinked="0"/>
            <c:spPr>
              <a:noFill/>
              <a:ln>
                <a:noFill/>
              </a:ln>
              <a:effectLst/>
            </c:spPr>
            <c:txPr>
              <a:bodyPr/>
              <a:lstStyle/>
              <a:p>
                <a:pPr>
                  <a:defRPr sz="1200" b="0" i="0" u="none" strike="noStrike">
                    <a:solidFill>
                      <a:srgbClr val="000000"/>
                    </a:solidFill>
                    <a:latin typeface="Aria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4"/>
                <c:pt idx="0">
                  <c:v>FY23</c:v>
                </c:pt>
                <c:pt idx="1">
                  <c:v>FY24</c:v>
                </c:pt>
                <c:pt idx="2">
                  <c:v>FY25</c:v>
                </c:pt>
                <c:pt idx="3">
                  <c:v>FY26</c:v>
                </c:pt>
              </c:strCache>
            </c:strRef>
          </c:cat>
          <c:val>
            <c:numRef>
              <c:f>Sheet1!$B$2:$B$8</c:f>
              <c:numCache>
                <c:formatCode>General</c:formatCode>
                <c:ptCount val="4"/>
                <c:pt idx="0">
                  <c:v>6.8</c:v>
                </c:pt>
                <c:pt idx="1">
                  <c:v>5.8</c:v>
                </c:pt>
                <c:pt idx="2">
                  <c:v>6.5</c:v>
                </c:pt>
                <c:pt idx="3">
                  <c:v>6.1</c:v>
                </c:pt>
              </c:numCache>
            </c:numRef>
          </c:val>
          <c:extLst>
            <c:ext xmlns:c16="http://schemas.microsoft.com/office/drawing/2014/chart" uri="{C3380CC4-5D6E-409C-BE32-E72D297353CC}">
              <c16:uniqueId val="{00000000-69B6-4038-9A80-D257B9EFB6B5}"/>
            </c:ext>
          </c:extLst>
        </c:ser>
        <c:dLbls>
          <c:dLblPos val="outEnd"/>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CDD3CB"/>
            </a:solidFill>
            <a:prstDash val="solid"/>
            <a:round/>
          </a:ln>
        </c:spPr>
        <c:txPr>
          <a:bodyPr/>
          <a:lstStyle/>
          <a:p>
            <a:pPr>
              <a:defRPr sz="850" b="0" i="0" u="none" strike="noStrike">
                <a:solidFill>
                  <a:srgbClr val="5B6058"/>
                </a:solidFill>
                <a:latin typeface="Calibri"/>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CDD3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50" b="0" i="0" u="none" strike="noStrike">
                <a:solidFill>
                  <a:srgbClr val="5B6058"/>
                </a:solidFill>
                <a:latin typeface="Calibri"/>
              </a:defRPr>
            </a:pPr>
            <a:endParaRPr lang="en-US"/>
          </a:p>
        </c:txPr>
        <c:crossAx val="2094734554"/>
        <c:crosses val="autoZero"/>
        <c:crossBetween val="between"/>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1" i="0" u="none" strike="noStrike">
                <a:solidFill>
                  <a:srgbClr val="1E2A22"/>
                </a:solidFill>
                <a:latin typeface="Calibri"/>
              </a:defRPr>
            </a:pPr>
            <a:r>
              <a:rPr lang="en-US" sz="1100" b="1" i="0" u="none" strike="noStrike">
                <a:solidFill>
                  <a:srgbClr val="1E2A22"/>
                </a:solidFill>
                <a:latin typeface="Calibri"/>
              </a:rPr>
              <a:t>Beneish M-Score</a:t>
            </a:r>
          </a:p>
        </c:rich>
      </c:tx>
      <c:overlay val="0"/>
    </c:title>
    <c:autoTitleDeleted val="0"/>
    <c:plotArea>
      <c:layout/>
      <c:barChart>
        <c:barDir val="col"/>
        <c:grouping val="clustered"/>
        <c:varyColors val="0"/>
        <c:ser>
          <c:idx val="0"/>
          <c:order val="0"/>
          <c:tx>
            <c:strRef>
              <c:f>Sheet1!$B$1</c:f>
              <c:strCache>
                <c:ptCount val="1"/>
                <c:pt idx="0">
                  <c:v>Beneish M-Score</c:v>
                </c:pt>
              </c:strCache>
            </c:strRef>
          </c:tx>
          <c:spPr>
            <a:solidFill>
              <a:srgbClr val="AA5A34"/>
            </a:solidFill>
            <a:effectLst/>
          </c:spPr>
          <c:invertIfNegative val="0"/>
          <c:dLbls>
            <c:numFmt formatCode="#,##0" sourceLinked="0"/>
            <c:spPr>
              <a:noFill/>
              <a:ln>
                <a:noFill/>
              </a:ln>
              <a:effectLst/>
            </c:spPr>
            <c:txPr>
              <a:bodyPr/>
              <a:lstStyle/>
              <a:p>
                <a:pPr>
                  <a:defRPr sz="1200" b="0" i="0" u="none" strike="noStrike">
                    <a:solidFill>
                      <a:srgbClr val="000000"/>
                    </a:solidFill>
                    <a:latin typeface="Aria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Sheet1!$A$2:$A$10</c:f>
              <c:strCache>
                <c:ptCount val="4"/>
                <c:pt idx="0">
                  <c:v>FY23</c:v>
                </c:pt>
                <c:pt idx="1">
                  <c:v>FY24</c:v>
                </c:pt>
                <c:pt idx="2">
                  <c:v>FY25</c:v>
                </c:pt>
                <c:pt idx="3">
                  <c:v>FY26</c:v>
                </c:pt>
              </c:strCache>
            </c:strRef>
          </c:cat>
          <c:val>
            <c:numRef>
              <c:f>Sheet1!$B$2:$B$10</c:f>
              <c:numCache>
                <c:formatCode>General</c:formatCode>
                <c:ptCount val="4"/>
                <c:pt idx="0">
                  <c:v>-2.12</c:v>
                </c:pt>
                <c:pt idx="1">
                  <c:v>-2.93</c:v>
                </c:pt>
                <c:pt idx="2">
                  <c:v>-2.3199999999999998</c:v>
                </c:pt>
                <c:pt idx="3">
                  <c:v>-2.34</c:v>
                </c:pt>
              </c:numCache>
            </c:numRef>
          </c:val>
          <c:extLst>
            <c:ext xmlns:c16="http://schemas.microsoft.com/office/drawing/2014/chart" uri="{C3380CC4-5D6E-409C-BE32-E72D297353CC}">
              <c16:uniqueId val="{00000000-7E74-486C-B9B5-7CB511F3C43A}"/>
            </c:ext>
          </c:extLst>
        </c:ser>
        <c:dLbls>
          <c:dLblPos val="outEnd"/>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CDD3CB"/>
            </a:solidFill>
            <a:prstDash val="solid"/>
            <a:round/>
          </a:ln>
        </c:spPr>
        <c:txPr>
          <a:bodyPr/>
          <a:lstStyle/>
          <a:p>
            <a:pPr>
              <a:defRPr sz="850" b="0" i="0" u="none" strike="noStrike">
                <a:solidFill>
                  <a:srgbClr val="5B6058"/>
                </a:solidFill>
                <a:latin typeface="Calibri"/>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CDD3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50" b="0" i="0" u="none" strike="noStrike">
                <a:solidFill>
                  <a:srgbClr val="5B6058"/>
                </a:solidFill>
                <a:latin typeface="Calibri"/>
              </a:defRPr>
            </a:pPr>
            <a:endParaRPr lang="en-US"/>
          </a:p>
        </c:txPr>
        <c:crossAx val="2094734554"/>
        <c:crosses val="autoZero"/>
        <c:crossBetween val="between"/>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1" i="0" u="none" strike="noStrike">
                <a:solidFill>
                  <a:srgbClr val="1E2A22"/>
                </a:solidFill>
                <a:latin typeface="Calibri"/>
              </a:defRPr>
            </a:pPr>
            <a:r>
              <a:rPr lang="en-US" sz="1200" b="1" i="0" u="none" strike="noStrike">
                <a:solidFill>
                  <a:srgbClr val="1E2A22"/>
                </a:solidFill>
                <a:latin typeface="Calibri"/>
              </a:rPr>
              <a:t>Projected Free Cash Flow to the Firm, FY2027E–FY2031E</a:t>
            </a:r>
          </a:p>
        </c:rich>
      </c:tx>
      <c:overlay val="0"/>
    </c:title>
    <c:autoTitleDeleted val="0"/>
    <c:plotArea>
      <c:layout/>
      <c:barChart>
        <c:barDir val="col"/>
        <c:grouping val="clustered"/>
        <c:varyColors val="0"/>
        <c:ser>
          <c:idx val="0"/>
          <c:order val="0"/>
          <c:tx>
            <c:strRef>
              <c:f>Sheet1!$B$1</c:f>
              <c:strCache>
                <c:ptCount val="1"/>
                <c:pt idx="0">
                  <c:v>FCFF (Rs. crore)</c:v>
                </c:pt>
              </c:strCache>
            </c:strRef>
          </c:tx>
          <c:spPr>
            <a:solidFill>
              <a:srgbClr val="AA5A34"/>
            </a:solidFill>
            <a:effectLst/>
          </c:spPr>
          <c:invertIfNegative val="0"/>
          <c:dLbls>
            <c:numFmt formatCode="#,##0" sourceLinked="0"/>
            <c:spPr>
              <a:noFill/>
              <a:ln>
                <a:noFill/>
              </a:ln>
              <a:effectLst/>
            </c:spPr>
            <c:txPr>
              <a:bodyPr/>
              <a:lstStyle/>
              <a:p>
                <a:pPr>
                  <a:defRPr sz="900" b="0" i="0" u="none" strike="noStrike">
                    <a:solidFill>
                      <a:srgbClr val="1E2A22"/>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FY2027E</c:v>
                </c:pt>
                <c:pt idx="1">
                  <c:v>FY2028E</c:v>
                </c:pt>
                <c:pt idx="2">
                  <c:v>FY2029E</c:v>
                </c:pt>
                <c:pt idx="3">
                  <c:v>FY2030E</c:v>
                </c:pt>
                <c:pt idx="4">
                  <c:v>FY2031E</c:v>
                </c:pt>
              </c:strCache>
            </c:strRef>
          </c:cat>
          <c:val>
            <c:numRef>
              <c:f>Sheet1!$B$2:$B$6</c:f>
              <c:numCache>
                <c:formatCode>General</c:formatCode>
                <c:ptCount val="5"/>
                <c:pt idx="0">
                  <c:v>11680.8</c:v>
                </c:pt>
                <c:pt idx="1">
                  <c:v>12543.2</c:v>
                </c:pt>
                <c:pt idx="2">
                  <c:v>13421.3</c:v>
                </c:pt>
                <c:pt idx="3">
                  <c:v>14266.8</c:v>
                </c:pt>
                <c:pt idx="4">
                  <c:v>15122.8</c:v>
                </c:pt>
              </c:numCache>
            </c:numRef>
          </c:val>
          <c:extLst>
            <c:ext xmlns:c16="http://schemas.microsoft.com/office/drawing/2014/chart" uri="{C3380CC4-5D6E-409C-BE32-E72D297353CC}">
              <c16:uniqueId val="{00000000-C810-40BB-AD48-56F8E9A7D47B}"/>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CDD3CB"/>
            </a:solidFill>
            <a:prstDash val="solid"/>
            <a:round/>
          </a:ln>
        </c:spPr>
        <c:txPr>
          <a:bodyPr/>
          <a:lstStyle/>
          <a:p>
            <a:pPr>
              <a:defRPr sz="900" b="0" i="0" u="none" strike="noStrike">
                <a:solidFill>
                  <a:srgbClr val="5B6058"/>
                </a:solidFill>
                <a:latin typeface="Calibri"/>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CDD3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6058"/>
                </a:solidFill>
                <a:latin typeface="Calibri"/>
              </a:defRPr>
            </a:pPr>
            <a:endParaRPr lang="en-US"/>
          </a:p>
        </c:txPr>
        <c:crossAx val="2094734554"/>
        <c:crosses val="autoZero"/>
        <c:crossBetween val="between"/>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1" i="0" u="none" strike="noStrike">
                <a:solidFill>
                  <a:srgbClr val="1E2A22"/>
                </a:solidFill>
                <a:latin typeface="Calibri"/>
              </a:defRPr>
            </a:pPr>
            <a:r>
              <a:rPr lang="en-US" sz="1200" b="1" i="0" u="none" strike="noStrike">
                <a:solidFill>
                  <a:srgbClr val="1E2A22"/>
                </a:solidFill>
                <a:latin typeface="Calibri"/>
              </a:rPr>
              <a:t>Implied Value per Share (Rs.)</a:t>
            </a:r>
          </a:p>
        </c:rich>
      </c:tx>
      <c:overlay val="0"/>
    </c:title>
    <c:autoTitleDeleted val="0"/>
    <c:plotArea>
      <c:layout/>
      <c:barChart>
        <c:barDir val="col"/>
        <c:grouping val="clustered"/>
        <c:varyColors val="0"/>
        <c:ser>
          <c:idx val="0"/>
          <c:order val="0"/>
          <c:tx>
            <c:strRef>
              <c:f>Sheet1!$B$1</c:f>
              <c:strCache>
                <c:ptCount val="1"/>
                <c:pt idx="0">
                  <c:v>Implied value per share (Rs.)</c:v>
                </c:pt>
              </c:strCache>
            </c:strRef>
          </c:tx>
          <c:spPr>
            <a:solidFill>
              <a:srgbClr val="8C6A3F"/>
            </a:solidFill>
            <a:effectLst/>
          </c:spPr>
          <c:invertIfNegative val="0"/>
          <c:dLbls>
            <c:numFmt formatCode="#,##0" sourceLinked="0"/>
            <c:spPr>
              <a:noFill/>
              <a:ln>
                <a:noFill/>
              </a:ln>
              <a:effectLst/>
            </c:spPr>
            <c:txPr>
              <a:bodyPr/>
              <a:lstStyle/>
              <a:p>
                <a:pPr>
                  <a:defRPr sz="1000" b="0" i="0" u="none" strike="noStrike">
                    <a:solidFill>
                      <a:srgbClr val="1E2A22"/>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DCF (base case)</c:v>
                </c:pt>
                <c:pt idx="1">
                  <c:v>Relative – median EV/EBITDA</c:v>
                </c:pt>
                <c:pt idx="2">
                  <c:v>Relative – median P/E</c:v>
                </c:pt>
                <c:pt idx="3">
                  <c:v>Current market price</c:v>
                </c:pt>
              </c:strCache>
            </c:strRef>
          </c:cat>
          <c:val>
            <c:numRef>
              <c:f>Sheet1!$B$2:$B$5</c:f>
              <c:numCache>
                <c:formatCode>General</c:formatCode>
                <c:ptCount val="4"/>
                <c:pt idx="0">
                  <c:v>951</c:v>
                </c:pt>
                <c:pt idx="1">
                  <c:v>2261</c:v>
                </c:pt>
                <c:pt idx="2">
                  <c:v>2594</c:v>
                </c:pt>
                <c:pt idx="3">
                  <c:v>2108</c:v>
                </c:pt>
              </c:numCache>
            </c:numRef>
          </c:val>
          <c:extLst>
            <c:ext xmlns:c16="http://schemas.microsoft.com/office/drawing/2014/chart" uri="{C3380CC4-5D6E-409C-BE32-E72D297353CC}">
              <c16:uniqueId val="{00000000-43F1-4980-B290-C7A784BC9E28}"/>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CDD3CB"/>
            </a:solidFill>
            <a:prstDash val="solid"/>
            <a:round/>
          </a:ln>
        </c:spPr>
        <c:txPr>
          <a:bodyPr/>
          <a:lstStyle/>
          <a:p>
            <a:pPr>
              <a:defRPr sz="900" b="0" i="0" u="none" strike="noStrike">
                <a:solidFill>
                  <a:srgbClr val="5B6058"/>
                </a:solidFill>
                <a:latin typeface="Calibri"/>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CDD3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6058"/>
                </a:solidFill>
                <a:latin typeface="Calibri"/>
              </a:defRPr>
            </a:pPr>
            <a:endParaRPr lang="en-US"/>
          </a:p>
        </c:txPr>
        <c:crossAx val="2094734554"/>
        <c:crosses val="autoZero"/>
        <c:crossBetween val="between"/>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320562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chart" Target="../charts/char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hyperlink" Target="https://docs.google.com/spreadsheets/d/1IEwkplk3BvHUjbes1OTdKknat61sdi59/edit?usp=drivesdk&amp;ouid=109960074985041929085&amp;rtpof=true&amp;sd=true" TargetMode="External"/><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A22"/>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E2A22"/>
          </a:solidFill>
          <a:ln/>
        </p:spPr>
      </p:sp>
      <p:sp>
        <p:nvSpPr>
          <p:cNvPr id="3" name="Shape 1"/>
          <p:cNvSpPr/>
          <p:nvPr/>
        </p:nvSpPr>
        <p:spPr>
          <a:xfrm>
            <a:off x="502920" y="4160520"/>
            <a:ext cx="502920" cy="50292"/>
          </a:xfrm>
          <a:prstGeom prst="rect">
            <a:avLst/>
          </a:prstGeom>
          <a:solidFill>
            <a:srgbClr val="8C6A3F"/>
          </a:solidFill>
          <a:ln/>
        </p:spPr>
      </p:sp>
      <p:sp>
        <p:nvSpPr>
          <p:cNvPr id="4" name="Text 2"/>
          <p:cNvSpPr/>
          <p:nvPr/>
        </p:nvSpPr>
        <p:spPr>
          <a:xfrm>
            <a:off x="502920" y="2331720"/>
            <a:ext cx="9144000" cy="320040"/>
          </a:xfrm>
          <a:prstGeom prst="rect">
            <a:avLst/>
          </a:prstGeom>
          <a:noFill/>
          <a:ln/>
        </p:spPr>
        <p:txBody>
          <a:bodyPr wrap="square" rtlCol="0" anchor="ctr"/>
          <a:lstStyle/>
          <a:p>
            <a:pPr marL="0" indent="0">
              <a:buNone/>
            </a:pPr>
            <a:r>
              <a:rPr lang="en-US" sz="1300" b="1" kern="0" spc="300" dirty="0">
                <a:solidFill>
                  <a:srgbClr val="8C6A3F"/>
                </a:solidFill>
                <a:latin typeface="Calibri" pitchFamily="34" charset="0"/>
                <a:ea typeface="Calibri" pitchFamily="34" charset="-122"/>
                <a:cs typeface="Calibri" pitchFamily="34" charset="-120"/>
              </a:rPr>
              <a:t>FINANCIAL STATEMENT ANALYSIS &amp; VALUATION</a:t>
            </a:r>
            <a:endParaRPr lang="en-US" sz="1300" dirty="0"/>
          </a:p>
        </p:txBody>
      </p:sp>
      <p:sp>
        <p:nvSpPr>
          <p:cNvPr id="5" name="Text 3"/>
          <p:cNvSpPr/>
          <p:nvPr/>
        </p:nvSpPr>
        <p:spPr>
          <a:xfrm>
            <a:off x="502920" y="2697480"/>
            <a:ext cx="10607040" cy="1005840"/>
          </a:xfrm>
          <a:prstGeom prst="rect">
            <a:avLst/>
          </a:prstGeom>
          <a:noFill/>
          <a:ln/>
        </p:spPr>
        <p:txBody>
          <a:bodyPr wrap="square" rtlCol="0" anchor="ctr"/>
          <a:lstStyle/>
          <a:p>
            <a:pPr marL="0" indent="0">
              <a:buNone/>
            </a:pPr>
            <a:r>
              <a:rPr lang="en-US" sz="4600" b="1" dirty="0">
                <a:solidFill>
                  <a:srgbClr val="FFFFFF"/>
                </a:solidFill>
                <a:latin typeface="Georgia" pitchFamily="34" charset="0"/>
                <a:ea typeface="Georgia" pitchFamily="34" charset="-122"/>
                <a:cs typeface="Georgia" pitchFamily="34" charset="-120"/>
              </a:rPr>
              <a:t>Hindustan Unilever Limited</a:t>
            </a:r>
            <a:endParaRPr lang="en-US" sz="4600" dirty="0"/>
          </a:p>
        </p:txBody>
      </p:sp>
      <p:sp>
        <p:nvSpPr>
          <p:cNvPr id="6" name="Text 4"/>
          <p:cNvSpPr/>
          <p:nvPr/>
        </p:nvSpPr>
        <p:spPr>
          <a:xfrm>
            <a:off x="502920" y="3611880"/>
            <a:ext cx="9144000" cy="365760"/>
          </a:xfrm>
          <a:prstGeom prst="rect">
            <a:avLst/>
          </a:prstGeom>
          <a:noFill/>
          <a:ln/>
        </p:spPr>
        <p:txBody>
          <a:bodyPr wrap="square" rtlCol="0" anchor="ctr"/>
          <a:lstStyle/>
          <a:p>
            <a:pPr marL="0" indent="0">
              <a:buNone/>
            </a:pPr>
            <a:r>
              <a:rPr lang="en-US" sz="1350" dirty="0">
                <a:solidFill>
                  <a:srgbClr val="C9D2C7"/>
                </a:solidFill>
                <a:latin typeface="Calibri" pitchFamily="34" charset="0"/>
                <a:ea typeface="Calibri" pitchFamily="34" charset="-122"/>
                <a:cs typeface="Calibri" pitchFamily="34" charset="-120"/>
              </a:rPr>
              <a:t>Fast Moving Consumer Goods   •   NSE: HINDUNILVR   •   BSE: 500696</a:t>
            </a:r>
            <a:endParaRPr lang="en-US" sz="1350" dirty="0"/>
          </a:p>
        </p:txBody>
      </p:sp>
      <p:sp>
        <p:nvSpPr>
          <p:cNvPr id="7" name="Text 5"/>
          <p:cNvSpPr/>
          <p:nvPr/>
        </p:nvSpPr>
        <p:spPr>
          <a:xfrm>
            <a:off x="502920" y="4434840"/>
            <a:ext cx="7772400" cy="1005840"/>
          </a:xfrm>
          <a:prstGeom prst="rect">
            <a:avLst/>
          </a:prstGeom>
          <a:noFill/>
          <a:ln/>
        </p:spPr>
        <p:txBody>
          <a:bodyPr wrap="square" rtlCol="0" anchor="ctr"/>
          <a:lstStyle/>
          <a:p>
            <a:pPr marL="0" indent="0">
              <a:lnSpc>
                <a:spcPts val="2200"/>
              </a:lnSpc>
              <a:buNone/>
            </a:pPr>
            <a:r>
              <a:rPr lang="en-US" sz="1200" dirty="0">
                <a:solidFill>
                  <a:srgbClr val="9AA79C"/>
                </a:solidFill>
                <a:latin typeface="Calibri" pitchFamily="34" charset="0"/>
                <a:ea typeface="Calibri" pitchFamily="34" charset="-122"/>
                <a:cs typeface="Calibri" pitchFamily="34" charset="-120"/>
              </a:rPr>
              <a:t>Prepared by  </a:t>
            </a:r>
            <a:r>
              <a:rPr lang="en-US" sz="1200" b="1" dirty="0">
                <a:solidFill>
                  <a:srgbClr val="FFFFFF"/>
                </a:solidFill>
                <a:latin typeface="Calibri" pitchFamily="34" charset="0"/>
                <a:ea typeface="Calibri" pitchFamily="34" charset="-122"/>
                <a:cs typeface="Calibri" pitchFamily="34" charset="-120"/>
              </a:rPr>
              <a:t>Group 8, PGDM Section A
</a:t>
            </a:r>
            <a:r>
              <a:rPr lang="en-US" sz="1200" dirty="0">
                <a:solidFill>
                  <a:srgbClr val="9AA79C"/>
                </a:solidFill>
                <a:latin typeface="Calibri" pitchFamily="34" charset="0"/>
                <a:ea typeface="Calibri" pitchFamily="34" charset="-122"/>
                <a:cs typeface="Calibri" pitchFamily="34" charset="-120"/>
              </a:rPr>
              <a:t>Submitted to  </a:t>
            </a:r>
            <a:r>
              <a:rPr lang="en-US" sz="1200" b="1" dirty="0">
                <a:solidFill>
                  <a:srgbClr val="FFFFFF"/>
                </a:solidFill>
                <a:latin typeface="Calibri" pitchFamily="34" charset="0"/>
                <a:ea typeface="Calibri" pitchFamily="34" charset="-122"/>
                <a:cs typeface="Calibri" pitchFamily="34" charset="-120"/>
              </a:rPr>
              <a:t>Dr. Kunal Saigal and Dr. Kriti Sharma
</a:t>
            </a:r>
            <a:r>
              <a:rPr lang="en-US" sz="1200" dirty="0">
                <a:solidFill>
                  <a:srgbClr val="9AA79C"/>
                </a:solidFill>
                <a:latin typeface="Calibri" pitchFamily="34" charset="0"/>
                <a:ea typeface="Calibri" pitchFamily="34" charset="-122"/>
                <a:cs typeface="Calibri" pitchFamily="34" charset="-120"/>
              </a:rPr>
              <a:t>Period analyzed  </a:t>
            </a:r>
            <a:r>
              <a:rPr lang="en-US" sz="1200" b="1" dirty="0">
                <a:solidFill>
                  <a:srgbClr val="FFFFFF"/>
                </a:solidFill>
                <a:latin typeface="Calibri" pitchFamily="34" charset="0"/>
                <a:ea typeface="Calibri" pitchFamily="34" charset="-122"/>
                <a:cs typeface="Calibri" pitchFamily="34" charset="-120"/>
              </a:rPr>
              <a:t>FY2023 – FY2026, with projections through FY2031E</a:t>
            </a:r>
            <a:endParaRPr lang="en-US" sz="1200" dirty="0"/>
          </a:p>
        </p:txBody>
      </p:sp>
      <p:sp>
        <p:nvSpPr>
          <p:cNvPr id="8" name="Text 6"/>
          <p:cNvSpPr/>
          <p:nvPr/>
        </p:nvSpPr>
        <p:spPr>
          <a:xfrm>
            <a:off x="502920" y="6355080"/>
            <a:ext cx="9144000" cy="274320"/>
          </a:xfrm>
          <a:prstGeom prst="rect">
            <a:avLst/>
          </a:prstGeom>
          <a:noFill/>
          <a:ln/>
        </p:spPr>
        <p:txBody>
          <a:bodyPr wrap="square" rtlCol="0" anchor="ctr"/>
          <a:lstStyle/>
          <a:p>
            <a:pPr marL="0" indent="0">
              <a:buNone/>
            </a:pPr>
            <a:r>
              <a:rPr lang="en-US" sz="900" i="1" dirty="0">
                <a:solidFill>
                  <a:srgbClr val="8B9A8C"/>
                </a:solidFill>
                <a:latin typeface="Calibri" pitchFamily="34" charset="0"/>
                <a:ea typeface="Calibri" pitchFamily="34" charset="-122"/>
                <a:cs typeface="Calibri" pitchFamily="34" charset="-120"/>
              </a:rPr>
              <a:t>Figures in Rs. crore unless stated otherwise. Sources: Audited annual reports, Screener.in, NSE market data.</a:t>
            </a:r>
            <a:endParaRPr lang="en-US" sz="9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65760"/>
            <a:ext cx="9144000" cy="256032"/>
          </a:xfrm>
          <a:prstGeom prst="rect">
            <a:avLst/>
          </a:prstGeom>
          <a:noFill/>
          <a:ln/>
        </p:spPr>
        <p:txBody>
          <a:bodyPr wrap="square" rtlCol="0" anchor="ctr"/>
          <a:lstStyle/>
          <a:p>
            <a:pPr marL="0" indent="0">
              <a:buNone/>
            </a:pPr>
            <a:r>
              <a:rPr lang="en-US" sz="1050" b="1" kern="0" spc="200" dirty="0">
                <a:solidFill>
                  <a:srgbClr val="AA5A34"/>
                </a:solidFill>
                <a:latin typeface="Calibri" pitchFamily="34" charset="0"/>
                <a:ea typeface="Calibri" pitchFamily="34" charset="-122"/>
                <a:cs typeface="Calibri" pitchFamily="34" charset="-120"/>
              </a:rPr>
              <a:t>PRESENTATION ROADMAP</a:t>
            </a:r>
            <a:endParaRPr lang="en-US" sz="1050" dirty="0"/>
          </a:p>
        </p:txBody>
      </p:sp>
      <p:sp>
        <p:nvSpPr>
          <p:cNvPr id="3" name="Text 1"/>
          <p:cNvSpPr/>
          <p:nvPr/>
        </p:nvSpPr>
        <p:spPr>
          <a:xfrm>
            <a:off x="502920" y="621792"/>
            <a:ext cx="10607040" cy="566928"/>
          </a:xfrm>
          <a:prstGeom prst="rect">
            <a:avLst/>
          </a:prstGeom>
          <a:noFill/>
          <a:ln/>
        </p:spPr>
        <p:txBody>
          <a:bodyPr wrap="square" rtlCol="0" anchor="ctr"/>
          <a:lstStyle/>
          <a:p>
            <a:pPr marL="0" indent="0">
              <a:lnSpc>
                <a:spcPts val="2900"/>
              </a:lnSpc>
              <a:buNone/>
            </a:pPr>
            <a:r>
              <a:rPr lang="en-US" sz="2500" b="1" dirty="0">
                <a:solidFill>
                  <a:srgbClr val="1E2A22"/>
                </a:solidFill>
                <a:latin typeface="Georgia" pitchFamily="34" charset="0"/>
                <a:ea typeface="Georgia" pitchFamily="34" charset="-122"/>
                <a:cs typeface="Georgia" pitchFamily="34" charset="-120"/>
              </a:rPr>
              <a:t>Agenda</a:t>
            </a:r>
            <a:endParaRPr lang="en-US" sz="2500" dirty="0"/>
          </a:p>
        </p:txBody>
      </p:sp>
      <p:sp>
        <p:nvSpPr>
          <p:cNvPr id="4" name="Text 2"/>
          <p:cNvSpPr/>
          <p:nvPr/>
        </p:nvSpPr>
        <p:spPr>
          <a:xfrm>
            <a:off x="502920" y="1417320"/>
            <a:ext cx="822960" cy="868680"/>
          </a:xfrm>
          <a:prstGeom prst="rect">
            <a:avLst/>
          </a:prstGeom>
          <a:noFill/>
          <a:ln/>
        </p:spPr>
        <p:txBody>
          <a:bodyPr wrap="square" rtlCol="0" anchor="ctr"/>
          <a:lstStyle/>
          <a:p>
            <a:pPr marL="0" indent="0">
              <a:buNone/>
            </a:pPr>
            <a:r>
              <a:rPr lang="en-US" sz="3000" b="1" dirty="0">
                <a:solidFill>
                  <a:srgbClr val="D7B79A"/>
                </a:solidFill>
                <a:latin typeface="Georgia" pitchFamily="34" charset="0"/>
                <a:ea typeface="Georgia" pitchFamily="34" charset="-122"/>
                <a:cs typeface="Georgia" pitchFamily="34" charset="-120"/>
              </a:rPr>
              <a:t>01</a:t>
            </a:r>
            <a:endParaRPr lang="en-US" sz="3000" dirty="0"/>
          </a:p>
        </p:txBody>
      </p:sp>
      <p:sp>
        <p:nvSpPr>
          <p:cNvPr id="5" name="Text 3"/>
          <p:cNvSpPr/>
          <p:nvPr/>
        </p:nvSpPr>
        <p:spPr>
          <a:xfrm>
            <a:off x="1463040" y="1444752"/>
            <a:ext cx="5120640" cy="365760"/>
          </a:xfrm>
          <a:prstGeom prst="rect">
            <a:avLst/>
          </a:prstGeom>
          <a:noFill/>
          <a:ln/>
        </p:spPr>
        <p:txBody>
          <a:bodyPr wrap="square" rtlCol="0" anchor="ctr"/>
          <a:lstStyle/>
          <a:p>
            <a:pPr marL="0" indent="0">
              <a:buNone/>
            </a:pPr>
            <a:r>
              <a:rPr lang="en-US" sz="1500" b="1" dirty="0">
                <a:solidFill>
                  <a:srgbClr val="1E2A22"/>
                </a:solidFill>
                <a:latin typeface="Calibri" pitchFamily="34" charset="0"/>
                <a:ea typeface="Calibri" pitchFamily="34" charset="-122"/>
                <a:cs typeface="Calibri" pitchFamily="34" charset="-120"/>
              </a:rPr>
              <a:t>Company &amp; Industry Background</a:t>
            </a:r>
            <a:endParaRPr lang="en-US" sz="1500" dirty="0"/>
          </a:p>
        </p:txBody>
      </p:sp>
      <p:sp>
        <p:nvSpPr>
          <p:cNvPr id="6" name="Text 4"/>
          <p:cNvSpPr/>
          <p:nvPr/>
        </p:nvSpPr>
        <p:spPr>
          <a:xfrm>
            <a:off x="1463040" y="1801368"/>
            <a:ext cx="5120640" cy="411480"/>
          </a:xfrm>
          <a:prstGeom prst="rect">
            <a:avLst/>
          </a:prstGeom>
          <a:noFill/>
          <a:ln/>
        </p:spPr>
        <p:txBody>
          <a:bodyPr wrap="square" rtlCol="0" anchor="ctr"/>
          <a:lstStyle/>
          <a:p>
            <a:pPr marL="0" indent="0">
              <a:lnSpc>
                <a:spcPts val="1350"/>
              </a:lnSpc>
              <a:buNone/>
            </a:pPr>
            <a:r>
              <a:rPr lang="en-US" sz="1050" dirty="0">
                <a:solidFill>
                  <a:srgbClr val="5B6058"/>
                </a:solidFill>
                <a:latin typeface="Calibri" pitchFamily="34" charset="0"/>
                <a:ea typeface="Calibri" pitchFamily="34" charset="-122"/>
                <a:cs typeface="Calibri" pitchFamily="34" charset="-120"/>
              </a:rPr>
              <a:t>HUL's profile, portfolio and the FMCG operating context</a:t>
            </a:r>
            <a:endParaRPr lang="en-US" sz="1050" dirty="0"/>
          </a:p>
        </p:txBody>
      </p:sp>
      <p:sp>
        <p:nvSpPr>
          <p:cNvPr id="7" name="Shape 5"/>
          <p:cNvSpPr/>
          <p:nvPr/>
        </p:nvSpPr>
        <p:spPr>
          <a:xfrm>
            <a:off x="502920" y="2212848"/>
            <a:ext cx="6080760" cy="0"/>
          </a:xfrm>
          <a:prstGeom prst="line">
            <a:avLst/>
          </a:prstGeom>
          <a:noFill/>
          <a:ln w="9525">
            <a:solidFill>
              <a:srgbClr val="CDD3CB"/>
            </a:solidFill>
            <a:prstDash val="solid"/>
          </a:ln>
        </p:spPr>
      </p:sp>
      <p:sp>
        <p:nvSpPr>
          <p:cNvPr id="8" name="Text 6"/>
          <p:cNvSpPr/>
          <p:nvPr/>
        </p:nvSpPr>
        <p:spPr>
          <a:xfrm>
            <a:off x="502920" y="2286000"/>
            <a:ext cx="822960" cy="868680"/>
          </a:xfrm>
          <a:prstGeom prst="rect">
            <a:avLst/>
          </a:prstGeom>
          <a:noFill/>
          <a:ln/>
        </p:spPr>
        <p:txBody>
          <a:bodyPr wrap="square" rtlCol="0" anchor="ctr"/>
          <a:lstStyle/>
          <a:p>
            <a:pPr marL="0" indent="0">
              <a:buNone/>
            </a:pPr>
            <a:r>
              <a:rPr lang="en-US" sz="3000" b="1" dirty="0">
                <a:solidFill>
                  <a:srgbClr val="D7B79A"/>
                </a:solidFill>
                <a:latin typeface="Georgia" pitchFamily="34" charset="0"/>
                <a:ea typeface="Georgia" pitchFamily="34" charset="-122"/>
                <a:cs typeface="Georgia" pitchFamily="34" charset="-120"/>
              </a:rPr>
              <a:t>02</a:t>
            </a:r>
            <a:endParaRPr lang="en-US" sz="3000" dirty="0"/>
          </a:p>
        </p:txBody>
      </p:sp>
      <p:sp>
        <p:nvSpPr>
          <p:cNvPr id="9" name="Text 7"/>
          <p:cNvSpPr/>
          <p:nvPr/>
        </p:nvSpPr>
        <p:spPr>
          <a:xfrm>
            <a:off x="1463040" y="2313432"/>
            <a:ext cx="5120640" cy="365760"/>
          </a:xfrm>
          <a:prstGeom prst="rect">
            <a:avLst/>
          </a:prstGeom>
          <a:noFill/>
          <a:ln/>
        </p:spPr>
        <p:txBody>
          <a:bodyPr wrap="square" rtlCol="0" anchor="ctr"/>
          <a:lstStyle/>
          <a:p>
            <a:pPr marL="0" indent="0">
              <a:buNone/>
            </a:pPr>
            <a:r>
              <a:rPr lang="en-US" sz="1500" b="1" dirty="0">
                <a:solidFill>
                  <a:srgbClr val="1E2A22"/>
                </a:solidFill>
                <a:latin typeface="Calibri" pitchFamily="34" charset="0"/>
                <a:ea typeface="Calibri" pitchFamily="34" charset="-122"/>
                <a:cs typeface="Calibri" pitchFamily="34" charset="-120"/>
              </a:rPr>
              <a:t>Financial Statement Analysis</a:t>
            </a:r>
            <a:endParaRPr lang="en-US" sz="1500" dirty="0"/>
          </a:p>
        </p:txBody>
      </p:sp>
      <p:sp>
        <p:nvSpPr>
          <p:cNvPr id="10" name="Text 8"/>
          <p:cNvSpPr/>
          <p:nvPr/>
        </p:nvSpPr>
        <p:spPr>
          <a:xfrm>
            <a:off x="1463040" y="2670048"/>
            <a:ext cx="5120640" cy="411480"/>
          </a:xfrm>
          <a:prstGeom prst="rect">
            <a:avLst/>
          </a:prstGeom>
          <a:noFill/>
          <a:ln/>
        </p:spPr>
        <p:txBody>
          <a:bodyPr wrap="square" rtlCol="0" anchor="ctr"/>
          <a:lstStyle/>
          <a:p>
            <a:pPr marL="0" indent="0">
              <a:lnSpc>
                <a:spcPts val="1350"/>
              </a:lnSpc>
              <a:buNone/>
            </a:pPr>
            <a:r>
              <a:rPr lang="en-US" sz="1050" dirty="0">
                <a:solidFill>
                  <a:srgbClr val="5B6058"/>
                </a:solidFill>
                <a:latin typeface="Calibri" pitchFamily="34" charset="0"/>
                <a:ea typeface="Calibri" pitchFamily="34" charset="-122"/>
                <a:cs typeface="Calibri" pitchFamily="34" charset="-120"/>
              </a:rPr>
              <a:t>A decade of revenue, margin and balance-sheet trends</a:t>
            </a:r>
            <a:endParaRPr lang="en-US" sz="1050" dirty="0"/>
          </a:p>
        </p:txBody>
      </p:sp>
      <p:sp>
        <p:nvSpPr>
          <p:cNvPr id="11" name="Shape 9"/>
          <p:cNvSpPr/>
          <p:nvPr/>
        </p:nvSpPr>
        <p:spPr>
          <a:xfrm>
            <a:off x="502920" y="3081528"/>
            <a:ext cx="6080760" cy="0"/>
          </a:xfrm>
          <a:prstGeom prst="line">
            <a:avLst/>
          </a:prstGeom>
          <a:noFill/>
          <a:ln w="9525">
            <a:solidFill>
              <a:srgbClr val="CDD3CB"/>
            </a:solidFill>
            <a:prstDash val="solid"/>
          </a:ln>
        </p:spPr>
      </p:sp>
      <p:sp>
        <p:nvSpPr>
          <p:cNvPr id="12" name="Text 10"/>
          <p:cNvSpPr/>
          <p:nvPr/>
        </p:nvSpPr>
        <p:spPr>
          <a:xfrm>
            <a:off x="502920" y="3154680"/>
            <a:ext cx="822960" cy="868680"/>
          </a:xfrm>
          <a:prstGeom prst="rect">
            <a:avLst/>
          </a:prstGeom>
          <a:noFill/>
          <a:ln/>
        </p:spPr>
        <p:txBody>
          <a:bodyPr wrap="square" rtlCol="0" anchor="ctr"/>
          <a:lstStyle/>
          <a:p>
            <a:pPr marL="0" indent="0">
              <a:buNone/>
            </a:pPr>
            <a:r>
              <a:rPr lang="en-US" sz="3000" b="1" dirty="0">
                <a:solidFill>
                  <a:srgbClr val="D7B79A"/>
                </a:solidFill>
                <a:latin typeface="Georgia" pitchFamily="34" charset="0"/>
                <a:ea typeface="Georgia" pitchFamily="34" charset="-122"/>
                <a:cs typeface="Georgia" pitchFamily="34" charset="-120"/>
              </a:rPr>
              <a:t>03</a:t>
            </a:r>
            <a:endParaRPr lang="en-US" sz="3000" dirty="0"/>
          </a:p>
        </p:txBody>
      </p:sp>
      <p:sp>
        <p:nvSpPr>
          <p:cNvPr id="13" name="Text 11"/>
          <p:cNvSpPr/>
          <p:nvPr/>
        </p:nvSpPr>
        <p:spPr>
          <a:xfrm>
            <a:off x="1463040" y="3182112"/>
            <a:ext cx="5120640" cy="365760"/>
          </a:xfrm>
          <a:prstGeom prst="rect">
            <a:avLst/>
          </a:prstGeom>
          <a:noFill/>
          <a:ln/>
        </p:spPr>
        <p:txBody>
          <a:bodyPr wrap="square" rtlCol="0" anchor="ctr"/>
          <a:lstStyle/>
          <a:p>
            <a:pPr marL="0" indent="0">
              <a:buNone/>
            </a:pPr>
            <a:r>
              <a:rPr lang="en-US" sz="1500" b="1" dirty="0">
                <a:solidFill>
                  <a:srgbClr val="1E2A22"/>
                </a:solidFill>
                <a:latin typeface="Calibri" pitchFamily="34" charset="0"/>
                <a:ea typeface="Calibri" pitchFamily="34" charset="-122"/>
                <a:cs typeface="Calibri" pitchFamily="34" charset="-120"/>
              </a:rPr>
              <a:t>Ratio &amp; Risk Analysis</a:t>
            </a:r>
            <a:endParaRPr lang="en-US" sz="1500" dirty="0"/>
          </a:p>
        </p:txBody>
      </p:sp>
      <p:sp>
        <p:nvSpPr>
          <p:cNvPr id="14" name="Text 12"/>
          <p:cNvSpPr/>
          <p:nvPr/>
        </p:nvSpPr>
        <p:spPr>
          <a:xfrm>
            <a:off x="1463040" y="3538728"/>
            <a:ext cx="5120640" cy="411480"/>
          </a:xfrm>
          <a:prstGeom prst="rect">
            <a:avLst/>
          </a:prstGeom>
          <a:noFill/>
          <a:ln/>
        </p:spPr>
        <p:txBody>
          <a:bodyPr wrap="square" rtlCol="0" anchor="ctr"/>
          <a:lstStyle/>
          <a:p>
            <a:pPr marL="0" indent="0">
              <a:lnSpc>
                <a:spcPts val="1350"/>
              </a:lnSpc>
              <a:buNone/>
            </a:pPr>
            <a:r>
              <a:rPr lang="en-US" sz="1050" dirty="0">
                <a:solidFill>
                  <a:srgbClr val="5B6058"/>
                </a:solidFill>
                <a:latin typeface="Calibri" pitchFamily="34" charset="0"/>
                <a:ea typeface="Calibri" pitchFamily="34" charset="-122"/>
                <a:cs typeface="Calibri" pitchFamily="34" charset="-120"/>
              </a:rPr>
              <a:t>Liquidity, profitability, efficiency, solvency, DuPont, Altman Z and Beneish M</a:t>
            </a:r>
            <a:endParaRPr lang="en-US" sz="1050" dirty="0"/>
          </a:p>
        </p:txBody>
      </p:sp>
      <p:sp>
        <p:nvSpPr>
          <p:cNvPr id="15" name="Shape 13"/>
          <p:cNvSpPr/>
          <p:nvPr/>
        </p:nvSpPr>
        <p:spPr>
          <a:xfrm>
            <a:off x="502920" y="3950208"/>
            <a:ext cx="6080760" cy="0"/>
          </a:xfrm>
          <a:prstGeom prst="line">
            <a:avLst/>
          </a:prstGeom>
          <a:noFill/>
          <a:ln w="9525">
            <a:solidFill>
              <a:srgbClr val="CDD3CB"/>
            </a:solidFill>
            <a:prstDash val="solid"/>
          </a:ln>
        </p:spPr>
      </p:sp>
      <p:sp>
        <p:nvSpPr>
          <p:cNvPr id="16" name="Text 14"/>
          <p:cNvSpPr/>
          <p:nvPr/>
        </p:nvSpPr>
        <p:spPr>
          <a:xfrm>
            <a:off x="502920" y="4023360"/>
            <a:ext cx="822960" cy="868680"/>
          </a:xfrm>
          <a:prstGeom prst="rect">
            <a:avLst/>
          </a:prstGeom>
          <a:noFill/>
          <a:ln/>
        </p:spPr>
        <p:txBody>
          <a:bodyPr wrap="square" rtlCol="0" anchor="ctr"/>
          <a:lstStyle/>
          <a:p>
            <a:pPr marL="0" indent="0">
              <a:buNone/>
            </a:pPr>
            <a:r>
              <a:rPr lang="en-US" sz="3000" b="1" dirty="0">
                <a:solidFill>
                  <a:srgbClr val="D7B79A"/>
                </a:solidFill>
                <a:latin typeface="Georgia" pitchFamily="34" charset="0"/>
                <a:ea typeface="Georgia" pitchFamily="34" charset="-122"/>
                <a:cs typeface="Georgia" pitchFamily="34" charset="-120"/>
              </a:rPr>
              <a:t>04</a:t>
            </a:r>
            <a:endParaRPr lang="en-US" sz="3000" dirty="0"/>
          </a:p>
        </p:txBody>
      </p:sp>
      <p:sp>
        <p:nvSpPr>
          <p:cNvPr id="17" name="Text 15"/>
          <p:cNvSpPr/>
          <p:nvPr/>
        </p:nvSpPr>
        <p:spPr>
          <a:xfrm>
            <a:off x="1463040" y="4050792"/>
            <a:ext cx="5120640" cy="365760"/>
          </a:xfrm>
          <a:prstGeom prst="rect">
            <a:avLst/>
          </a:prstGeom>
          <a:noFill/>
          <a:ln/>
        </p:spPr>
        <p:txBody>
          <a:bodyPr wrap="square" rtlCol="0" anchor="ctr"/>
          <a:lstStyle/>
          <a:p>
            <a:pPr marL="0" indent="0">
              <a:buNone/>
            </a:pPr>
            <a:r>
              <a:rPr lang="en-US" sz="1500" b="1" dirty="0">
                <a:solidFill>
                  <a:srgbClr val="1E2A22"/>
                </a:solidFill>
                <a:latin typeface="Calibri" pitchFamily="34" charset="0"/>
                <a:ea typeface="Calibri" pitchFamily="34" charset="-122"/>
                <a:cs typeface="Calibri" pitchFamily="34" charset="-120"/>
              </a:rPr>
              <a:t>Valuation &amp; Projections</a:t>
            </a:r>
            <a:endParaRPr lang="en-US" sz="1500" dirty="0"/>
          </a:p>
        </p:txBody>
      </p:sp>
      <p:sp>
        <p:nvSpPr>
          <p:cNvPr id="18" name="Text 16"/>
          <p:cNvSpPr/>
          <p:nvPr/>
        </p:nvSpPr>
        <p:spPr>
          <a:xfrm>
            <a:off x="1463040" y="4407408"/>
            <a:ext cx="5120640" cy="411480"/>
          </a:xfrm>
          <a:prstGeom prst="rect">
            <a:avLst/>
          </a:prstGeom>
          <a:noFill/>
          <a:ln/>
        </p:spPr>
        <p:txBody>
          <a:bodyPr wrap="square" rtlCol="0" anchor="ctr"/>
          <a:lstStyle/>
          <a:p>
            <a:pPr marL="0" indent="0">
              <a:lnSpc>
                <a:spcPts val="1350"/>
              </a:lnSpc>
              <a:buNone/>
            </a:pPr>
            <a:r>
              <a:rPr lang="en-US" sz="1050" dirty="0">
                <a:solidFill>
                  <a:srgbClr val="5B6058"/>
                </a:solidFill>
                <a:latin typeface="Calibri" pitchFamily="34" charset="0"/>
                <a:ea typeface="Calibri" pitchFamily="34" charset="-122"/>
                <a:cs typeface="Calibri" pitchFamily="34" charset="-120"/>
              </a:rPr>
              <a:t>DCF (FY2027E–FY2031E) and relative valuation against peers</a:t>
            </a:r>
            <a:endParaRPr lang="en-US" sz="1050" dirty="0"/>
          </a:p>
        </p:txBody>
      </p:sp>
      <p:sp>
        <p:nvSpPr>
          <p:cNvPr id="19" name="Shape 17"/>
          <p:cNvSpPr/>
          <p:nvPr/>
        </p:nvSpPr>
        <p:spPr>
          <a:xfrm>
            <a:off x="502920" y="4818888"/>
            <a:ext cx="6080760" cy="0"/>
          </a:xfrm>
          <a:prstGeom prst="line">
            <a:avLst/>
          </a:prstGeom>
          <a:noFill/>
          <a:ln w="9525">
            <a:solidFill>
              <a:srgbClr val="CDD3CB"/>
            </a:solidFill>
            <a:prstDash val="solid"/>
          </a:ln>
        </p:spPr>
      </p:sp>
      <p:sp>
        <p:nvSpPr>
          <p:cNvPr id="20" name="Text 18"/>
          <p:cNvSpPr/>
          <p:nvPr/>
        </p:nvSpPr>
        <p:spPr>
          <a:xfrm>
            <a:off x="502920" y="4892040"/>
            <a:ext cx="822960" cy="868680"/>
          </a:xfrm>
          <a:prstGeom prst="rect">
            <a:avLst/>
          </a:prstGeom>
          <a:noFill/>
          <a:ln/>
        </p:spPr>
        <p:txBody>
          <a:bodyPr wrap="square" rtlCol="0" anchor="ctr"/>
          <a:lstStyle/>
          <a:p>
            <a:pPr marL="0" indent="0">
              <a:buNone/>
            </a:pPr>
            <a:r>
              <a:rPr lang="en-US" sz="3000" b="1" dirty="0">
                <a:solidFill>
                  <a:srgbClr val="D7B79A"/>
                </a:solidFill>
                <a:latin typeface="Georgia" pitchFamily="34" charset="0"/>
                <a:ea typeface="Georgia" pitchFamily="34" charset="-122"/>
                <a:cs typeface="Georgia" pitchFamily="34" charset="-120"/>
              </a:rPr>
              <a:t>05</a:t>
            </a:r>
            <a:endParaRPr lang="en-US" sz="3000" dirty="0"/>
          </a:p>
        </p:txBody>
      </p:sp>
      <p:sp>
        <p:nvSpPr>
          <p:cNvPr id="21" name="Text 19"/>
          <p:cNvSpPr/>
          <p:nvPr/>
        </p:nvSpPr>
        <p:spPr>
          <a:xfrm>
            <a:off x="1463040" y="4919472"/>
            <a:ext cx="5120640" cy="365760"/>
          </a:xfrm>
          <a:prstGeom prst="rect">
            <a:avLst/>
          </a:prstGeom>
          <a:noFill/>
          <a:ln/>
        </p:spPr>
        <p:txBody>
          <a:bodyPr wrap="square" rtlCol="0" anchor="ctr"/>
          <a:lstStyle/>
          <a:p>
            <a:pPr marL="0" indent="0">
              <a:buNone/>
            </a:pPr>
            <a:r>
              <a:rPr lang="en-US" sz="1500" b="1" dirty="0">
                <a:solidFill>
                  <a:srgbClr val="1E2A22"/>
                </a:solidFill>
                <a:latin typeface="Calibri" pitchFamily="34" charset="0"/>
                <a:ea typeface="Calibri" pitchFamily="34" charset="-122"/>
                <a:cs typeface="Calibri" pitchFamily="34" charset="-120"/>
              </a:rPr>
              <a:t>Recommendation &amp; Risks</a:t>
            </a:r>
            <a:endParaRPr lang="en-US" sz="1500" dirty="0"/>
          </a:p>
        </p:txBody>
      </p:sp>
      <p:sp>
        <p:nvSpPr>
          <p:cNvPr id="22" name="Text 20"/>
          <p:cNvSpPr/>
          <p:nvPr/>
        </p:nvSpPr>
        <p:spPr>
          <a:xfrm>
            <a:off x="1463040" y="5276088"/>
            <a:ext cx="5120640" cy="411480"/>
          </a:xfrm>
          <a:prstGeom prst="rect">
            <a:avLst/>
          </a:prstGeom>
          <a:noFill/>
          <a:ln/>
        </p:spPr>
        <p:txBody>
          <a:bodyPr wrap="square" rtlCol="0" anchor="ctr"/>
          <a:lstStyle/>
          <a:p>
            <a:pPr marL="0" indent="0">
              <a:lnSpc>
                <a:spcPts val="1350"/>
              </a:lnSpc>
              <a:buNone/>
            </a:pPr>
            <a:r>
              <a:rPr lang="en-US" sz="1150" dirty="0">
                <a:solidFill>
                  <a:srgbClr val="5B6058"/>
                </a:solidFill>
                <a:latin typeface="Calibri" pitchFamily="34" charset="0"/>
                <a:ea typeface="Calibri" pitchFamily="34" charset="-122"/>
                <a:cs typeface="Calibri" pitchFamily="34" charset="-120"/>
              </a:rPr>
              <a:t>Investment view, key risks and management action points</a:t>
            </a:r>
            <a:endParaRPr lang="en-US" sz="1150" dirty="0"/>
          </a:p>
        </p:txBody>
      </p:sp>
      <p:sp>
        <p:nvSpPr>
          <p:cNvPr id="23" name="Shape 21"/>
          <p:cNvSpPr/>
          <p:nvPr/>
        </p:nvSpPr>
        <p:spPr>
          <a:xfrm>
            <a:off x="7360920" y="1417320"/>
            <a:ext cx="4343400" cy="4343400"/>
          </a:xfrm>
          <a:prstGeom prst="rect">
            <a:avLst/>
          </a:prstGeom>
          <a:solidFill>
            <a:srgbClr val="EEF1EC"/>
          </a:solidFill>
          <a:ln/>
        </p:spPr>
      </p:sp>
      <p:sp>
        <p:nvSpPr>
          <p:cNvPr id="24" name="Text 22"/>
          <p:cNvSpPr/>
          <p:nvPr/>
        </p:nvSpPr>
        <p:spPr>
          <a:xfrm>
            <a:off x="7680960" y="1691640"/>
            <a:ext cx="3749040" cy="502920"/>
          </a:xfrm>
          <a:prstGeom prst="rect">
            <a:avLst/>
          </a:prstGeom>
          <a:noFill/>
          <a:ln/>
        </p:spPr>
        <p:txBody>
          <a:bodyPr wrap="square" rtlCol="0" anchor="ctr"/>
          <a:lstStyle/>
          <a:p>
            <a:pPr marL="0" indent="0">
              <a:buNone/>
            </a:pPr>
            <a:r>
              <a:rPr lang="en-US" sz="2600" b="1" dirty="0">
                <a:solidFill>
                  <a:srgbClr val="1E2A22"/>
                </a:solidFill>
                <a:latin typeface="Georgia" pitchFamily="34" charset="0"/>
                <a:ea typeface="Georgia" pitchFamily="34" charset="-122"/>
                <a:cs typeface="Georgia" pitchFamily="34" charset="-120"/>
              </a:rPr>
              <a:t>Rs. 64,468 cr</a:t>
            </a:r>
            <a:endParaRPr lang="en-US" sz="2600" dirty="0"/>
          </a:p>
        </p:txBody>
      </p:sp>
      <p:sp>
        <p:nvSpPr>
          <p:cNvPr id="25" name="Text 23"/>
          <p:cNvSpPr/>
          <p:nvPr/>
        </p:nvSpPr>
        <p:spPr>
          <a:xfrm>
            <a:off x="7680960" y="2203704"/>
            <a:ext cx="3749040" cy="292608"/>
          </a:xfrm>
          <a:prstGeom prst="rect">
            <a:avLst/>
          </a:prstGeom>
          <a:noFill/>
          <a:ln/>
        </p:spPr>
        <p:txBody>
          <a:bodyPr wrap="square" rtlCol="0" anchor="ctr"/>
          <a:lstStyle/>
          <a:p>
            <a:pPr marL="0" indent="0">
              <a:buNone/>
            </a:pPr>
            <a:r>
              <a:rPr lang="en-US" sz="1050" dirty="0">
                <a:solidFill>
                  <a:srgbClr val="5B6058"/>
                </a:solidFill>
                <a:latin typeface="Calibri" pitchFamily="34" charset="0"/>
                <a:ea typeface="Calibri" pitchFamily="34" charset="-122"/>
                <a:cs typeface="Calibri" pitchFamily="34" charset="-120"/>
              </a:rPr>
              <a:t>FY2026 Net Sales</a:t>
            </a:r>
            <a:endParaRPr lang="en-US" sz="1050" dirty="0"/>
          </a:p>
        </p:txBody>
      </p:sp>
      <p:sp>
        <p:nvSpPr>
          <p:cNvPr id="26" name="Shape 24"/>
          <p:cNvSpPr/>
          <p:nvPr/>
        </p:nvSpPr>
        <p:spPr>
          <a:xfrm>
            <a:off x="7680960" y="2624328"/>
            <a:ext cx="3749040" cy="0"/>
          </a:xfrm>
          <a:prstGeom prst="line">
            <a:avLst/>
          </a:prstGeom>
          <a:noFill/>
          <a:ln w="9525">
            <a:solidFill>
              <a:srgbClr val="CDD3CB"/>
            </a:solidFill>
            <a:prstDash val="solid"/>
          </a:ln>
        </p:spPr>
      </p:sp>
      <p:sp>
        <p:nvSpPr>
          <p:cNvPr id="27" name="Text 25"/>
          <p:cNvSpPr/>
          <p:nvPr/>
        </p:nvSpPr>
        <p:spPr>
          <a:xfrm>
            <a:off x="7680960" y="2743200"/>
            <a:ext cx="3749040" cy="502920"/>
          </a:xfrm>
          <a:prstGeom prst="rect">
            <a:avLst/>
          </a:prstGeom>
          <a:noFill/>
          <a:ln/>
        </p:spPr>
        <p:txBody>
          <a:bodyPr wrap="square" rtlCol="0" anchor="ctr"/>
          <a:lstStyle/>
          <a:p>
            <a:pPr marL="0" indent="0">
              <a:buNone/>
            </a:pPr>
            <a:r>
              <a:rPr lang="en-US" sz="2600" b="1" dirty="0">
                <a:solidFill>
                  <a:srgbClr val="1E2A22"/>
                </a:solidFill>
                <a:latin typeface="Georgia" pitchFamily="34" charset="0"/>
                <a:ea typeface="Georgia" pitchFamily="34" charset="-122"/>
                <a:cs typeface="Georgia" pitchFamily="34" charset="-120"/>
              </a:rPr>
              <a:t>28.9%</a:t>
            </a:r>
            <a:endParaRPr lang="en-US" sz="2600" dirty="0"/>
          </a:p>
        </p:txBody>
      </p:sp>
      <p:sp>
        <p:nvSpPr>
          <p:cNvPr id="28" name="Text 26"/>
          <p:cNvSpPr/>
          <p:nvPr/>
        </p:nvSpPr>
        <p:spPr>
          <a:xfrm>
            <a:off x="7680960" y="3255264"/>
            <a:ext cx="3749040" cy="292608"/>
          </a:xfrm>
          <a:prstGeom prst="rect">
            <a:avLst/>
          </a:prstGeom>
          <a:noFill/>
          <a:ln/>
        </p:spPr>
        <p:txBody>
          <a:bodyPr wrap="square" rtlCol="0" anchor="ctr"/>
          <a:lstStyle/>
          <a:p>
            <a:pPr marL="0" indent="0">
              <a:buNone/>
            </a:pPr>
            <a:r>
              <a:rPr lang="en-US" sz="1050" dirty="0">
                <a:solidFill>
                  <a:srgbClr val="5B6058"/>
                </a:solidFill>
                <a:latin typeface="Calibri" pitchFamily="34" charset="0"/>
                <a:ea typeface="Calibri" pitchFamily="34" charset="-122"/>
                <a:cs typeface="Calibri" pitchFamily="34" charset="-120"/>
              </a:rPr>
              <a:t>FY2026 Operating Margin</a:t>
            </a:r>
            <a:endParaRPr lang="en-US" sz="1050" dirty="0"/>
          </a:p>
        </p:txBody>
      </p:sp>
      <p:sp>
        <p:nvSpPr>
          <p:cNvPr id="29" name="Shape 27"/>
          <p:cNvSpPr/>
          <p:nvPr/>
        </p:nvSpPr>
        <p:spPr>
          <a:xfrm>
            <a:off x="7680960" y="3675888"/>
            <a:ext cx="3749040" cy="0"/>
          </a:xfrm>
          <a:prstGeom prst="line">
            <a:avLst/>
          </a:prstGeom>
          <a:noFill/>
          <a:ln w="9525">
            <a:solidFill>
              <a:srgbClr val="CDD3CB"/>
            </a:solidFill>
            <a:prstDash val="solid"/>
          </a:ln>
        </p:spPr>
      </p:sp>
      <p:sp>
        <p:nvSpPr>
          <p:cNvPr id="30" name="Text 28"/>
          <p:cNvSpPr/>
          <p:nvPr/>
        </p:nvSpPr>
        <p:spPr>
          <a:xfrm>
            <a:off x="7680960" y="3794760"/>
            <a:ext cx="3749040" cy="502920"/>
          </a:xfrm>
          <a:prstGeom prst="rect">
            <a:avLst/>
          </a:prstGeom>
          <a:noFill/>
          <a:ln/>
        </p:spPr>
        <p:txBody>
          <a:bodyPr wrap="square" rtlCol="0" anchor="ctr"/>
          <a:lstStyle/>
          <a:p>
            <a:pPr marL="0" indent="0">
              <a:buNone/>
            </a:pPr>
            <a:r>
              <a:rPr lang="en-US" sz="2600" b="1" dirty="0">
                <a:solidFill>
                  <a:srgbClr val="1E2A22"/>
                </a:solidFill>
                <a:latin typeface="Georgia" pitchFamily="34" charset="0"/>
                <a:ea typeface="Georgia" pitchFamily="34" charset="-122"/>
                <a:cs typeface="Georgia" pitchFamily="34" charset="-120"/>
              </a:rPr>
              <a:t>Rs. 2,108</a:t>
            </a:r>
            <a:endParaRPr lang="en-US" sz="2600" dirty="0"/>
          </a:p>
        </p:txBody>
      </p:sp>
      <p:sp>
        <p:nvSpPr>
          <p:cNvPr id="31" name="Text 29"/>
          <p:cNvSpPr/>
          <p:nvPr/>
        </p:nvSpPr>
        <p:spPr>
          <a:xfrm>
            <a:off x="7680960" y="4306824"/>
            <a:ext cx="3749040" cy="292608"/>
          </a:xfrm>
          <a:prstGeom prst="rect">
            <a:avLst/>
          </a:prstGeom>
          <a:noFill/>
          <a:ln/>
        </p:spPr>
        <p:txBody>
          <a:bodyPr wrap="square" rtlCol="0" anchor="ctr"/>
          <a:lstStyle/>
          <a:p>
            <a:pPr marL="0" indent="0">
              <a:buNone/>
            </a:pPr>
            <a:r>
              <a:rPr lang="en-US" sz="1050" dirty="0">
                <a:solidFill>
                  <a:srgbClr val="5B6058"/>
                </a:solidFill>
                <a:latin typeface="Calibri" pitchFamily="34" charset="0"/>
                <a:ea typeface="Calibri" pitchFamily="34" charset="-122"/>
                <a:cs typeface="Calibri" pitchFamily="34" charset="-120"/>
              </a:rPr>
              <a:t>Market price, 30-Jul-2026</a:t>
            </a:r>
            <a:endParaRPr lang="en-US" sz="1050" dirty="0"/>
          </a:p>
        </p:txBody>
      </p:sp>
      <p:sp>
        <p:nvSpPr>
          <p:cNvPr id="32" name="Shape 30"/>
          <p:cNvSpPr/>
          <p:nvPr/>
        </p:nvSpPr>
        <p:spPr>
          <a:xfrm>
            <a:off x="7680960" y="4727448"/>
            <a:ext cx="3749040" cy="0"/>
          </a:xfrm>
          <a:prstGeom prst="line">
            <a:avLst/>
          </a:prstGeom>
          <a:noFill/>
          <a:ln w="9525">
            <a:solidFill>
              <a:srgbClr val="CDD3CB"/>
            </a:solidFill>
            <a:prstDash val="solid"/>
          </a:ln>
        </p:spPr>
      </p:sp>
      <p:sp>
        <p:nvSpPr>
          <p:cNvPr id="33" name="Text 31"/>
          <p:cNvSpPr/>
          <p:nvPr/>
        </p:nvSpPr>
        <p:spPr>
          <a:xfrm>
            <a:off x="7680960" y="4846320"/>
            <a:ext cx="3749040" cy="502920"/>
          </a:xfrm>
          <a:prstGeom prst="rect">
            <a:avLst/>
          </a:prstGeom>
          <a:noFill/>
          <a:ln/>
        </p:spPr>
        <p:txBody>
          <a:bodyPr wrap="square" rtlCol="0" anchor="ctr"/>
          <a:lstStyle/>
          <a:p>
            <a:pPr marL="0" indent="0">
              <a:buNone/>
            </a:pPr>
            <a:r>
              <a:rPr lang="en-US" sz="2600" b="1" dirty="0">
                <a:solidFill>
                  <a:srgbClr val="AA5A34"/>
                </a:solidFill>
                <a:latin typeface="Georgia" pitchFamily="34" charset="0"/>
                <a:ea typeface="Georgia" pitchFamily="34" charset="-122"/>
                <a:cs typeface="Georgia" pitchFamily="34" charset="-120"/>
              </a:rPr>
              <a:t>HOLD</a:t>
            </a:r>
            <a:endParaRPr lang="en-US" sz="2600" dirty="0"/>
          </a:p>
        </p:txBody>
      </p:sp>
      <p:sp>
        <p:nvSpPr>
          <p:cNvPr id="34" name="Text 32"/>
          <p:cNvSpPr/>
          <p:nvPr/>
        </p:nvSpPr>
        <p:spPr>
          <a:xfrm>
            <a:off x="7680960" y="5358384"/>
            <a:ext cx="3749040" cy="292608"/>
          </a:xfrm>
          <a:prstGeom prst="rect">
            <a:avLst/>
          </a:prstGeom>
          <a:noFill/>
          <a:ln/>
        </p:spPr>
        <p:txBody>
          <a:bodyPr wrap="square" rtlCol="0" anchor="ctr"/>
          <a:lstStyle/>
          <a:p>
            <a:pPr marL="0" indent="0">
              <a:buNone/>
            </a:pPr>
            <a:r>
              <a:rPr lang="en-US" sz="1050" dirty="0">
                <a:solidFill>
                  <a:srgbClr val="5B6058"/>
                </a:solidFill>
                <a:latin typeface="Calibri" pitchFamily="34" charset="0"/>
                <a:ea typeface="Calibri" pitchFamily="34" charset="-122"/>
                <a:cs typeface="Calibri" pitchFamily="34" charset="-120"/>
              </a:rPr>
              <a:t>Investment recommendation</a:t>
            </a:r>
            <a:endParaRPr lang="en-US" sz="1050" dirty="0"/>
          </a:p>
        </p:txBody>
      </p:sp>
      <p:sp>
        <p:nvSpPr>
          <p:cNvPr id="36" name="Text 34"/>
          <p:cNvSpPr/>
          <p:nvPr/>
        </p:nvSpPr>
        <p:spPr>
          <a:xfrm>
            <a:off x="11231575" y="6473952"/>
            <a:ext cx="457200" cy="274320"/>
          </a:xfrm>
          <a:prstGeom prst="rect">
            <a:avLst/>
          </a:prstGeom>
          <a:noFill/>
          <a:ln/>
        </p:spPr>
        <p:txBody>
          <a:bodyPr wrap="square" rtlCol="0" anchor="ctr"/>
          <a:lstStyle/>
          <a:p>
            <a:pPr marL="0" indent="0" algn="r">
              <a:buNone/>
            </a:pPr>
            <a:r>
              <a:rPr lang="en-US" sz="850" dirty="0">
                <a:solidFill>
                  <a:srgbClr val="5B6058"/>
                </a:solidFill>
                <a:latin typeface="Calibri" pitchFamily="34" charset="0"/>
                <a:ea typeface="Calibri" pitchFamily="34" charset="-122"/>
                <a:cs typeface="Calibri" pitchFamily="34" charset="-120"/>
              </a:rPr>
              <a:t>1</a:t>
            </a:r>
            <a:endParaRPr lang="en-US" sz="8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65760"/>
            <a:ext cx="9144000" cy="256032"/>
          </a:xfrm>
          <a:prstGeom prst="rect">
            <a:avLst/>
          </a:prstGeom>
          <a:noFill/>
          <a:ln/>
        </p:spPr>
        <p:txBody>
          <a:bodyPr wrap="square" rtlCol="0" anchor="ctr"/>
          <a:lstStyle/>
          <a:p>
            <a:pPr marL="0" indent="0">
              <a:buNone/>
            </a:pPr>
            <a:r>
              <a:rPr lang="en-US" sz="1050" b="1" kern="0" spc="200" dirty="0">
                <a:solidFill>
                  <a:srgbClr val="AA5A34"/>
                </a:solidFill>
                <a:latin typeface="Calibri" pitchFamily="34" charset="0"/>
                <a:ea typeface="Calibri" pitchFamily="34" charset="-122"/>
                <a:cs typeface="Calibri" pitchFamily="34" charset="-120"/>
              </a:rPr>
              <a:t>PROJECT BACKGROUND</a:t>
            </a:r>
            <a:endParaRPr lang="en-US" sz="1050" dirty="0"/>
          </a:p>
        </p:txBody>
      </p:sp>
      <p:sp>
        <p:nvSpPr>
          <p:cNvPr id="3" name="Text 1"/>
          <p:cNvSpPr/>
          <p:nvPr/>
        </p:nvSpPr>
        <p:spPr>
          <a:xfrm>
            <a:off x="502920" y="621792"/>
            <a:ext cx="10607040" cy="566928"/>
          </a:xfrm>
          <a:prstGeom prst="rect">
            <a:avLst/>
          </a:prstGeom>
          <a:noFill/>
          <a:ln/>
        </p:spPr>
        <p:txBody>
          <a:bodyPr wrap="square" rtlCol="0" anchor="ctr"/>
          <a:lstStyle/>
          <a:p>
            <a:pPr marL="0" indent="0">
              <a:lnSpc>
                <a:spcPts val="2900"/>
              </a:lnSpc>
              <a:buNone/>
            </a:pPr>
            <a:r>
              <a:rPr lang="en-US" sz="2500" b="1" dirty="0">
                <a:solidFill>
                  <a:srgbClr val="1E2A22"/>
                </a:solidFill>
                <a:latin typeface="Georgia" pitchFamily="34" charset="0"/>
                <a:ea typeface="Georgia" pitchFamily="34" charset="-122"/>
                <a:cs typeface="Georgia" pitchFamily="34" charset="-120"/>
              </a:rPr>
              <a:t>Company &amp; Industry Context</a:t>
            </a:r>
            <a:endParaRPr lang="en-US" sz="2500" dirty="0"/>
          </a:p>
        </p:txBody>
      </p:sp>
      <p:sp>
        <p:nvSpPr>
          <p:cNvPr id="4" name="Text 2"/>
          <p:cNvSpPr/>
          <p:nvPr/>
        </p:nvSpPr>
        <p:spPr>
          <a:xfrm>
            <a:off x="502920" y="1417320"/>
            <a:ext cx="5394960" cy="292608"/>
          </a:xfrm>
          <a:prstGeom prst="rect">
            <a:avLst/>
          </a:prstGeom>
          <a:noFill/>
          <a:ln/>
        </p:spPr>
        <p:txBody>
          <a:bodyPr wrap="square" rtlCol="0" anchor="ctr"/>
          <a:lstStyle/>
          <a:p>
            <a:pPr marL="0" indent="0">
              <a:buNone/>
            </a:pPr>
            <a:r>
              <a:rPr lang="en-US" sz="1400" b="1" dirty="0">
                <a:solidFill>
                  <a:srgbClr val="AA5A34"/>
                </a:solidFill>
                <a:latin typeface="Calibri" pitchFamily="34" charset="0"/>
                <a:ea typeface="Calibri" pitchFamily="34" charset="-122"/>
                <a:cs typeface="Calibri" pitchFamily="34" charset="-120"/>
              </a:rPr>
              <a:t>About Hindustan Unilever</a:t>
            </a:r>
            <a:endParaRPr lang="en-US" sz="1400" dirty="0"/>
          </a:p>
        </p:txBody>
      </p:sp>
      <p:sp>
        <p:nvSpPr>
          <p:cNvPr id="5" name="Text 3"/>
          <p:cNvSpPr/>
          <p:nvPr/>
        </p:nvSpPr>
        <p:spPr>
          <a:xfrm>
            <a:off x="502920" y="1783080"/>
            <a:ext cx="5532120" cy="3931920"/>
          </a:xfrm>
          <a:prstGeom prst="rect">
            <a:avLst/>
          </a:prstGeom>
          <a:noFill/>
          <a:ln/>
        </p:spPr>
        <p:txBody>
          <a:bodyPr wrap="square" rtlCol="0" anchor="ctr"/>
          <a:lstStyle/>
          <a:p>
            <a:pPr marL="177800" indent="-177800">
              <a:lnSpc>
                <a:spcPts val="1450"/>
              </a:lnSpc>
              <a:spcAft>
                <a:spcPts val="800"/>
              </a:spcAft>
              <a:buSzPct val="100000"/>
              <a:buChar char="–"/>
            </a:pPr>
            <a:r>
              <a:rPr lang="en-US" sz="1150" dirty="0">
                <a:solidFill>
                  <a:srgbClr val="1E2A22"/>
                </a:solidFill>
                <a:latin typeface="Calibri" pitchFamily="34" charset="0"/>
                <a:ea typeface="Calibri" pitchFamily="34" charset="-122"/>
                <a:cs typeface="Calibri" pitchFamily="34" charset="-120"/>
              </a:rPr>
              <a:t>India's largest FMCG company, a subsidiary of Unilever PLC, operating in India for over nine decades.</a:t>
            </a:r>
            <a:endParaRPr lang="en-US" sz="1150" dirty="0"/>
          </a:p>
          <a:p>
            <a:pPr marL="177800" indent="-177800">
              <a:lnSpc>
                <a:spcPts val="1450"/>
              </a:lnSpc>
              <a:spcAft>
                <a:spcPts val="800"/>
              </a:spcAft>
              <a:buSzPct val="100000"/>
              <a:buChar char="–"/>
            </a:pPr>
            <a:r>
              <a:rPr lang="en-US" sz="1150" dirty="0">
                <a:solidFill>
                  <a:srgbClr val="1E2A22"/>
                </a:solidFill>
                <a:latin typeface="Calibri" pitchFamily="34" charset="0"/>
                <a:ea typeface="Calibri" pitchFamily="34" charset="-122"/>
                <a:cs typeface="Calibri" pitchFamily="34" charset="-120"/>
              </a:rPr>
              <a:t>Portfolio spans Home Care, Beauty &amp; Wellbeing, Personal Care, and Foods &amp; Refreshment  -brands such as Surf Excel, Dove, Lakmé and Horlicks.</a:t>
            </a:r>
            <a:endParaRPr lang="en-US" sz="1150" dirty="0"/>
          </a:p>
          <a:p>
            <a:pPr marL="177800" indent="-177800">
              <a:lnSpc>
                <a:spcPts val="1450"/>
              </a:lnSpc>
              <a:spcAft>
                <a:spcPts val="800"/>
              </a:spcAft>
              <a:buSzPct val="100000"/>
              <a:buChar char="–"/>
            </a:pPr>
            <a:r>
              <a:rPr lang="en-US" sz="1150" dirty="0">
                <a:solidFill>
                  <a:srgbClr val="1E2A22"/>
                </a:solidFill>
                <a:latin typeface="Calibri" pitchFamily="34" charset="0"/>
                <a:ea typeface="Calibri" pitchFamily="34" charset="-122"/>
                <a:cs typeface="Calibri" pitchFamily="34" charset="-120"/>
              </a:rPr>
              <a:t>Distribution reaches several million retail outlets across urban and rural India, backed by an extensive manufacturing footprint.</a:t>
            </a:r>
            <a:endParaRPr lang="en-US" sz="1150" dirty="0"/>
          </a:p>
          <a:p>
            <a:pPr marL="177800" indent="-177800">
              <a:lnSpc>
                <a:spcPts val="1450"/>
              </a:lnSpc>
              <a:spcAft>
                <a:spcPts val="800"/>
              </a:spcAft>
              <a:buSzPct val="100000"/>
              <a:buChar char="–"/>
            </a:pPr>
            <a:r>
              <a:rPr lang="en-US" sz="1150" dirty="0">
                <a:solidFill>
                  <a:srgbClr val="1E2A22"/>
                </a:solidFill>
                <a:latin typeface="Calibri" pitchFamily="34" charset="0"/>
                <a:ea typeface="Calibri" pitchFamily="34" charset="-122"/>
                <a:cs typeface="Calibri" pitchFamily="34" charset="-120"/>
              </a:rPr>
              <a:t>A volume-driven business: low unit value sold at scale, mostly through general trade, with modern trade and quick-commerce gaining share.</a:t>
            </a:r>
            <a:endParaRPr lang="en-US" sz="1150" dirty="0"/>
          </a:p>
          <a:p>
            <a:pPr marL="177800" indent="-177800">
              <a:lnSpc>
                <a:spcPts val="1450"/>
              </a:lnSpc>
              <a:spcAft>
                <a:spcPts val="800"/>
              </a:spcAft>
              <a:buSzPct val="100000"/>
              <a:buChar char="–"/>
            </a:pPr>
            <a:r>
              <a:rPr lang="en-US" sz="1150" dirty="0">
                <a:solidFill>
                  <a:srgbClr val="1E2A22"/>
                </a:solidFill>
                <a:latin typeface="Calibri" pitchFamily="34" charset="0"/>
                <a:ea typeface="Calibri" pitchFamily="34" charset="-122"/>
                <a:cs typeface="Calibri" pitchFamily="34" charset="-120"/>
              </a:rPr>
              <a:t>Structurally funded by negative working capital — the company collects from distributors quickly while stretching supplier payments.</a:t>
            </a:r>
            <a:endParaRPr lang="en-US" sz="1150" dirty="0"/>
          </a:p>
          <a:p>
            <a:pPr marL="177800" indent="-177800">
              <a:lnSpc>
                <a:spcPts val="1450"/>
              </a:lnSpc>
              <a:spcAft>
                <a:spcPts val="800"/>
              </a:spcAft>
              <a:buSzPct val="100000"/>
              <a:buChar char="–"/>
            </a:pPr>
            <a:r>
              <a:rPr lang="en-US" sz="1150" dirty="0">
                <a:solidFill>
                  <a:srgbClr val="1E2A22"/>
                </a:solidFill>
                <a:latin typeface="Calibri" pitchFamily="34" charset="0"/>
                <a:ea typeface="Calibri" pitchFamily="34" charset="-122"/>
                <a:cs typeface="Calibri" pitchFamily="34" charset="-120"/>
              </a:rPr>
              <a:t>Competitive intensity is rising from regional and digital-first, direct-to-consumer brands using quick-commerce to bypass traditional distribution.</a:t>
            </a:r>
            <a:endParaRPr lang="en-US" sz="1150" dirty="0"/>
          </a:p>
        </p:txBody>
      </p:sp>
      <p:sp>
        <p:nvSpPr>
          <p:cNvPr id="6" name="Shape 4"/>
          <p:cNvSpPr/>
          <p:nvPr/>
        </p:nvSpPr>
        <p:spPr>
          <a:xfrm>
            <a:off x="6355080" y="1417320"/>
            <a:ext cx="5349240" cy="4343400"/>
          </a:xfrm>
          <a:prstGeom prst="rect">
            <a:avLst/>
          </a:prstGeom>
          <a:solidFill>
            <a:srgbClr val="EEF1EC"/>
          </a:solidFill>
          <a:ln/>
        </p:spPr>
      </p:sp>
      <p:sp>
        <p:nvSpPr>
          <p:cNvPr id="7" name="Text 5"/>
          <p:cNvSpPr/>
          <p:nvPr/>
        </p:nvSpPr>
        <p:spPr>
          <a:xfrm>
            <a:off x="6675120" y="1627632"/>
            <a:ext cx="4754880" cy="292608"/>
          </a:xfrm>
          <a:prstGeom prst="rect">
            <a:avLst/>
          </a:prstGeom>
          <a:noFill/>
          <a:ln/>
        </p:spPr>
        <p:txBody>
          <a:bodyPr wrap="square" rtlCol="0" anchor="ctr"/>
          <a:lstStyle/>
          <a:p>
            <a:pPr marL="0" indent="0">
              <a:buNone/>
            </a:pPr>
            <a:r>
              <a:rPr lang="en-US" sz="1300" b="1" dirty="0">
                <a:solidFill>
                  <a:srgbClr val="AA5A34"/>
                </a:solidFill>
                <a:latin typeface="Calibri" pitchFamily="34" charset="0"/>
                <a:ea typeface="Calibri" pitchFamily="34" charset="-122"/>
                <a:cs typeface="Calibri" pitchFamily="34" charset="-120"/>
              </a:rPr>
              <a:t>FMCG Industry in India</a:t>
            </a:r>
            <a:endParaRPr lang="en-US" sz="1300" dirty="0"/>
          </a:p>
        </p:txBody>
      </p:sp>
      <p:sp>
        <p:nvSpPr>
          <p:cNvPr id="8" name="Text 6"/>
          <p:cNvSpPr/>
          <p:nvPr/>
        </p:nvSpPr>
        <p:spPr>
          <a:xfrm>
            <a:off x="6675120" y="1993392"/>
            <a:ext cx="4754880" cy="1005840"/>
          </a:xfrm>
          <a:prstGeom prst="rect">
            <a:avLst/>
          </a:prstGeom>
          <a:noFill/>
          <a:ln/>
        </p:spPr>
        <p:txBody>
          <a:bodyPr wrap="square" rtlCol="0" anchor="ctr"/>
          <a:lstStyle/>
          <a:p>
            <a:pPr marL="177800" indent="-177800">
              <a:lnSpc>
                <a:spcPts val="1450"/>
              </a:lnSpc>
              <a:spcAft>
                <a:spcPts val="800"/>
              </a:spcAft>
              <a:buSzPct val="100000"/>
              <a:buChar char="–"/>
            </a:pPr>
            <a:r>
              <a:rPr lang="en-US" sz="1150" dirty="0">
                <a:solidFill>
                  <a:srgbClr val="1E2A22"/>
                </a:solidFill>
                <a:latin typeface="Calibri" pitchFamily="34" charset="0"/>
                <a:ea typeface="Calibri" pitchFamily="34" charset="-122"/>
                <a:cs typeface="Calibri" pitchFamily="34" charset="-120"/>
              </a:rPr>
              <a:t>Rural demand adds volatility, being closely tied to the monsoon and farm incomes.</a:t>
            </a:r>
            <a:endParaRPr lang="en-US" sz="1150" dirty="0"/>
          </a:p>
          <a:p>
            <a:pPr marL="177800" indent="-177800">
              <a:lnSpc>
                <a:spcPts val="1450"/>
              </a:lnSpc>
              <a:spcAft>
                <a:spcPts val="800"/>
              </a:spcAft>
              <a:buSzPct val="100000"/>
              <a:buChar char="–"/>
            </a:pPr>
            <a:r>
              <a:rPr lang="en-US" sz="1150" dirty="0">
                <a:solidFill>
                  <a:srgbClr val="1E2A22"/>
                </a:solidFill>
                <a:latin typeface="Calibri" pitchFamily="34" charset="0"/>
                <a:ea typeface="Calibri" pitchFamily="34" charset="-122"/>
                <a:cs typeface="Calibri" pitchFamily="34" charset="-120"/>
              </a:rPr>
              <a:t>Peer set used for comparison: ITC, Nestlé India, Godrej Consumer Products and Marico.</a:t>
            </a:r>
            <a:endParaRPr lang="en-US" sz="1150" dirty="0"/>
          </a:p>
        </p:txBody>
      </p:sp>
      <p:sp>
        <p:nvSpPr>
          <p:cNvPr id="9" name="Shape 7"/>
          <p:cNvSpPr/>
          <p:nvPr/>
        </p:nvSpPr>
        <p:spPr>
          <a:xfrm>
            <a:off x="6675120" y="3246120"/>
            <a:ext cx="4754880" cy="0"/>
          </a:xfrm>
          <a:prstGeom prst="line">
            <a:avLst/>
          </a:prstGeom>
          <a:noFill/>
          <a:ln w="9525">
            <a:solidFill>
              <a:srgbClr val="CDD3CB"/>
            </a:solidFill>
            <a:prstDash val="solid"/>
          </a:ln>
        </p:spPr>
      </p:sp>
      <p:sp>
        <p:nvSpPr>
          <p:cNvPr id="10" name="Text 8"/>
          <p:cNvSpPr/>
          <p:nvPr/>
        </p:nvSpPr>
        <p:spPr>
          <a:xfrm>
            <a:off x="6675120" y="3429000"/>
            <a:ext cx="4754880" cy="274320"/>
          </a:xfrm>
          <a:prstGeom prst="rect">
            <a:avLst/>
          </a:prstGeom>
          <a:noFill/>
          <a:ln/>
        </p:spPr>
        <p:txBody>
          <a:bodyPr wrap="square" rtlCol="0" anchor="ctr"/>
          <a:lstStyle/>
          <a:p>
            <a:pPr marL="0" indent="0">
              <a:buNone/>
            </a:pPr>
            <a:r>
              <a:rPr lang="en-US" sz="1300" b="1" dirty="0">
                <a:solidFill>
                  <a:srgbClr val="1E2A22"/>
                </a:solidFill>
                <a:latin typeface="Calibri" pitchFamily="34" charset="0"/>
                <a:ea typeface="Calibri" pitchFamily="34" charset="-122"/>
                <a:cs typeface="Calibri" pitchFamily="34" charset="-120"/>
              </a:rPr>
              <a:t>Merger event to note</a:t>
            </a:r>
            <a:endParaRPr lang="en-US" sz="1300" dirty="0"/>
          </a:p>
        </p:txBody>
      </p:sp>
      <p:sp>
        <p:nvSpPr>
          <p:cNvPr id="11" name="Text 9"/>
          <p:cNvSpPr/>
          <p:nvPr/>
        </p:nvSpPr>
        <p:spPr>
          <a:xfrm>
            <a:off x="6675120" y="3749040"/>
            <a:ext cx="4754880" cy="1737360"/>
          </a:xfrm>
          <a:prstGeom prst="rect">
            <a:avLst/>
          </a:prstGeom>
          <a:noFill/>
          <a:ln/>
        </p:spPr>
        <p:txBody>
          <a:bodyPr wrap="square" rtlCol="0" anchor="ctr"/>
          <a:lstStyle/>
          <a:p>
            <a:pPr marL="0" indent="0">
              <a:lnSpc>
                <a:spcPts val="1450"/>
              </a:lnSpc>
              <a:buNone/>
            </a:pPr>
            <a:r>
              <a:rPr lang="en-US" sz="1150" dirty="0">
                <a:solidFill>
                  <a:srgbClr val="1E2A22"/>
                </a:solidFill>
                <a:latin typeface="Calibri" pitchFamily="34" charset="0"/>
                <a:ea typeface="Calibri" pitchFamily="34" charset="-122"/>
                <a:cs typeface="Calibri" pitchFamily="34" charset="-120"/>
              </a:rPr>
              <a:t>The FY2021 merger with GSK Consumer Healthcare (bringing in Horlicks and Boost) more than trebled total assets in one year. Figures from FY2021 onward are therefore not directly comparable with earlier years.</a:t>
            </a:r>
            <a:endParaRPr lang="en-US" sz="1150" dirty="0"/>
          </a:p>
        </p:txBody>
      </p:sp>
      <p:sp>
        <p:nvSpPr>
          <p:cNvPr id="13" name="Text 11"/>
          <p:cNvSpPr/>
          <p:nvPr/>
        </p:nvSpPr>
        <p:spPr>
          <a:xfrm>
            <a:off x="11231575" y="6473952"/>
            <a:ext cx="457200" cy="274320"/>
          </a:xfrm>
          <a:prstGeom prst="rect">
            <a:avLst/>
          </a:prstGeom>
          <a:noFill/>
          <a:ln/>
        </p:spPr>
        <p:txBody>
          <a:bodyPr wrap="square" rtlCol="0" anchor="ctr"/>
          <a:lstStyle/>
          <a:p>
            <a:pPr marL="0" indent="0" algn="r">
              <a:buNone/>
            </a:pPr>
            <a:r>
              <a:rPr lang="en-US" sz="850" dirty="0">
                <a:solidFill>
                  <a:srgbClr val="5B6058"/>
                </a:solidFill>
                <a:latin typeface="Calibri" pitchFamily="34" charset="0"/>
                <a:ea typeface="Calibri" pitchFamily="34" charset="-122"/>
                <a:cs typeface="Calibri" pitchFamily="34" charset="-120"/>
              </a:rPr>
              <a:t>2</a:t>
            </a:r>
            <a:endParaRPr lang="en-US" sz="8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65760"/>
            <a:ext cx="9144000" cy="256032"/>
          </a:xfrm>
          <a:prstGeom prst="rect">
            <a:avLst/>
          </a:prstGeom>
          <a:noFill/>
          <a:ln/>
        </p:spPr>
        <p:txBody>
          <a:bodyPr wrap="square" rtlCol="0" anchor="ctr"/>
          <a:lstStyle/>
          <a:p>
            <a:pPr marL="0" indent="0">
              <a:buNone/>
            </a:pPr>
            <a:r>
              <a:rPr lang="en-US" sz="1050" b="1" kern="0" spc="200" dirty="0">
                <a:solidFill>
                  <a:srgbClr val="AA5A34"/>
                </a:solidFill>
                <a:latin typeface="Calibri" pitchFamily="34" charset="0"/>
                <a:ea typeface="Calibri" pitchFamily="34" charset="-122"/>
                <a:cs typeface="Calibri" pitchFamily="34" charset="-120"/>
              </a:rPr>
              <a:t>FINANCIAL ANALYSIS</a:t>
            </a:r>
            <a:endParaRPr lang="en-US" sz="1050" dirty="0"/>
          </a:p>
        </p:txBody>
      </p:sp>
      <p:sp>
        <p:nvSpPr>
          <p:cNvPr id="3" name="Text 1"/>
          <p:cNvSpPr/>
          <p:nvPr/>
        </p:nvSpPr>
        <p:spPr>
          <a:xfrm>
            <a:off x="502920" y="621792"/>
            <a:ext cx="10607040" cy="566928"/>
          </a:xfrm>
          <a:prstGeom prst="rect">
            <a:avLst/>
          </a:prstGeom>
          <a:noFill/>
          <a:ln/>
        </p:spPr>
        <p:txBody>
          <a:bodyPr wrap="square" rtlCol="0" anchor="ctr"/>
          <a:lstStyle/>
          <a:p>
            <a:pPr marL="0" indent="0">
              <a:lnSpc>
                <a:spcPts val="2900"/>
              </a:lnSpc>
              <a:buNone/>
            </a:pPr>
            <a:r>
              <a:rPr lang="en-US" sz="2500" b="1" dirty="0">
                <a:solidFill>
                  <a:srgbClr val="1E2A22"/>
                </a:solidFill>
                <a:latin typeface="Georgia" pitchFamily="34" charset="0"/>
                <a:ea typeface="Georgia" pitchFamily="34" charset="-122"/>
                <a:cs typeface="Georgia" pitchFamily="34" charset="-120"/>
              </a:rPr>
              <a:t>A Decade of Revenue Growth and Margin Expansion</a:t>
            </a:r>
            <a:endParaRPr lang="en-US" sz="2500" dirty="0"/>
          </a:p>
        </p:txBody>
      </p:sp>
      <p:graphicFrame>
        <p:nvGraphicFramePr>
          <p:cNvPr id="4" name="Chart 0"/>
          <p:cNvGraphicFramePr/>
          <p:nvPr>
            <p:extLst>
              <p:ext uri="{D42A27DB-BD31-4B8C-83A1-F6EECF244321}">
                <p14:modId xmlns:p14="http://schemas.microsoft.com/office/powerpoint/2010/main" val="425123135"/>
              </p:ext>
            </p:extLst>
          </p:nvPr>
        </p:nvGraphicFramePr>
        <p:xfrm>
          <a:off x="502920" y="1463040"/>
          <a:ext cx="6903720" cy="420624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p:nvPr/>
        </p:nvSpPr>
        <p:spPr>
          <a:xfrm>
            <a:off x="7726680" y="1463040"/>
            <a:ext cx="4023360" cy="274320"/>
          </a:xfrm>
          <a:prstGeom prst="rect">
            <a:avLst/>
          </a:prstGeom>
          <a:noFill/>
          <a:ln/>
        </p:spPr>
        <p:txBody>
          <a:bodyPr wrap="square" rtlCol="0" anchor="ctr"/>
          <a:lstStyle/>
          <a:p>
            <a:pPr marL="0" indent="0">
              <a:buNone/>
            </a:pPr>
            <a:r>
              <a:rPr lang="en-US" sz="1050" b="1" kern="0" spc="200" dirty="0">
                <a:solidFill>
                  <a:srgbClr val="AA5A34"/>
                </a:solidFill>
                <a:latin typeface="Calibri" pitchFamily="34" charset="0"/>
                <a:ea typeface="Calibri" pitchFamily="34" charset="-122"/>
                <a:cs typeface="Calibri" pitchFamily="34" charset="-120"/>
              </a:rPr>
              <a:t>KEY FACTS</a:t>
            </a:r>
            <a:endParaRPr lang="en-US" sz="1050" dirty="0"/>
          </a:p>
        </p:txBody>
      </p:sp>
      <p:sp>
        <p:nvSpPr>
          <p:cNvPr id="6" name="Text 3"/>
          <p:cNvSpPr/>
          <p:nvPr/>
        </p:nvSpPr>
        <p:spPr>
          <a:xfrm>
            <a:off x="7726680" y="1828800"/>
            <a:ext cx="4023360" cy="411480"/>
          </a:xfrm>
          <a:prstGeom prst="rect">
            <a:avLst/>
          </a:prstGeom>
          <a:noFill/>
          <a:ln/>
        </p:spPr>
        <p:txBody>
          <a:bodyPr wrap="square" rtlCol="0" anchor="ctr"/>
          <a:lstStyle/>
          <a:p>
            <a:pPr marL="0" indent="0">
              <a:buNone/>
            </a:pPr>
            <a:r>
              <a:rPr lang="en-US" sz="1900" b="1" dirty="0">
                <a:solidFill>
                  <a:srgbClr val="1E2A22"/>
                </a:solidFill>
                <a:latin typeface="Georgia" pitchFamily="34" charset="0"/>
                <a:ea typeface="Georgia" pitchFamily="34" charset="-122"/>
                <a:cs typeface="Georgia" pitchFamily="34" charset="-120"/>
              </a:rPr>
              <a:t>7.7%</a:t>
            </a:r>
            <a:endParaRPr lang="en-US" sz="1900" dirty="0"/>
          </a:p>
        </p:txBody>
      </p:sp>
      <p:sp>
        <p:nvSpPr>
          <p:cNvPr id="7" name="Text 4"/>
          <p:cNvSpPr/>
          <p:nvPr/>
        </p:nvSpPr>
        <p:spPr>
          <a:xfrm>
            <a:off x="7726680" y="2212848"/>
            <a:ext cx="4023360" cy="274320"/>
          </a:xfrm>
          <a:prstGeom prst="rect">
            <a:avLst/>
          </a:prstGeom>
          <a:noFill/>
          <a:ln/>
        </p:spPr>
        <p:txBody>
          <a:bodyPr wrap="square" rtlCol="0" anchor="ctr"/>
          <a:lstStyle/>
          <a:p>
            <a:pPr marL="0" indent="0">
              <a:buNone/>
            </a:pPr>
            <a:r>
              <a:rPr lang="en-US" sz="1150" dirty="0">
                <a:solidFill>
                  <a:srgbClr val="5B6058"/>
                </a:solidFill>
                <a:latin typeface="Calibri" pitchFamily="34" charset="0"/>
                <a:ea typeface="Calibri" pitchFamily="34" charset="-122"/>
                <a:cs typeface="Calibri" pitchFamily="34" charset="-120"/>
              </a:rPr>
              <a:t>Revenue CAGR, FY2017–FY2026</a:t>
            </a:r>
            <a:endParaRPr lang="en-US" sz="1150" dirty="0"/>
          </a:p>
        </p:txBody>
      </p:sp>
      <p:sp>
        <p:nvSpPr>
          <p:cNvPr id="8" name="Text 5"/>
          <p:cNvSpPr/>
          <p:nvPr/>
        </p:nvSpPr>
        <p:spPr>
          <a:xfrm>
            <a:off x="7726680" y="2606040"/>
            <a:ext cx="4023360" cy="411480"/>
          </a:xfrm>
          <a:prstGeom prst="rect">
            <a:avLst/>
          </a:prstGeom>
          <a:noFill/>
          <a:ln/>
        </p:spPr>
        <p:txBody>
          <a:bodyPr wrap="square" rtlCol="0" anchor="ctr"/>
          <a:lstStyle/>
          <a:p>
            <a:pPr marL="0" indent="0">
              <a:buNone/>
            </a:pPr>
            <a:r>
              <a:rPr lang="en-US" sz="1900" b="1" dirty="0">
                <a:solidFill>
                  <a:srgbClr val="1E2A22"/>
                </a:solidFill>
                <a:latin typeface="Georgia" pitchFamily="34" charset="0"/>
                <a:ea typeface="Georgia" pitchFamily="34" charset="-122"/>
                <a:cs typeface="Georgia" pitchFamily="34" charset="-120"/>
              </a:rPr>
              <a:t>19.6% → 28.9%</a:t>
            </a:r>
            <a:endParaRPr lang="en-US" sz="1900" dirty="0"/>
          </a:p>
        </p:txBody>
      </p:sp>
      <p:sp>
        <p:nvSpPr>
          <p:cNvPr id="9" name="Text 6"/>
          <p:cNvSpPr/>
          <p:nvPr/>
        </p:nvSpPr>
        <p:spPr>
          <a:xfrm>
            <a:off x="7726680" y="2990088"/>
            <a:ext cx="4023360" cy="274320"/>
          </a:xfrm>
          <a:prstGeom prst="rect">
            <a:avLst/>
          </a:prstGeom>
          <a:noFill/>
          <a:ln/>
        </p:spPr>
        <p:txBody>
          <a:bodyPr wrap="square" rtlCol="0" anchor="ctr"/>
          <a:lstStyle/>
          <a:p>
            <a:pPr marL="0" indent="0">
              <a:buNone/>
            </a:pPr>
            <a:r>
              <a:rPr lang="en-US" sz="1150" dirty="0">
                <a:solidFill>
                  <a:srgbClr val="5B6058"/>
                </a:solidFill>
                <a:latin typeface="Calibri" pitchFamily="34" charset="0"/>
                <a:ea typeface="Calibri" pitchFamily="34" charset="-122"/>
                <a:cs typeface="Calibri" pitchFamily="34" charset="-120"/>
              </a:rPr>
              <a:t>Operating margin expansion</a:t>
            </a:r>
            <a:endParaRPr lang="en-US" sz="1150" dirty="0"/>
          </a:p>
        </p:txBody>
      </p:sp>
      <p:sp>
        <p:nvSpPr>
          <p:cNvPr id="10" name="Text 7"/>
          <p:cNvSpPr/>
          <p:nvPr/>
        </p:nvSpPr>
        <p:spPr>
          <a:xfrm>
            <a:off x="7726680" y="3383280"/>
            <a:ext cx="4023360" cy="411480"/>
          </a:xfrm>
          <a:prstGeom prst="rect">
            <a:avLst/>
          </a:prstGeom>
          <a:noFill/>
          <a:ln/>
        </p:spPr>
        <p:txBody>
          <a:bodyPr wrap="square" rtlCol="0" anchor="ctr"/>
          <a:lstStyle/>
          <a:p>
            <a:pPr marL="0" indent="0">
              <a:buNone/>
            </a:pPr>
            <a:r>
              <a:rPr lang="en-US" sz="1900" b="1" dirty="0">
                <a:solidFill>
                  <a:srgbClr val="1E2A22"/>
                </a:solidFill>
                <a:latin typeface="Georgia" pitchFamily="34" charset="0"/>
                <a:ea typeface="Georgia" pitchFamily="34" charset="-122"/>
                <a:cs typeface="Georgia" pitchFamily="34" charset="-120"/>
              </a:rPr>
              <a:t>Rs. 15,040 cr</a:t>
            </a:r>
            <a:endParaRPr lang="en-US" sz="1900" dirty="0"/>
          </a:p>
        </p:txBody>
      </p:sp>
      <p:sp>
        <p:nvSpPr>
          <p:cNvPr id="11" name="Text 8"/>
          <p:cNvSpPr/>
          <p:nvPr/>
        </p:nvSpPr>
        <p:spPr>
          <a:xfrm>
            <a:off x="7726680" y="3767328"/>
            <a:ext cx="4023360" cy="274320"/>
          </a:xfrm>
          <a:prstGeom prst="rect">
            <a:avLst/>
          </a:prstGeom>
          <a:noFill/>
          <a:ln/>
        </p:spPr>
        <p:txBody>
          <a:bodyPr wrap="square" rtlCol="0" anchor="ctr"/>
          <a:lstStyle/>
          <a:p>
            <a:pPr marL="0" indent="0">
              <a:buNone/>
            </a:pPr>
            <a:r>
              <a:rPr lang="en-US" sz="1150" dirty="0">
                <a:solidFill>
                  <a:srgbClr val="5B6058"/>
                </a:solidFill>
                <a:latin typeface="Calibri" pitchFamily="34" charset="0"/>
                <a:ea typeface="Calibri" pitchFamily="34" charset="-122"/>
                <a:cs typeface="Calibri" pitchFamily="34" charset="-120"/>
              </a:rPr>
              <a:t>FY2026 net profit (+41.2% YoY)</a:t>
            </a:r>
            <a:endParaRPr lang="en-US" sz="1150" dirty="0"/>
          </a:p>
        </p:txBody>
      </p:sp>
      <p:sp>
        <p:nvSpPr>
          <p:cNvPr id="12" name="Shape 9"/>
          <p:cNvSpPr/>
          <p:nvPr/>
        </p:nvSpPr>
        <p:spPr>
          <a:xfrm>
            <a:off x="7726680" y="4206240"/>
            <a:ext cx="4023360" cy="1600200"/>
          </a:xfrm>
          <a:prstGeom prst="rect">
            <a:avLst/>
          </a:prstGeom>
          <a:solidFill>
            <a:srgbClr val="EEF1EC"/>
          </a:solidFill>
          <a:ln/>
        </p:spPr>
      </p:sp>
      <p:sp>
        <p:nvSpPr>
          <p:cNvPr id="13" name="Text 10"/>
          <p:cNvSpPr/>
          <p:nvPr/>
        </p:nvSpPr>
        <p:spPr>
          <a:xfrm>
            <a:off x="7955280" y="4389120"/>
            <a:ext cx="3566160" cy="1188720"/>
          </a:xfrm>
          <a:prstGeom prst="rect">
            <a:avLst/>
          </a:prstGeom>
          <a:noFill/>
          <a:ln/>
        </p:spPr>
        <p:txBody>
          <a:bodyPr wrap="square" rtlCol="0" anchor="ctr"/>
          <a:lstStyle/>
          <a:p>
            <a:pPr marL="0" indent="0">
              <a:lnSpc>
                <a:spcPts val="1400"/>
              </a:lnSpc>
              <a:buNone/>
            </a:pPr>
            <a:r>
              <a:rPr lang="en-US" sz="1150" b="1" i="1" dirty="0">
                <a:solidFill>
                  <a:srgbClr val="1E2A22"/>
                </a:solidFill>
                <a:latin typeface="Calibri" pitchFamily="34" charset="0"/>
                <a:ea typeface="Calibri" pitchFamily="34" charset="-122"/>
                <a:cs typeface="Calibri" pitchFamily="34" charset="-120"/>
              </a:rPr>
              <a:t>Interpretation: </a:t>
            </a:r>
            <a:r>
              <a:rPr lang="en-US" sz="1150" i="1" dirty="0">
                <a:solidFill>
                  <a:srgbClr val="1E2A22"/>
                </a:solidFill>
                <a:latin typeface="Calibri" pitchFamily="34" charset="0"/>
                <a:ea typeface="Calibri" pitchFamily="34" charset="-122"/>
                <a:cs typeface="Calibri" pitchFamily="34" charset="-120"/>
              </a:rPr>
              <a:t>growth has slowed to ~5% recently, and the FY2026 profit jump is largely a one-off divestment gain plus a lower tax rate not a step-change in the core business.</a:t>
            </a:r>
            <a:endParaRPr lang="en-US" sz="1150" dirty="0"/>
          </a:p>
        </p:txBody>
      </p:sp>
      <p:sp>
        <p:nvSpPr>
          <p:cNvPr id="15" name="Text 12"/>
          <p:cNvSpPr/>
          <p:nvPr/>
        </p:nvSpPr>
        <p:spPr>
          <a:xfrm>
            <a:off x="11231575" y="6473952"/>
            <a:ext cx="457200" cy="274320"/>
          </a:xfrm>
          <a:prstGeom prst="rect">
            <a:avLst/>
          </a:prstGeom>
          <a:noFill/>
          <a:ln/>
        </p:spPr>
        <p:txBody>
          <a:bodyPr wrap="square" rtlCol="0" anchor="ctr"/>
          <a:lstStyle/>
          <a:p>
            <a:pPr marL="0" indent="0" algn="r">
              <a:buNone/>
            </a:pPr>
            <a:r>
              <a:rPr lang="en-US" sz="850" dirty="0">
                <a:solidFill>
                  <a:srgbClr val="5B6058"/>
                </a:solidFill>
                <a:latin typeface="Calibri" pitchFamily="34" charset="0"/>
                <a:ea typeface="Calibri" pitchFamily="34" charset="-122"/>
                <a:cs typeface="Calibri" pitchFamily="34" charset="-120"/>
              </a:rPr>
              <a:t>3</a:t>
            </a:r>
            <a:endParaRPr lang="en-US" sz="8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65760"/>
            <a:ext cx="9144000" cy="256032"/>
          </a:xfrm>
          <a:prstGeom prst="rect">
            <a:avLst/>
          </a:prstGeom>
          <a:noFill/>
          <a:ln/>
        </p:spPr>
        <p:txBody>
          <a:bodyPr wrap="square" rtlCol="0" anchor="ctr"/>
          <a:lstStyle/>
          <a:p>
            <a:pPr marL="0" indent="0">
              <a:buNone/>
            </a:pPr>
            <a:r>
              <a:rPr lang="en-US" sz="1050" b="1" kern="0" spc="200" dirty="0">
                <a:solidFill>
                  <a:srgbClr val="AA5A34"/>
                </a:solidFill>
                <a:latin typeface="Calibri" pitchFamily="34" charset="0"/>
                <a:ea typeface="Calibri" pitchFamily="34" charset="-122"/>
                <a:cs typeface="Calibri" pitchFamily="34" charset="-120"/>
              </a:rPr>
              <a:t>FINANCIAL ANALYSIS</a:t>
            </a:r>
            <a:endParaRPr lang="en-US" sz="1050" dirty="0"/>
          </a:p>
        </p:txBody>
      </p:sp>
      <p:sp>
        <p:nvSpPr>
          <p:cNvPr id="3" name="Text 1"/>
          <p:cNvSpPr/>
          <p:nvPr/>
        </p:nvSpPr>
        <p:spPr>
          <a:xfrm>
            <a:off x="502920" y="621792"/>
            <a:ext cx="10607040" cy="566928"/>
          </a:xfrm>
          <a:prstGeom prst="rect">
            <a:avLst/>
          </a:prstGeom>
          <a:noFill/>
          <a:ln/>
        </p:spPr>
        <p:txBody>
          <a:bodyPr wrap="square" rtlCol="0" anchor="ctr"/>
          <a:lstStyle/>
          <a:p>
            <a:pPr marL="0" indent="0">
              <a:lnSpc>
                <a:spcPts val="2900"/>
              </a:lnSpc>
              <a:buNone/>
            </a:pPr>
            <a:r>
              <a:rPr lang="en-US" sz="2500" b="1" dirty="0">
                <a:solidFill>
                  <a:srgbClr val="1E2A22"/>
                </a:solidFill>
                <a:latin typeface="Georgia" pitchFamily="34" charset="0"/>
                <a:ea typeface="Georgia" pitchFamily="34" charset="-122"/>
                <a:cs typeface="Georgia" pitchFamily="34" charset="-120"/>
              </a:rPr>
              <a:t>Profitability and Returns Comfortably Exceed the Cost of Capital</a:t>
            </a:r>
            <a:endParaRPr lang="en-US" sz="2500" dirty="0"/>
          </a:p>
        </p:txBody>
      </p:sp>
      <p:graphicFrame>
        <p:nvGraphicFramePr>
          <p:cNvPr id="4" name="Chart 0"/>
          <p:cNvGraphicFramePr/>
          <p:nvPr>
            <p:extLst>
              <p:ext uri="{D42A27DB-BD31-4B8C-83A1-F6EECF244321}">
                <p14:modId xmlns:p14="http://schemas.microsoft.com/office/powerpoint/2010/main" val="2527779000"/>
              </p:ext>
            </p:extLst>
          </p:nvPr>
        </p:nvGraphicFramePr>
        <p:xfrm>
          <a:off x="502920" y="1417320"/>
          <a:ext cx="7315200" cy="448056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8138160" y="1417320"/>
            <a:ext cx="3611880" cy="4343400"/>
          </a:xfrm>
          <a:prstGeom prst="rect">
            <a:avLst/>
          </a:prstGeom>
          <a:solidFill>
            <a:srgbClr val="EEF1EC"/>
          </a:solidFill>
          <a:ln/>
        </p:spPr>
      </p:sp>
      <p:sp>
        <p:nvSpPr>
          <p:cNvPr id="6" name="Text 3"/>
          <p:cNvSpPr/>
          <p:nvPr/>
        </p:nvSpPr>
        <p:spPr>
          <a:xfrm>
            <a:off x="8412480" y="1645920"/>
            <a:ext cx="3108960" cy="274320"/>
          </a:xfrm>
          <a:prstGeom prst="rect">
            <a:avLst/>
          </a:prstGeom>
          <a:noFill/>
          <a:ln/>
        </p:spPr>
        <p:txBody>
          <a:bodyPr wrap="square" rtlCol="0" anchor="ctr"/>
          <a:lstStyle/>
          <a:p>
            <a:pPr marL="0" indent="0">
              <a:buNone/>
            </a:pPr>
            <a:r>
              <a:rPr lang="en-US" sz="1050" b="1" kern="0" spc="150" dirty="0">
                <a:solidFill>
                  <a:srgbClr val="AA5A34"/>
                </a:solidFill>
                <a:latin typeface="Calibri" pitchFamily="34" charset="0"/>
                <a:ea typeface="Calibri" pitchFamily="34" charset="-122"/>
                <a:cs typeface="Calibri" pitchFamily="34" charset="-120"/>
              </a:rPr>
              <a:t>READING THE DIP</a:t>
            </a:r>
            <a:endParaRPr lang="en-US" sz="1050" dirty="0"/>
          </a:p>
        </p:txBody>
      </p:sp>
      <p:sp>
        <p:nvSpPr>
          <p:cNvPr id="7" name="Text 4"/>
          <p:cNvSpPr/>
          <p:nvPr/>
        </p:nvSpPr>
        <p:spPr>
          <a:xfrm>
            <a:off x="8412480" y="1965960"/>
            <a:ext cx="3108960" cy="1371600"/>
          </a:xfrm>
          <a:prstGeom prst="rect">
            <a:avLst/>
          </a:prstGeom>
          <a:noFill/>
          <a:ln/>
        </p:spPr>
        <p:txBody>
          <a:bodyPr wrap="square" rtlCol="0" anchor="ctr"/>
          <a:lstStyle/>
          <a:p>
            <a:pPr marL="0" indent="0">
              <a:lnSpc>
                <a:spcPts val="1450"/>
              </a:lnSpc>
              <a:buNone/>
            </a:pPr>
            <a:r>
              <a:rPr lang="en-US" sz="1080" dirty="0">
                <a:solidFill>
                  <a:srgbClr val="1E2A22"/>
                </a:solidFill>
                <a:latin typeface="Calibri" pitchFamily="34" charset="0"/>
                <a:ea typeface="Calibri" pitchFamily="34" charset="-122"/>
                <a:cs typeface="Calibri" pitchFamily="34" charset="-120"/>
              </a:rPr>
              <a:t>ROE and ROCE fell sharply after FY2021 because the GSK merger added a large equity and asset base — not because underlying profitability weakened.</a:t>
            </a:r>
            <a:endParaRPr lang="en-US" sz="1080" dirty="0"/>
          </a:p>
        </p:txBody>
      </p:sp>
      <p:sp>
        <p:nvSpPr>
          <p:cNvPr id="8" name="Shape 5"/>
          <p:cNvSpPr/>
          <p:nvPr/>
        </p:nvSpPr>
        <p:spPr>
          <a:xfrm>
            <a:off x="8412480" y="3383280"/>
            <a:ext cx="3108960" cy="0"/>
          </a:xfrm>
          <a:prstGeom prst="line">
            <a:avLst/>
          </a:prstGeom>
          <a:noFill/>
          <a:ln w="9525">
            <a:solidFill>
              <a:srgbClr val="CDD3CB"/>
            </a:solidFill>
            <a:prstDash val="solid"/>
          </a:ln>
        </p:spPr>
      </p:sp>
      <p:sp>
        <p:nvSpPr>
          <p:cNvPr id="9" name="Text 6"/>
          <p:cNvSpPr/>
          <p:nvPr/>
        </p:nvSpPr>
        <p:spPr>
          <a:xfrm>
            <a:off x="8412480" y="3566160"/>
            <a:ext cx="3108960" cy="1463040"/>
          </a:xfrm>
          <a:prstGeom prst="rect">
            <a:avLst/>
          </a:prstGeom>
          <a:noFill/>
          <a:ln/>
        </p:spPr>
        <p:txBody>
          <a:bodyPr wrap="square" rtlCol="0" anchor="ctr"/>
          <a:lstStyle/>
          <a:p>
            <a:pPr marL="0" indent="0">
              <a:lnSpc>
                <a:spcPts val="1450"/>
              </a:lnSpc>
              <a:buNone/>
            </a:pPr>
            <a:r>
              <a:rPr lang="en-US" sz="1080" dirty="0">
                <a:solidFill>
                  <a:srgbClr val="1E2A22"/>
                </a:solidFill>
                <a:latin typeface="Calibri" pitchFamily="34" charset="0"/>
                <a:ea typeface="Calibri" pitchFamily="34" charset="-122"/>
                <a:cs typeface="Calibri" pitchFamily="34" charset="-120"/>
              </a:rPr>
              <a:t>Both ratios have since rebuilt steadily to 30.6% and 38.0% respectively in FY2026, well above HUL's ~10.5% cost of capital — confirming continued value creation.</a:t>
            </a:r>
            <a:endParaRPr lang="en-US" sz="1080" dirty="0"/>
          </a:p>
        </p:txBody>
      </p:sp>
      <p:sp>
        <p:nvSpPr>
          <p:cNvPr id="10" name="Text 7"/>
          <p:cNvSpPr/>
          <p:nvPr/>
        </p:nvSpPr>
        <p:spPr>
          <a:xfrm>
            <a:off x="502920" y="5897880"/>
            <a:ext cx="7315200" cy="274320"/>
          </a:xfrm>
          <a:prstGeom prst="rect">
            <a:avLst/>
          </a:prstGeom>
          <a:noFill/>
          <a:ln/>
        </p:spPr>
        <p:txBody>
          <a:bodyPr wrap="square" rtlCol="0" anchor="ctr"/>
          <a:lstStyle/>
          <a:p>
            <a:pPr marL="0" indent="0">
              <a:buNone/>
            </a:pPr>
            <a:r>
              <a:rPr lang="en-US" sz="850" i="1" dirty="0">
                <a:solidFill>
                  <a:srgbClr val="5B6058"/>
                </a:solidFill>
                <a:latin typeface="Calibri" pitchFamily="34" charset="0"/>
                <a:ea typeface="Calibri" pitchFamily="34" charset="-122"/>
                <a:cs typeface="Calibri" pitchFamily="34" charset="-120"/>
              </a:rPr>
              <a:t>Fact — based on reported ratios. Interpretation — merger effect and value-creation read are analytical judgements.</a:t>
            </a:r>
            <a:endParaRPr lang="en-US" sz="850" dirty="0"/>
          </a:p>
        </p:txBody>
      </p:sp>
      <p:sp>
        <p:nvSpPr>
          <p:cNvPr id="12" name="Text 9"/>
          <p:cNvSpPr/>
          <p:nvPr/>
        </p:nvSpPr>
        <p:spPr>
          <a:xfrm>
            <a:off x="11231575" y="6473952"/>
            <a:ext cx="457200" cy="274320"/>
          </a:xfrm>
          <a:prstGeom prst="rect">
            <a:avLst/>
          </a:prstGeom>
          <a:noFill/>
          <a:ln/>
        </p:spPr>
        <p:txBody>
          <a:bodyPr wrap="square" rtlCol="0" anchor="ctr"/>
          <a:lstStyle/>
          <a:p>
            <a:pPr marL="0" indent="0" algn="r">
              <a:buNone/>
            </a:pPr>
            <a:r>
              <a:rPr lang="en-US" sz="850" dirty="0">
                <a:solidFill>
                  <a:srgbClr val="5B6058"/>
                </a:solidFill>
                <a:latin typeface="Calibri" pitchFamily="34" charset="0"/>
                <a:ea typeface="Calibri" pitchFamily="34" charset="-122"/>
                <a:cs typeface="Calibri" pitchFamily="34" charset="-120"/>
              </a:rPr>
              <a:t>4</a:t>
            </a:r>
            <a:endParaRPr lang="en-US" sz="8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65760"/>
            <a:ext cx="9144000" cy="256032"/>
          </a:xfrm>
          <a:prstGeom prst="rect">
            <a:avLst/>
          </a:prstGeom>
          <a:noFill/>
          <a:ln/>
        </p:spPr>
        <p:txBody>
          <a:bodyPr wrap="square" rtlCol="0" anchor="ctr"/>
          <a:lstStyle/>
          <a:p>
            <a:pPr marL="0" indent="0">
              <a:buNone/>
            </a:pPr>
            <a:r>
              <a:rPr lang="en-US" sz="1050" b="1" kern="0" spc="200" dirty="0">
                <a:solidFill>
                  <a:srgbClr val="AA5A34"/>
                </a:solidFill>
                <a:latin typeface="Calibri" pitchFamily="34" charset="0"/>
                <a:ea typeface="Calibri" pitchFamily="34" charset="-122"/>
                <a:cs typeface="Calibri" pitchFamily="34" charset="-120"/>
              </a:rPr>
              <a:t>RATIO ANALYSIS</a:t>
            </a:r>
            <a:endParaRPr lang="en-US" sz="1050" dirty="0"/>
          </a:p>
        </p:txBody>
      </p:sp>
      <p:sp>
        <p:nvSpPr>
          <p:cNvPr id="3" name="Text 1"/>
          <p:cNvSpPr/>
          <p:nvPr/>
        </p:nvSpPr>
        <p:spPr>
          <a:xfrm>
            <a:off x="502920" y="621792"/>
            <a:ext cx="10607040" cy="566928"/>
          </a:xfrm>
          <a:prstGeom prst="rect">
            <a:avLst/>
          </a:prstGeom>
          <a:noFill/>
          <a:ln/>
        </p:spPr>
        <p:txBody>
          <a:bodyPr wrap="square" rtlCol="0" anchor="ctr"/>
          <a:lstStyle/>
          <a:p>
            <a:pPr marL="0" indent="0">
              <a:lnSpc>
                <a:spcPts val="2900"/>
              </a:lnSpc>
              <a:buNone/>
            </a:pPr>
            <a:r>
              <a:rPr lang="en-US" sz="2500" b="1" dirty="0">
                <a:solidFill>
                  <a:srgbClr val="1E2A22"/>
                </a:solidFill>
                <a:latin typeface="Georgia" pitchFamily="34" charset="0"/>
                <a:ea typeface="Georgia" pitchFamily="34" charset="-122"/>
                <a:cs typeface="Georgia" pitchFamily="34" charset="-120"/>
              </a:rPr>
              <a:t>Working Capital Runs Negative by Design; Solvency Is Not a Concern</a:t>
            </a:r>
            <a:endParaRPr lang="en-US" sz="2500" dirty="0"/>
          </a:p>
        </p:txBody>
      </p:sp>
      <p:sp>
        <p:nvSpPr>
          <p:cNvPr id="4" name="Shape 2"/>
          <p:cNvSpPr/>
          <p:nvPr/>
        </p:nvSpPr>
        <p:spPr>
          <a:xfrm>
            <a:off x="502920" y="1508760"/>
            <a:ext cx="2679192" cy="4160520"/>
          </a:xfrm>
          <a:prstGeom prst="rect">
            <a:avLst/>
          </a:prstGeom>
          <a:solidFill>
            <a:srgbClr val="EEF1EC"/>
          </a:solidFill>
          <a:ln w="9525">
            <a:solidFill>
              <a:srgbClr val="CDD3CB"/>
            </a:solidFill>
            <a:prstDash val="solid"/>
          </a:ln>
        </p:spPr>
      </p:sp>
      <p:sp>
        <p:nvSpPr>
          <p:cNvPr id="5" name="Text 3"/>
          <p:cNvSpPr/>
          <p:nvPr/>
        </p:nvSpPr>
        <p:spPr>
          <a:xfrm>
            <a:off x="704088" y="1737360"/>
            <a:ext cx="2313432" cy="274320"/>
          </a:xfrm>
          <a:prstGeom prst="rect">
            <a:avLst/>
          </a:prstGeom>
          <a:noFill/>
          <a:ln/>
        </p:spPr>
        <p:txBody>
          <a:bodyPr wrap="square" rtlCol="0" anchor="ctr"/>
          <a:lstStyle/>
          <a:p>
            <a:pPr marL="0" indent="0">
              <a:buNone/>
            </a:pPr>
            <a:r>
              <a:rPr lang="en-US" sz="1050" b="1" kern="0" spc="150" dirty="0">
                <a:solidFill>
                  <a:srgbClr val="AA5A34"/>
                </a:solidFill>
                <a:latin typeface="Calibri" pitchFamily="34" charset="0"/>
                <a:ea typeface="Calibri" pitchFamily="34" charset="-122"/>
                <a:cs typeface="Calibri" pitchFamily="34" charset="-120"/>
              </a:rPr>
              <a:t>LIQUIDITY</a:t>
            </a:r>
            <a:endParaRPr lang="en-US" sz="1050" dirty="0"/>
          </a:p>
        </p:txBody>
      </p:sp>
      <p:sp>
        <p:nvSpPr>
          <p:cNvPr id="6" name="Text 4"/>
          <p:cNvSpPr/>
          <p:nvPr/>
        </p:nvSpPr>
        <p:spPr>
          <a:xfrm>
            <a:off x="704088" y="2057400"/>
            <a:ext cx="2313432" cy="594360"/>
          </a:xfrm>
          <a:prstGeom prst="rect">
            <a:avLst/>
          </a:prstGeom>
          <a:noFill/>
          <a:ln/>
        </p:spPr>
        <p:txBody>
          <a:bodyPr wrap="square" rtlCol="0" anchor="ctr"/>
          <a:lstStyle/>
          <a:p>
            <a:pPr marL="0" indent="0">
              <a:buNone/>
            </a:pPr>
            <a:r>
              <a:rPr lang="en-US" sz="3000" b="1" dirty="0">
                <a:solidFill>
                  <a:srgbClr val="1E2A22"/>
                </a:solidFill>
                <a:latin typeface="Georgia" pitchFamily="34" charset="0"/>
                <a:ea typeface="Georgia" pitchFamily="34" charset="-122"/>
                <a:cs typeface="Georgia" pitchFamily="34" charset="-120"/>
              </a:rPr>
              <a:t>0.58x</a:t>
            </a:r>
            <a:endParaRPr lang="en-US" sz="3000" dirty="0"/>
          </a:p>
        </p:txBody>
      </p:sp>
      <p:sp>
        <p:nvSpPr>
          <p:cNvPr id="7" name="Text 5"/>
          <p:cNvSpPr/>
          <p:nvPr/>
        </p:nvSpPr>
        <p:spPr>
          <a:xfrm>
            <a:off x="704088" y="2697480"/>
            <a:ext cx="2313432" cy="685800"/>
          </a:xfrm>
          <a:prstGeom prst="rect">
            <a:avLst/>
          </a:prstGeom>
          <a:noFill/>
          <a:ln/>
        </p:spPr>
        <p:txBody>
          <a:bodyPr wrap="square" rtlCol="0" anchor="ctr"/>
          <a:lstStyle/>
          <a:p>
            <a:pPr marL="0" indent="0">
              <a:lnSpc>
                <a:spcPts val="1250"/>
              </a:lnSpc>
              <a:buNone/>
            </a:pPr>
            <a:r>
              <a:rPr lang="en-US" sz="1150" dirty="0">
                <a:solidFill>
                  <a:srgbClr val="5B6058"/>
                </a:solidFill>
                <a:latin typeface="Calibri" pitchFamily="34" charset="0"/>
                <a:ea typeface="Calibri" pitchFamily="34" charset="-122"/>
                <a:cs typeface="Calibri" pitchFamily="34" charset="-120"/>
              </a:rPr>
              <a:t>Current ratio, FY2026 (down from 0.72x in FY2025)</a:t>
            </a:r>
            <a:endParaRPr lang="en-US" sz="1150" dirty="0"/>
          </a:p>
        </p:txBody>
      </p:sp>
      <p:sp>
        <p:nvSpPr>
          <p:cNvPr id="8" name="Shape 6"/>
          <p:cNvSpPr/>
          <p:nvPr/>
        </p:nvSpPr>
        <p:spPr>
          <a:xfrm>
            <a:off x="704088" y="3520440"/>
            <a:ext cx="2276856" cy="0"/>
          </a:xfrm>
          <a:prstGeom prst="line">
            <a:avLst/>
          </a:prstGeom>
          <a:noFill/>
          <a:ln w="9525">
            <a:solidFill>
              <a:srgbClr val="CDD3CB"/>
            </a:solidFill>
            <a:prstDash val="solid"/>
          </a:ln>
        </p:spPr>
      </p:sp>
      <p:sp>
        <p:nvSpPr>
          <p:cNvPr id="9" name="Text 7"/>
          <p:cNvSpPr/>
          <p:nvPr/>
        </p:nvSpPr>
        <p:spPr>
          <a:xfrm>
            <a:off x="704088" y="3657600"/>
            <a:ext cx="2313432" cy="1737360"/>
          </a:xfrm>
          <a:prstGeom prst="rect">
            <a:avLst/>
          </a:prstGeom>
          <a:noFill/>
          <a:ln/>
        </p:spPr>
        <p:txBody>
          <a:bodyPr wrap="square" rtlCol="0" anchor="ctr"/>
          <a:lstStyle/>
          <a:p>
            <a:pPr marL="0" indent="0">
              <a:lnSpc>
                <a:spcPts val="1400"/>
              </a:lnSpc>
              <a:buNone/>
            </a:pPr>
            <a:r>
              <a:rPr lang="en-US" sz="1150" i="1" dirty="0">
                <a:solidFill>
                  <a:srgbClr val="1E2A22"/>
                </a:solidFill>
                <a:latin typeface="Calibri" pitchFamily="34" charset="0"/>
                <a:ea typeface="Calibri" pitchFamily="34" charset="-122"/>
                <a:cs typeface="Calibri" pitchFamily="34" charset="-120"/>
              </a:rPr>
              <a:t>Below 1.0, but typical for FMCG — suppliers effectively finance the business.</a:t>
            </a:r>
            <a:endParaRPr lang="en-US" sz="1150" dirty="0"/>
          </a:p>
        </p:txBody>
      </p:sp>
      <p:sp>
        <p:nvSpPr>
          <p:cNvPr id="10" name="Shape 8"/>
          <p:cNvSpPr/>
          <p:nvPr/>
        </p:nvSpPr>
        <p:spPr>
          <a:xfrm>
            <a:off x="3364992" y="1508760"/>
            <a:ext cx="2679192" cy="4160520"/>
          </a:xfrm>
          <a:prstGeom prst="rect">
            <a:avLst/>
          </a:prstGeom>
          <a:solidFill>
            <a:srgbClr val="FFFFFF"/>
          </a:solidFill>
          <a:ln w="9525">
            <a:solidFill>
              <a:srgbClr val="CDD3CB"/>
            </a:solidFill>
            <a:prstDash val="solid"/>
          </a:ln>
        </p:spPr>
      </p:sp>
      <p:sp>
        <p:nvSpPr>
          <p:cNvPr id="11" name="Text 9"/>
          <p:cNvSpPr/>
          <p:nvPr/>
        </p:nvSpPr>
        <p:spPr>
          <a:xfrm>
            <a:off x="3566160" y="1737360"/>
            <a:ext cx="2313432" cy="274320"/>
          </a:xfrm>
          <a:prstGeom prst="rect">
            <a:avLst/>
          </a:prstGeom>
          <a:noFill/>
          <a:ln/>
        </p:spPr>
        <p:txBody>
          <a:bodyPr wrap="square" rtlCol="0" anchor="ctr"/>
          <a:lstStyle/>
          <a:p>
            <a:pPr marL="0" indent="0">
              <a:buNone/>
            </a:pPr>
            <a:r>
              <a:rPr lang="en-US" sz="1050" b="1" kern="0" spc="150" dirty="0">
                <a:solidFill>
                  <a:srgbClr val="AA5A34"/>
                </a:solidFill>
                <a:latin typeface="Calibri" pitchFamily="34" charset="0"/>
                <a:ea typeface="Calibri" pitchFamily="34" charset="-122"/>
                <a:cs typeface="Calibri" pitchFamily="34" charset="-120"/>
              </a:rPr>
              <a:t>EFFICIENCY</a:t>
            </a:r>
            <a:endParaRPr lang="en-US" sz="1050" dirty="0"/>
          </a:p>
        </p:txBody>
      </p:sp>
      <p:sp>
        <p:nvSpPr>
          <p:cNvPr id="12" name="Text 10"/>
          <p:cNvSpPr/>
          <p:nvPr/>
        </p:nvSpPr>
        <p:spPr>
          <a:xfrm>
            <a:off x="3566160" y="2057400"/>
            <a:ext cx="2313432" cy="594360"/>
          </a:xfrm>
          <a:prstGeom prst="rect">
            <a:avLst/>
          </a:prstGeom>
          <a:noFill/>
          <a:ln/>
        </p:spPr>
        <p:txBody>
          <a:bodyPr wrap="square" rtlCol="0" anchor="ctr"/>
          <a:lstStyle/>
          <a:p>
            <a:pPr marL="0" indent="0">
              <a:buNone/>
            </a:pPr>
            <a:r>
              <a:rPr lang="en-US" sz="3000" b="1" dirty="0">
                <a:solidFill>
                  <a:srgbClr val="1E2A22"/>
                </a:solidFill>
                <a:latin typeface="Georgia" pitchFamily="34" charset="0"/>
                <a:ea typeface="Georgia" pitchFamily="34" charset="-122"/>
                <a:cs typeface="Georgia" pitchFamily="34" charset="-120"/>
              </a:rPr>
              <a:t>17.9x</a:t>
            </a:r>
            <a:endParaRPr lang="en-US" sz="3000" dirty="0"/>
          </a:p>
        </p:txBody>
      </p:sp>
      <p:sp>
        <p:nvSpPr>
          <p:cNvPr id="13" name="Text 11"/>
          <p:cNvSpPr/>
          <p:nvPr/>
        </p:nvSpPr>
        <p:spPr>
          <a:xfrm>
            <a:off x="3566160" y="2697480"/>
            <a:ext cx="2313432" cy="685800"/>
          </a:xfrm>
          <a:prstGeom prst="rect">
            <a:avLst/>
          </a:prstGeom>
          <a:noFill/>
          <a:ln/>
        </p:spPr>
        <p:txBody>
          <a:bodyPr wrap="square" rtlCol="0" anchor="ctr"/>
          <a:lstStyle/>
          <a:p>
            <a:pPr marL="0" indent="0">
              <a:lnSpc>
                <a:spcPts val="1250"/>
              </a:lnSpc>
              <a:buNone/>
            </a:pPr>
            <a:r>
              <a:rPr lang="en-US" sz="1150" dirty="0">
                <a:solidFill>
                  <a:srgbClr val="5B6058"/>
                </a:solidFill>
                <a:latin typeface="Calibri" pitchFamily="34" charset="0"/>
                <a:ea typeface="Calibri" pitchFamily="34" charset="-122"/>
                <a:cs typeface="Calibri" pitchFamily="34" charset="-120"/>
              </a:rPr>
              <a:t>Debtors turnover, FY2026 (down from 30.6x in FY2017)</a:t>
            </a:r>
            <a:endParaRPr lang="en-US" sz="1150" dirty="0"/>
          </a:p>
        </p:txBody>
      </p:sp>
      <p:sp>
        <p:nvSpPr>
          <p:cNvPr id="14" name="Shape 12"/>
          <p:cNvSpPr/>
          <p:nvPr/>
        </p:nvSpPr>
        <p:spPr>
          <a:xfrm>
            <a:off x="3566160" y="3520440"/>
            <a:ext cx="2276856" cy="0"/>
          </a:xfrm>
          <a:prstGeom prst="line">
            <a:avLst/>
          </a:prstGeom>
          <a:noFill/>
          <a:ln w="9525">
            <a:solidFill>
              <a:srgbClr val="CDD3CB"/>
            </a:solidFill>
            <a:prstDash val="solid"/>
          </a:ln>
        </p:spPr>
      </p:sp>
      <p:sp>
        <p:nvSpPr>
          <p:cNvPr id="15" name="Text 13"/>
          <p:cNvSpPr/>
          <p:nvPr/>
        </p:nvSpPr>
        <p:spPr>
          <a:xfrm>
            <a:off x="3566160" y="3657600"/>
            <a:ext cx="2313432" cy="1737360"/>
          </a:xfrm>
          <a:prstGeom prst="rect">
            <a:avLst/>
          </a:prstGeom>
          <a:noFill/>
          <a:ln/>
        </p:spPr>
        <p:txBody>
          <a:bodyPr wrap="square" rtlCol="0" anchor="ctr"/>
          <a:lstStyle/>
          <a:p>
            <a:pPr marL="0" indent="0">
              <a:lnSpc>
                <a:spcPts val="1400"/>
              </a:lnSpc>
              <a:buNone/>
            </a:pPr>
            <a:r>
              <a:rPr lang="en-US" sz="1150" i="1" dirty="0">
                <a:solidFill>
                  <a:srgbClr val="1E2A22"/>
                </a:solidFill>
                <a:latin typeface="Calibri" pitchFamily="34" charset="0"/>
                <a:ea typeface="Calibri" pitchFamily="34" charset="-122"/>
                <a:cs typeface="Calibri" pitchFamily="34" charset="-120"/>
              </a:rPr>
              <a:t>Clearest area of weakness: collections have slowed, roughly 12 to 20 days.</a:t>
            </a:r>
            <a:endParaRPr lang="en-US" sz="1150" dirty="0"/>
          </a:p>
        </p:txBody>
      </p:sp>
      <p:sp>
        <p:nvSpPr>
          <p:cNvPr id="16" name="Shape 14"/>
          <p:cNvSpPr/>
          <p:nvPr/>
        </p:nvSpPr>
        <p:spPr>
          <a:xfrm>
            <a:off x="6227064" y="1508760"/>
            <a:ext cx="2679192" cy="4160520"/>
          </a:xfrm>
          <a:prstGeom prst="rect">
            <a:avLst/>
          </a:prstGeom>
          <a:solidFill>
            <a:srgbClr val="EEF1EC"/>
          </a:solidFill>
          <a:ln w="9525">
            <a:solidFill>
              <a:srgbClr val="CDD3CB"/>
            </a:solidFill>
            <a:prstDash val="solid"/>
          </a:ln>
        </p:spPr>
      </p:sp>
      <p:sp>
        <p:nvSpPr>
          <p:cNvPr id="17" name="Text 15"/>
          <p:cNvSpPr/>
          <p:nvPr/>
        </p:nvSpPr>
        <p:spPr>
          <a:xfrm>
            <a:off x="6428232" y="1737360"/>
            <a:ext cx="2313432" cy="274320"/>
          </a:xfrm>
          <a:prstGeom prst="rect">
            <a:avLst/>
          </a:prstGeom>
          <a:noFill/>
          <a:ln/>
        </p:spPr>
        <p:txBody>
          <a:bodyPr wrap="square" rtlCol="0" anchor="ctr"/>
          <a:lstStyle/>
          <a:p>
            <a:pPr marL="0" indent="0">
              <a:buNone/>
            </a:pPr>
            <a:r>
              <a:rPr lang="en-US" sz="1050" b="1" kern="0" spc="150" dirty="0">
                <a:solidFill>
                  <a:srgbClr val="AA5A34"/>
                </a:solidFill>
                <a:latin typeface="Calibri" pitchFamily="34" charset="0"/>
                <a:ea typeface="Calibri" pitchFamily="34" charset="-122"/>
                <a:cs typeface="Calibri" pitchFamily="34" charset="-120"/>
              </a:rPr>
              <a:t>SOLVENCY</a:t>
            </a:r>
            <a:endParaRPr lang="en-US" sz="1050" dirty="0"/>
          </a:p>
        </p:txBody>
      </p:sp>
      <p:sp>
        <p:nvSpPr>
          <p:cNvPr id="18" name="Text 16"/>
          <p:cNvSpPr/>
          <p:nvPr/>
        </p:nvSpPr>
        <p:spPr>
          <a:xfrm>
            <a:off x="6428232" y="2057400"/>
            <a:ext cx="2313432" cy="594360"/>
          </a:xfrm>
          <a:prstGeom prst="rect">
            <a:avLst/>
          </a:prstGeom>
          <a:noFill/>
          <a:ln/>
        </p:spPr>
        <p:txBody>
          <a:bodyPr wrap="square" rtlCol="0" anchor="ctr"/>
          <a:lstStyle/>
          <a:p>
            <a:pPr marL="0" indent="0">
              <a:buNone/>
            </a:pPr>
            <a:r>
              <a:rPr lang="en-US" sz="3000" b="1" dirty="0">
                <a:solidFill>
                  <a:srgbClr val="1E2A22"/>
                </a:solidFill>
                <a:latin typeface="Georgia" pitchFamily="34" charset="0"/>
                <a:ea typeface="Georgia" pitchFamily="34" charset="-122"/>
                <a:cs typeface="Georgia" pitchFamily="34" charset="-120"/>
              </a:rPr>
              <a:t>0.06x</a:t>
            </a:r>
            <a:endParaRPr lang="en-US" sz="3000" dirty="0"/>
          </a:p>
        </p:txBody>
      </p:sp>
      <p:sp>
        <p:nvSpPr>
          <p:cNvPr id="19" name="Text 17"/>
          <p:cNvSpPr/>
          <p:nvPr/>
        </p:nvSpPr>
        <p:spPr>
          <a:xfrm>
            <a:off x="6428232" y="2697480"/>
            <a:ext cx="2313432" cy="685800"/>
          </a:xfrm>
          <a:prstGeom prst="rect">
            <a:avLst/>
          </a:prstGeom>
          <a:noFill/>
          <a:ln/>
        </p:spPr>
        <p:txBody>
          <a:bodyPr wrap="square" rtlCol="0" anchor="ctr"/>
          <a:lstStyle/>
          <a:p>
            <a:pPr marL="0" indent="0">
              <a:lnSpc>
                <a:spcPts val="1250"/>
              </a:lnSpc>
              <a:buNone/>
            </a:pPr>
            <a:r>
              <a:rPr lang="en-US" sz="1150" dirty="0">
                <a:solidFill>
                  <a:srgbClr val="5B6058"/>
                </a:solidFill>
                <a:latin typeface="Calibri" pitchFamily="34" charset="0"/>
                <a:ea typeface="Calibri" pitchFamily="34" charset="-122"/>
                <a:cs typeface="Calibri" pitchFamily="34" charset="-120"/>
              </a:rPr>
              <a:t>Debt-to-equity, FY2026; interest cover 45.4x</a:t>
            </a:r>
            <a:endParaRPr lang="en-US" sz="1150" dirty="0"/>
          </a:p>
        </p:txBody>
      </p:sp>
      <p:sp>
        <p:nvSpPr>
          <p:cNvPr id="20" name="Shape 18"/>
          <p:cNvSpPr/>
          <p:nvPr/>
        </p:nvSpPr>
        <p:spPr>
          <a:xfrm>
            <a:off x="6428232" y="3520440"/>
            <a:ext cx="2276856" cy="0"/>
          </a:xfrm>
          <a:prstGeom prst="line">
            <a:avLst/>
          </a:prstGeom>
          <a:noFill/>
          <a:ln w="9525">
            <a:solidFill>
              <a:srgbClr val="CDD3CB"/>
            </a:solidFill>
            <a:prstDash val="solid"/>
          </a:ln>
        </p:spPr>
      </p:sp>
      <p:sp>
        <p:nvSpPr>
          <p:cNvPr id="21" name="Text 19"/>
          <p:cNvSpPr/>
          <p:nvPr/>
        </p:nvSpPr>
        <p:spPr>
          <a:xfrm>
            <a:off x="6428232" y="3657600"/>
            <a:ext cx="2313432" cy="1737360"/>
          </a:xfrm>
          <a:prstGeom prst="rect">
            <a:avLst/>
          </a:prstGeom>
          <a:noFill/>
          <a:ln/>
        </p:spPr>
        <p:txBody>
          <a:bodyPr wrap="square" rtlCol="0" anchor="ctr"/>
          <a:lstStyle/>
          <a:p>
            <a:pPr marL="0" indent="0">
              <a:lnSpc>
                <a:spcPts val="1400"/>
              </a:lnSpc>
              <a:buNone/>
            </a:pPr>
            <a:r>
              <a:rPr lang="en-US" sz="1150" i="1" dirty="0">
                <a:solidFill>
                  <a:srgbClr val="1E2A22"/>
                </a:solidFill>
                <a:latin typeface="Calibri" pitchFamily="34" charset="0"/>
                <a:ea typeface="Calibri" pitchFamily="34" charset="-122"/>
                <a:cs typeface="Calibri" pitchFamily="34" charset="-120"/>
              </a:rPr>
              <a:t>Virtually debt-free — substantial headroom for future capital allocation.</a:t>
            </a:r>
            <a:endParaRPr lang="en-US" sz="1150" dirty="0"/>
          </a:p>
        </p:txBody>
      </p:sp>
      <p:sp>
        <p:nvSpPr>
          <p:cNvPr id="22" name="Shape 20"/>
          <p:cNvSpPr/>
          <p:nvPr/>
        </p:nvSpPr>
        <p:spPr>
          <a:xfrm>
            <a:off x="9089136" y="1508760"/>
            <a:ext cx="2679192" cy="4160520"/>
          </a:xfrm>
          <a:prstGeom prst="rect">
            <a:avLst/>
          </a:prstGeom>
          <a:solidFill>
            <a:srgbClr val="FFFFFF"/>
          </a:solidFill>
          <a:ln w="9525">
            <a:solidFill>
              <a:srgbClr val="CDD3CB"/>
            </a:solidFill>
            <a:prstDash val="solid"/>
          </a:ln>
        </p:spPr>
      </p:sp>
      <p:sp>
        <p:nvSpPr>
          <p:cNvPr id="23" name="Text 21"/>
          <p:cNvSpPr/>
          <p:nvPr/>
        </p:nvSpPr>
        <p:spPr>
          <a:xfrm>
            <a:off x="9290304" y="1737360"/>
            <a:ext cx="2313432" cy="274320"/>
          </a:xfrm>
          <a:prstGeom prst="rect">
            <a:avLst/>
          </a:prstGeom>
          <a:noFill/>
          <a:ln/>
        </p:spPr>
        <p:txBody>
          <a:bodyPr wrap="square" rtlCol="0" anchor="ctr"/>
          <a:lstStyle/>
          <a:p>
            <a:pPr marL="0" indent="0">
              <a:buNone/>
            </a:pPr>
            <a:r>
              <a:rPr lang="en-US" sz="1050" b="1" kern="0" spc="150" dirty="0">
                <a:solidFill>
                  <a:srgbClr val="AA5A34"/>
                </a:solidFill>
                <a:latin typeface="Calibri" pitchFamily="34" charset="0"/>
                <a:ea typeface="Calibri" pitchFamily="34" charset="-122"/>
                <a:cs typeface="Calibri" pitchFamily="34" charset="-120"/>
              </a:rPr>
              <a:t>PAYOUT</a:t>
            </a:r>
            <a:endParaRPr lang="en-US" sz="1050" dirty="0"/>
          </a:p>
        </p:txBody>
      </p:sp>
      <p:sp>
        <p:nvSpPr>
          <p:cNvPr id="24" name="Text 22"/>
          <p:cNvSpPr/>
          <p:nvPr/>
        </p:nvSpPr>
        <p:spPr>
          <a:xfrm>
            <a:off x="9290304" y="2057400"/>
            <a:ext cx="2313432" cy="594360"/>
          </a:xfrm>
          <a:prstGeom prst="rect">
            <a:avLst/>
          </a:prstGeom>
          <a:noFill/>
          <a:ln/>
        </p:spPr>
        <p:txBody>
          <a:bodyPr wrap="square" rtlCol="0" anchor="ctr"/>
          <a:lstStyle/>
          <a:p>
            <a:pPr marL="0" indent="0">
              <a:buNone/>
            </a:pPr>
            <a:r>
              <a:rPr lang="en-US" sz="3000" b="1" dirty="0">
                <a:solidFill>
                  <a:srgbClr val="1E2A22"/>
                </a:solidFill>
                <a:latin typeface="Georgia" pitchFamily="34" charset="0"/>
                <a:ea typeface="Georgia" pitchFamily="34" charset="-122"/>
                <a:cs typeface="Georgia" pitchFamily="34" charset="-120"/>
              </a:rPr>
              <a:t>64.1%</a:t>
            </a:r>
            <a:endParaRPr lang="en-US" sz="3000" dirty="0"/>
          </a:p>
        </p:txBody>
      </p:sp>
      <p:sp>
        <p:nvSpPr>
          <p:cNvPr id="25" name="Text 23"/>
          <p:cNvSpPr/>
          <p:nvPr/>
        </p:nvSpPr>
        <p:spPr>
          <a:xfrm>
            <a:off x="9290304" y="2697480"/>
            <a:ext cx="2313432" cy="685800"/>
          </a:xfrm>
          <a:prstGeom prst="rect">
            <a:avLst/>
          </a:prstGeom>
          <a:noFill/>
          <a:ln/>
        </p:spPr>
        <p:txBody>
          <a:bodyPr wrap="square" rtlCol="0" anchor="ctr"/>
          <a:lstStyle/>
          <a:p>
            <a:pPr marL="0" indent="0">
              <a:lnSpc>
                <a:spcPts val="1250"/>
              </a:lnSpc>
              <a:buNone/>
            </a:pPr>
            <a:r>
              <a:rPr lang="en-US" sz="1150" dirty="0">
                <a:solidFill>
                  <a:srgbClr val="5B6058"/>
                </a:solidFill>
                <a:latin typeface="Calibri" pitchFamily="34" charset="0"/>
                <a:ea typeface="Calibri" pitchFamily="34" charset="-122"/>
                <a:cs typeface="Calibri" pitchFamily="34" charset="-120"/>
              </a:rPr>
              <a:t>Dividend payout ratio, FY2026</a:t>
            </a:r>
            <a:endParaRPr lang="en-US" sz="1150" dirty="0"/>
          </a:p>
        </p:txBody>
      </p:sp>
      <p:sp>
        <p:nvSpPr>
          <p:cNvPr id="26" name="Shape 24"/>
          <p:cNvSpPr/>
          <p:nvPr/>
        </p:nvSpPr>
        <p:spPr>
          <a:xfrm>
            <a:off x="9290304" y="3520440"/>
            <a:ext cx="2276856" cy="0"/>
          </a:xfrm>
          <a:prstGeom prst="line">
            <a:avLst/>
          </a:prstGeom>
          <a:noFill/>
          <a:ln w="9525">
            <a:solidFill>
              <a:srgbClr val="CDD3CB"/>
            </a:solidFill>
            <a:prstDash val="solid"/>
          </a:ln>
        </p:spPr>
      </p:sp>
      <p:sp>
        <p:nvSpPr>
          <p:cNvPr id="27" name="Text 25"/>
          <p:cNvSpPr/>
          <p:nvPr/>
        </p:nvSpPr>
        <p:spPr>
          <a:xfrm>
            <a:off x="9290304" y="3657600"/>
            <a:ext cx="2313432" cy="1737360"/>
          </a:xfrm>
          <a:prstGeom prst="rect">
            <a:avLst/>
          </a:prstGeom>
          <a:noFill/>
          <a:ln/>
        </p:spPr>
        <p:txBody>
          <a:bodyPr wrap="square" rtlCol="0" anchor="ctr"/>
          <a:lstStyle/>
          <a:p>
            <a:pPr marL="0" indent="0">
              <a:lnSpc>
                <a:spcPts val="1400"/>
              </a:lnSpc>
              <a:buNone/>
            </a:pPr>
            <a:r>
              <a:rPr lang="en-US" sz="1150" i="1" dirty="0">
                <a:solidFill>
                  <a:srgbClr val="1E2A22"/>
                </a:solidFill>
                <a:latin typeface="Calibri" pitchFamily="34" charset="0"/>
                <a:ea typeface="Calibri" pitchFamily="34" charset="-122"/>
                <a:cs typeface="Calibri" pitchFamily="34" charset="-120"/>
              </a:rPr>
              <a:t>Consistently distributes the bulk of earnings; limited reinvestment need.</a:t>
            </a:r>
            <a:endParaRPr lang="en-US" sz="1150" dirty="0"/>
          </a:p>
        </p:txBody>
      </p:sp>
      <p:sp>
        <p:nvSpPr>
          <p:cNvPr id="28" name="Text 26"/>
          <p:cNvSpPr/>
          <p:nvPr/>
        </p:nvSpPr>
        <p:spPr>
          <a:xfrm>
            <a:off x="502920" y="5897880"/>
            <a:ext cx="8229600" cy="274320"/>
          </a:xfrm>
          <a:prstGeom prst="rect">
            <a:avLst/>
          </a:prstGeom>
          <a:noFill/>
          <a:ln/>
        </p:spPr>
        <p:txBody>
          <a:bodyPr wrap="square" rtlCol="0" anchor="ctr"/>
          <a:lstStyle/>
          <a:p>
            <a:pPr marL="0" indent="0">
              <a:buNone/>
            </a:pPr>
            <a:r>
              <a:rPr lang="en-US" sz="850" i="1" dirty="0">
                <a:solidFill>
                  <a:srgbClr val="5B6058"/>
                </a:solidFill>
                <a:latin typeface="Calibri" pitchFamily="34" charset="0"/>
                <a:ea typeface="Calibri" pitchFamily="34" charset="-122"/>
                <a:cs typeface="Calibri" pitchFamily="34" charset="-120"/>
              </a:rPr>
              <a:t>All figures for FY2026 unless noted; source: Ratio Analysis worksheet, Group_8.xlsx.</a:t>
            </a:r>
            <a:endParaRPr lang="en-US" sz="850" dirty="0"/>
          </a:p>
        </p:txBody>
      </p:sp>
      <p:sp>
        <p:nvSpPr>
          <p:cNvPr id="30" name="Text 28"/>
          <p:cNvSpPr/>
          <p:nvPr/>
        </p:nvSpPr>
        <p:spPr>
          <a:xfrm>
            <a:off x="11231575" y="6473952"/>
            <a:ext cx="457200" cy="274320"/>
          </a:xfrm>
          <a:prstGeom prst="rect">
            <a:avLst/>
          </a:prstGeom>
          <a:noFill/>
          <a:ln/>
        </p:spPr>
        <p:txBody>
          <a:bodyPr wrap="square" rtlCol="0" anchor="ctr"/>
          <a:lstStyle/>
          <a:p>
            <a:pPr marL="0" indent="0" algn="r">
              <a:buNone/>
            </a:pPr>
            <a:r>
              <a:rPr lang="en-US" sz="850" dirty="0">
                <a:solidFill>
                  <a:srgbClr val="5B6058"/>
                </a:solidFill>
                <a:latin typeface="Calibri" pitchFamily="34" charset="0"/>
                <a:ea typeface="Calibri" pitchFamily="34" charset="-122"/>
                <a:cs typeface="Calibri" pitchFamily="34" charset="-120"/>
              </a:rPr>
              <a:t>5</a:t>
            </a:r>
            <a:endParaRPr lang="en-US" sz="8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65760"/>
            <a:ext cx="9144000" cy="256032"/>
          </a:xfrm>
          <a:prstGeom prst="rect">
            <a:avLst/>
          </a:prstGeom>
          <a:noFill/>
          <a:ln/>
        </p:spPr>
        <p:txBody>
          <a:bodyPr wrap="square" rtlCol="0" anchor="ctr"/>
          <a:lstStyle/>
          <a:p>
            <a:pPr marL="0" indent="0">
              <a:buNone/>
            </a:pPr>
            <a:r>
              <a:rPr lang="en-US" sz="1050" b="1" kern="0" spc="200" dirty="0">
                <a:solidFill>
                  <a:srgbClr val="AA5A34"/>
                </a:solidFill>
                <a:latin typeface="Calibri" pitchFamily="34" charset="0"/>
                <a:ea typeface="Calibri" pitchFamily="34" charset="-122"/>
                <a:cs typeface="Calibri" pitchFamily="34" charset="-120"/>
              </a:rPr>
              <a:t>RATIO ANALYSIS</a:t>
            </a:r>
            <a:endParaRPr lang="en-US" sz="1050" dirty="0"/>
          </a:p>
        </p:txBody>
      </p:sp>
      <p:sp>
        <p:nvSpPr>
          <p:cNvPr id="3" name="Text 1"/>
          <p:cNvSpPr/>
          <p:nvPr/>
        </p:nvSpPr>
        <p:spPr>
          <a:xfrm>
            <a:off x="502920" y="621792"/>
            <a:ext cx="10607040" cy="566928"/>
          </a:xfrm>
          <a:prstGeom prst="rect">
            <a:avLst/>
          </a:prstGeom>
          <a:noFill/>
          <a:ln/>
        </p:spPr>
        <p:txBody>
          <a:bodyPr wrap="square" rtlCol="0" anchor="ctr"/>
          <a:lstStyle/>
          <a:p>
            <a:pPr marL="0" indent="0">
              <a:lnSpc>
                <a:spcPts val="2500"/>
              </a:lnSpc>
              <a:buNone/>
            </a:pPr>
            <a:r>
              <a:rPr lang="en-US" sz="2100" b="1" dirty="0">
                <a:solidFill>
                  <a:srgbClr val="1E2A22"/>
                </a:solidFill>
                <a:latin typeface="Georgia" pitchFamily="34" charset="0"/>
                <a:ea typeface="Georgia" pitchFamily="34" charset="-122"/>
                <a:cs typeface="Georgia" pitchFamily="34" charset="-120"/>
              </a:rPr>
              <a:t>Four Ratio Categories and the DuPont ROE Bridge, FY2023–FY2026</a:t>
            </a:r>
            <a:endParaRPr lang="en-US" sz="2100" dirty="0"/>
          </a:p>
        </p:txBody>
      </p:sp>
      <p:sp>
        <p:nvSpPr>
          <p:cNvPr id="4" name="Shape 2"/>
          <p:cNvSpPr/>
          <p:nvPr/>
        </p:nvSpPr>
        <p:spPr>
          <a:xfrm>
            <a:off x="502920" y="1417320"/>
            <a:ext cx="5349240" cy="1481328"/>
          </a:xfrm>
          <a:prstGeom prst="rect">
            <a:avLst/>
          </a:prstGeom>
          <a:solidFill>
            <a:srgbClr val="FFFFFF"/>
          </a:solidFill>
          <a:ln w="9525">
            <a:solidFill>
              <a:srgbClr val="CDD3CB"/>
            </a:solidFill>
            <a:prstDash val="solid"/>
          </a:ln>
        </p:spPr>
      </p:sp>
      <p:sp>
        <p:nvSpPr>
          <p:cNvPr id="5" name="Text 3"/>
          <p:cNvSpPr/>
          <p:nvPr/>
        </p:nvSpPr>
        <p:spPr>
          <a:xfrm>
            <a:off x="649224" y="1499616"/>
            <a:ext cx="2743200" cy="219456"/>
          </a:xfrm>
          <a:prstGeom prst="rect">
            <a:avLst/>
          </a:prstGeom>
          <a:noFill/>
          <a:ln/>
        </p:spPr>
        <p:txBody>
          <a:bodyPr wrap="square" rtlCol="0" anchor="ctr"/>
          <a:lstStyle/>
          <a:p>
            <a:pPr marL="0" indent="0">
              <a:buNone/>
            </a:pPr>
            <a:r>
              <a:rPr lang="en-US" sz="1000" b="1" kern="0" spc="150" dirty="0">
                <a:solidFill>
                  <a:srgbClr val="AA5A34"/>
                </a:solidFill>
                <a:latin typeface="Calibri" pitchFamily="34" charset="0"/>
                <a:ea typeface="Calibri" pitchFamily="34" charset="-122"/>
                <a:cs typeface="Calibri" pitchFamily="34" charset="-120"/>
              </a:rPr>
              <a:t>LIQUIDITY</a:t>
            </a:r>
            <a:endParaRPr lang="en-US" sz="1000" dirty="0"/>
          </a:p>
        </p:txBody>
      </p:sp>
      <p:graphicFrame>
        <p:nvGraphicFramePr>
          <p:cNvPr id="8" name="Table 0"/>
          <p:cNvGraphicFramePr>
            <a:graphicFrameLocks noGrp="1"/>
          </p:cNvGraphicFramePr>
          <p:nvPr>
            <p:extLst>
              <p:ext uri="{D42A27DB-BD31-4B8C-83A1-F6EECF244321}">
                <p14:modId xmlns:p14="http://schemas.microsoft.com/office/powerpoint/2010/main" val="3528697577"/>
              </p:ext>
            </p:extLst>
          </p:nvPr>
        </p:nvGraphicFramePr>
        <p:xfrm>
          <a:off x="649224" y="1737360"/>
          <a:ext cx="5056632" cy="658368"/>
        </p:xfrm>
        <a:graphic>
          <a:graphicData uri="http://schemas.openxmlformats.org/drawingml/2006/table">
            <a:tbl>
              <a:tblPr/>
              <a:tblGrid>
                <a:gridCol w="1691640">
                  <a:extLst>
                    <a:ext uri="{9D8B030D-6E8A-4147-A177-3AD203B41FA5}">
                      <a16:colId xmlns:a16="http://schemas.microsoft.com/office/drawing/2014/main" val="20000"/>
                    </a:ext>
                  </a:extLst>
                </a:gridCol>
                <a:gridCol w="841248">
                  <a:extLst>
                    <a:ext uri="{9D8B030D-6E8A-4147-A177-3AD203B41FA5}">
                      <a16:colId xmlns:a16="http://schemas.microsoft.com/office/drawing/2014/main" val="20001"/>
                    </a:ext>
                  </a:extLst>
                </a:gridCol>
                <a:gridCol w="841248">
                  <a:extLst>
                    <a:ext uri="{9D8B030D-6E8A-4147-A177-3AD203B41FA5}">
                      <a16:colId xmlns:a16="http://schemas.microsoft.com/office/drawing/2014/main" val="20002"/>
                    </a:ext>
                  </a:extLst>
                </a:gridCol>
                <a:gridCol w="841248">
                  <a:extLst>
                    <a:ext uri="{9D8B030D-6E8A-4147-A177-3AD203B41FA5}">
                      <a16:colId xmlns:a16="http://schemas.microsoft.com/office/drawing/2014/main" val="20003"/>
                    </a:ext>
                  </a:extLst>
                </a:gridCol>
                <a:gridCol w="841248">
                  <a:extLst>
                    <a:ext uri="{9D8B030D-6E8A-4147-A177-3AD203B41FA5}">
                      <a16:colId xmlns:a16="http://schemas.microsoft.com/office/drawing/2014/main" val="20004"/>
                    </a:ext>
                  </a:extLst>
                </a:gridCol>
              </a:tblGrid>
              <a:tr h="219456">
                <a:tc>
                  <a:txBody>
                    <a:bodyPr/>
                    <a:lstStyle/>
                    <a:p>
                      <a:pPr marL="0" indent="0" algn="l">
                        <a:buNone/>
                      </a:pPr>
                      <a:endParaRPr lang="en-US" sz="1100" dirty="0">
                        <a:latin typeface="Calibri" charset="0"/>
                        <a:ea typeface="Calibri" charset="0"/>
                        <a:cs typeface="Calibri" charset="0"/>
                      </a:endParaRPr>
                    </a:p>
                  </a:txBody>
                  <a:tcPr marL="50800" marR="50800" marT="12700" marB="12700" anchor="ctr">
                    <a:lnL w="0" cap="flat" cmpd="sng" algn="ctr">
                      <a:noFill/>
                    </a:lnL>
                    <a:lnR w="0" cap="flat" cmpd="sng" algn="ctr">
                      <a:noFill/>
                    </a:lnR>
                    <a:lnT w="0" cap="flat" cmpd="sng" algn="ctr">
                      <a:noFill/>
                    </a:lnT>
                    <a:lnB w="0" cap="flat" cmpd="sng" algn="ctr">
                      <a:noFill/>
                    </a:lnB>
                    <a:solidFill>
                      <a:srgbClr val="EEF1EC"/>
                    </a:solidFill>
                  </a:tcPr>
                </a:tc>
                <a:tc>
                  <a:txBody>
                    <a:bodyPr/>
                    <a:lstStyle/>
                    <a:p>
                      <a:pPr marL="0" indent="0" algn="r">
                        <a:buNone/>
                      </a:pPr>
                      <a:r>
                        <a:rPr lang="en-US" sz="1100" b="1" dirty="0">
                          <a:solidFill>
                            <a:srgbClr val="5B6058"/>
                          </a:solidFill>
                          <a:latin typeface="Calibri" pitchFamily="34" charset="0"/>
                          <a:ea typeface="Calibri" pitchFamily="34" charset="-122"/>
                          <a:cs typeface="Calibri" pitchFamily="34" charset="-120"/>
                        </a:rPr>
                        <a:t>FY23</a:t>
                      </a:r>
                      <a:endParaRPr lang="en-US" sz="1100" dirty="0">
                        <a:latin typeface="Calibri" charset="0"/>
                        <a:ea typeface="Calibri" charset="0"/>
                        <a:cs typeface="Calibri" charset="0"/>
                      </a:endParaRPr>
                    </a:p>
                  </a:txBody>
                  <a:tcPr marL="50800" marR="50800" marT="12700" marB="12700" anchor="ctr">
                    <a:lnL w="0" cap="flat" cmpd="sng" algn="ctr">
                      <a:noFill/>
                    </a:lnL>
                    <a:lnR w="0" cap="flat" cmpd="sng" algn="ctr">
                      <a:noFill/>
                    </a:lnR>
                    <a:lnT w="0" cap="flat" cmpd="sng" algn="ctr">
                      <a:noFill/>
                    </a:lnT>
                    <a:lnB w="0" cap="flat" cmpd="sng" algn="ctr">
                      <a:noFill/>
                    </a:lnB>
                    <a:solidFill>
                      <a:srgbClr val="EEF1EC"/>
                    </a:solidFill>
                  </a:tcPr>
                </a:tc>
                <a:tc>
                  <a:txBody>
                    <a:bodyPr/>
                    <a:lstStyle/>
                    <a:p>
                      <a:pPr marL="0" indent="0" algn="r">
                        <a:buNone/>
                      </a:pPr>
                      <a:r>
                        <a:rPr lang="en-US" sz="1100" b="1" dirty="0">
                          <a:solidFill>
                            <a:srgbClr val="5B6058"/>
                          </a:solidFill>
                          <a:latin typeface="Calibri" pitchFamily="34" charset="0"/>
                          <a:ea typeface="Calibri" pitchFamily="34" charset="-122"/>
                          <a:cs typeface="Calibri" pitchFamily="34" charset="-120"/>
                        </a:rPr>
                        <a:t>FY24</a:t>
                      </a:r>
                      <a:endParaRPr lang="en-US" sz="1100" dirty="0">
                        <a:latin typeface="Calibri" charset="0"/>
                        <a:ea typeface="Calibri" charset="0"/>
                        <a:cs typeface="Calibri" charset="0"/>
                      </a:endParaRPr>
                    </a:p>
                  </a:txBody>
                  <a:tcPr marL="50800" marR="50800" marT="12700" marB="12700" anchor="ctr">
                    <a:lnL w="0" cap="flat" cmpd="sng" algn="ctr">
                      <a:noFill/>
                    </a:lnL>
                    <a:lnR w="0" cap="flat" cmpd="sng" algn="ctr">
                      <a:noFill/>
                    </a:lnR>
                    <a:lnT w="0" cap="flat" cmpd="sng" algn="ctr">
                      <a:noFill/>
                    </a:lnT>
                    <a:lnB w="0" cap="flat" cmpd="sng" algn="ctr">
                      <a:noFill/>
                    </a:lnB>
                    <a:solidFill>
                      <a:srgbClr val="EEF1EC"/>
                    </a:solidFill>
                  </a:tcPr>
                </a:tc>
                <a:tc>
                  <a:txBody>
                    <a:bodyPr/>
                    <a:lstStyle/>
                    <a:p>
                      <a:pPr marL="0" indent="0" algn="r">
                        <a:buNone/>
                      </a:pPr>
                      <a:r>
                        <a:rPr lang="en-US" sz="1100" b="1" dirty="0">
                          <a:solidFill>
                            <a:srgbClr val="5B6058"/>
                          </a:solidFill>
                          <a:latin typeface="Calibri" pitchFamily="34" charset="0"/>
                          <a:ea typeface="Calibri" pitchFamily="34" charset="-122"/>
                          <a:cs typeface="Calibri" pitchFamily="34" charset="-120"/>
                        </a:rPr>
                        <a:t>FY25</a:t>
                      </a:r>
                      <a:endParaRPr lang="en-US" sz="1100" dirty="0">
                        <a:latin typeface="Calibri" charset="0"/>
                        <a:ea typeface="Calibri" charset="0"/>
                        <a:cs typeface="Calibri" charset="0"/>
                      </a:endParaRPr>
                    </a:p>
                  </a:txBody>
                  <a:tcPr marL="50800" marR="50800" marT="12700" marB="12700" anchor="ctr">
                    <a:lnL w="0" cap="flat" cmpd="sng" algn="ctr">
                      <a:noFill/>
                    </a:lnL>
                    <a:lnR w="0" cap="flat" cmpd="sng" algn="ctr">
                      <a:noFill/>
                    </a:lnR>
                    <a:lnT w="0" cap="flat" cmpd="sng" algn="ctr">
                      <a:noFill/>
                    </a:lnT>
                    <a:lnB w="0" cap="flat" cmpd="sng" algn="ctr">
                      <a:noFill/>
                    </a:lnB>
                    <a:solidFill>
                      <a:srgbClr val="EEF1EC"/>
                    </a:solidFill>
                  </a:tcPr>
                </a:tc>
                <a:tc>
                  <a:txBody>
                    <a:bodyPr/>
                    <a:lstStyle/>
                    <a:p>
                      <a:pPr marL="0" indent="0" algn="r">
                        <a:buNone/>
                      </a:pPr>
                      <a:r>
                        <a:rPr lang="en-US" sz="1100" b="1" dirty="0">
                          <a:solidFill>
                            <a:srgbClr val="5B6058"/>
                          </a:solidFill>
                          <a:latin typeface="Calibri" pitchFamily="34" charset="0"/>
                          <a:ea typeface="Calibri" pitchFamily="34" charset="-122"/>
                          <a:cs typeface="Calibri" pitchFamily="34" charset="-120"/>
                        </a:rPr>
                        <a:t>FY26</a:t>
                      </a:r>
                      <a:endParaRPr lang="en-US" sz="1100" dirty="0">
                        <a:latin typeface="Calibri" charset="0"/>
                        <a:ea typeface="Calibri" charset="0"/>
                        <a:cs typeface="Calibri" charset="0"/>
                      </a:endParaRPr>
                    </a:p>
                  </a:txBody>
                  <a:tcPr marL="50800" marR="50800" marT="12700" marB="12700" anchor="ctr">
                    <a:lnL w="0" cap="flat" cmpd="sng" algn="ctr">
                      <a:noFill/>
                    </a:lnL>
                    <a:lnR w="0" cap="flat" cmpd="sng" algn="ctr">
                      <a:noFill/>
                    </a:lnR>
                    <a:lnT w="0" cap="flat" cmpd="sng" algn="ctr">
                      <a:noFill/>
                    </a:lnT>
                    <a:lnB w="0" cap="flat" cmpd="sng" algn="ctr">
                      <a:noFill/>
                    </a:lnB>
                    <a:solidFill>
                      <a:srgbClr val="EEF1EC"/>
                    </a:solidFill>
                  </a:tcPr>
                </a:tc>
                <a:extLst>
                  <a:ext uri="{0D108BD9-81ED-4DB2-BD59-A6C34878D82A}">
                    <a16:rowId xmlns:a16="http://schemas.microsoft.com/office/drawing/2014/main" val="10000"/>
                  </a:ext>
                </a:extLst>
              </a:tr>
              <a:tr h="219456">
                <a:tc>
                  <a:txBody>
                    <a:bodyPr/>
                    <a:lstStyle/>
                    <a:p>
                      <a:pPr marL="0" indent="0" algn="l">
                        <a:buNone/>
                      </a:pPr>
                      <a:r>
                        <a:rPr lang="en-US" sz="1100" dirty="0">
                          <a:solidFill>
                            <a:srgbClr val="1E2A22"/>
                          </a:solidFill>
                          <a:latin typeface="Calibri" pitchFamily="34" charset="0"/>
                          <a:ea typeface="Calibri" pitchFamily="34" charset="-122"/>
                          <a:cs typeface="Calibri" pitchFamily="34" charset="-120"/>
                        </a:rPr>
                        <a:t>Current ratio</a:t>
                      </a:r>
                      <a:endParaRPr lang="en-US" sz="1100" dirty="0">
                        <a:latin typeface="Calibri" charset="0"/>
                        <a:ea typeface="Calibri" charset="0"/>
                        <a:cs typeface="Calibri" charset="0"/>
                      </a:endParaRPr>
                    </a:p>
                  </a:txBody>
                  <a:tcPr marL="50800" marR="50800" marT="12700" marB="127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r">
                        <a:buNone/>
                      </a:pPr>
                      <a:r>
                        <a:rPr lang="en-US" sz="1100" dirty="0">
                          <a:solidFill>
                            <a:srgbClr val="1E2A22"/>
                          </a:solidFill>
                          <a:latin typeface="Calibri" pitchFamily="34" charset="0"/>
                          <a:ea typeface="Calibri" pitchFamily="34" charset="-122"/>
                          <a:cs typeface="Calibri" pitchFamily="34" charset="-120"/>
                        </a:rPr>
                        <a:t>0.76x</a:t>
                      </a:r>
                      <a:endParaRPr lang="en-US" sz="1100" dirty="0">
                        <a:latin typeface="Calibri" charset="0"/>
                        <a:ea typeface="Calibri" charset="0"/>
                        <a:cs typeface="Calibri" charset="0"/>
                      </a:endParaRPr>
                    </a:p>
                  </a:txBody>
                  <a:tcPr marL="50800" marR="50800" marT="12700" marB="127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r">
                        <a:buNone/>
                      </a:pPr>
                      <a:r>
                        <a:rPr lang="en-US" sz="1100" dirty="0">
                          <a:solidFill>
                            <a:srgbClr val="1E2A22"/>
                          </a:solidFill>
                          <a:latin typeface="Calibri" pitchFamily="34" charset="0"/>
                          <a:ea typeface="Calibri" pitchFamily="34" charset="-122"/>
                          <a:cs typeface="Calibri" pitchFamily="34" charset="-120"/>
                        </a:rPr>
                        <a:t>0.74x</a:t>
                      </a:r>
                      <a:endParaRPr lang="en-US" sz="1100" dirty="0">
                        <a:latin typeface="Calibri" charset="0"/>
                        <a:ea typeface="Calibri" charset="0"/>
                        <a:cs typeface="Calibri" charset="0"/>
                      </a:endParaRPr>
                    </a:p>
                  </a:txBody>
                  <a:tcPr marL="50800" marR="50800" marT="12700" marB="127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r">
                        <a:buNone/>
                      </a:pPr>
                      <a:r>
                        <a:rPr lang="en-US" sz="1100" dirty="0">
                          <a:solidFill>
                            <a:srgbClr val="1E2A22"/>
                          </a:solidFill>
                          <a:latin typeface="Calibri" pitchFamily="34" charset="0"/>
                          <a:ea typeface="Calibri" pitchFamily="34" charset="-122"/>
                          <a:cs typeface="Calibri" pitchFamily="34" charset="-120"/>
                        </a:rPr>
                        <a:t>0.72x</a:t>
                      </a:r>
                      <a:endParaRPr lang="en-US" sz="1100" dirty="0">
                        <a:latin typeface="Calibri" charset="0"/>
                        <a:ea typeface="Calibri" charset="0"/>
                        <a:cs typeface="Calibri" charset="0"/>
                      </a:endParaRPr>
                    </a:p>
                  </a:txBody>
                  <a:tcPr marL="50800" marR="50800" marT="12700" marB="127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r">
                        <a:buNone/>
                      </a:pPr>
                      <a:r>
                        <a:rPr lang="en-US" sz="1100" dirty="0">
                          <a:solidFill>
                            <a:srgbClr val="1E2A22"/>
                          </a:solidFill>
                          <a:latin typeface="Calibri" pitchFamily="34" charset="0"/>
                          <a:ea typeface="Calibri" pitchFamily="34" charset="-122"/>
                          <a:cs typeface="Calibri" pitchFamily="34" charset="-120"/>
                        </a:rPr>
                        <a:t>0.58x</a:t>
                      </a:r>
                      <a:endParaRPr lang="en-US" sz="1100" dirty="0">
                        <a:latin typeface="Calibri" charset="0"/>
                        <a:ea typeface="Calibri" charset="0"/>
                        <a:cs typeface="Calibri" charset="0"/>
                      </a:endParaRPr>
                    </a:p>
                  </a:txBody>
                  <a:tcPr marL="50800" marR="50800" marT="12700" marB="12700"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1"/>
                  </a:ext>
                </a:extLst>
              </a:tr>
              <a:tr h="219456">
                <a:tc>
                  <a:txBody>
                    <a:bodyPr/>
                    <a:lstStyle/>
                    <a:p>
                      <a:pPr marL="0" indent="0" algn="l">
                        <a:buNone/>
                      </a:pPr>
                      <a:r>
                        <a:rPr lang="en-US" sz="1100" dirty="0">
                          <a:solidFill>
                            <a:srgbClr val="1E2A22"/>
                          </a:solidFill>
                          <a:latin typeface="Calibri" pitchFamily="34" charset="0"/>
                          <a:ea typeface="Calibri" pitchFamily="34" charset="-122"/>
                          <a:cs typeface="Calibri" pitchFamily="34" charset="-120"/>
                        </a:rPr>
                        <a:t>Quick ratio</a:t>
                      </a:r>
                      <a:endParaRPr lang="en-US" sz="1100" dirty="0">
                        <a:latin typeface="Calibri" charset="0"/>
                        <a:ea typeface="Calibri" charset="0"/>
                        <a:cs typeface="Calibri" charset="0"/>
                      </a:endParaRPr>
                    </a:p>
                  </a:txBody>
                  <a:tcPr marL="50800" marR="50800" marT="12700" marB="12700" anchor="ctr">
                    <a:lnL w="0" cap="flat" cmpd="sng" algn="ctr">
                      <a:noFill/>
                    </a:lnL>
                    <a:lnR w="0" cap="flat" cmpd="sng" algn="ctr">
                      <a:noFill/>
                    </a:lnR>
                    <a:lnT w="0" cap="flat" cmpd="sng" algn="ctr">
                      <a:noFill/>
                    </a:lnT>
                    <a:lnB w="0" cap="flat" cmpd="sng" algn="ctr">
                      <a:noFill/>
                    </a:lnB>
                    <a:solidFill>
                      <a:srgbClr val="E4E8E1"/>
                    </a:solidFill>
                  </a:tcPr>
                </a:tc>
                <a:tc>
                  <a:txBody>
                    <a:bodyPr/>
                    <a:lstStyle/>
                    <a:p>
                      <a:pPr marL="0" indent="0" algn="r">
                        <a:buNone/>
                      </a:pPr>
                      <a:r>
                        <a:rPr lang="en-US" sz="1100" dirty="0">
                          <a:solidFill>
                            <a:srgbClr val="1E2A22"/>
                          </a:solidFill>
                          <a:latin typeface="Calibri" pitchFamily="34" charset="0"/>
                          <a:ea typeface="Calibri" pitchFamily="34" charset="-122"/>
                          <a:cs typeface="Calibri" pitchFamily="34" charset="-120"/>
                        </a:rPr>
                        <a:t>0.56x</a:t>
                      </a:r>
                      <a:endParaRPr lang="en-US" sz="1100" dirty="0">
                        <a:latin typeface="Calibri" charset="0"/>
                        <a:ea typeface="Calibri" charset="0"/>
                        <a:cs typeface="Calibri" charset="0"/>
                      </a:endParaRPr>
                    </a:p>
                  </a:txBody>
                  <a:tcPr marL="50800" marR="50800" marT="12700" marB="12700" anchor="ctr">
                    <a:lnL w="0" cap="flat" cmpd="sng" algn="ctr">
                      <a:noFill/>
                    </a:lnL>
                    <a:lnR w="0" cap="flat" cmpd="sng" algn="ctr">
                      <a:noFill/>
                    </a:lnR>
                    <a:lnT w="0" cap="flat" cmpd="sng" algn="ctr">
                      <a:noFill/>
                    </a:lnT>
                    <a:lnB w="0" cap="flat" cmpd="sng" algn="ctr">
                      <a:noFill/>
                    </a:lnB>
                    <a:solidFill>
                      <a:srgbClr val="E4E8E1"/>
                    </a:solidFill>
                  </a:tcPr>
                </a:tc>
                <a:tc>
                  <a:txBody>
                    <a:bodyPr/>
                    <a:lstStyle/>
                    <a:p>
                      <a:pPr marL="0" indent="0" algn="r">
                        <a:buNone/>
                      </a:pPr>
                      <a:r>
                        <a:rPr lang="en-US" sz="1100" dirty="0">
                          <a:solidFill>
                            <a:srgbClr val="1E2A22"/>
                          </a:solidFill>
                          <a:latin typeface="Calibri" pitchFamily="34" charset="0"/>
                          <a:ea typeface="Calibri" pitchFamily="34" charset="-122"/>
                          <a:cs typeface="Calibri" pitchFamily="34" charset="-120"/>
                        </a:rPr>
                        <a:t>0.58x</a:t>
                      </a:r>
                      <a:endParaRPr lang="en-US" sz="1100" dirty="0">
                        <a:latin typeface="Calibri" charset="0"/>
                        <a:ea typeface="Calibri" charset="0"/>
                        <a:cs typeface="Calibri" charset="0"/>
                      </a:endParaRPr>
                    </a:p>
                  </a:txBody>
                  <a:tcPr marL="50800" marR="50800" marT="12700" marB="12700" anchor="ctr">
                    <a:lnL w="0" cap="flat" cmpd="sng" algn="ctr">
                      <a:noFill/>
                    </a:lnL>
                    <a:lnR w="0" cap="flat" cmpd="sng" algn="ctr">
                      <a:noFill/>
                    </a:lnR>
                    <a:lnT w="0" cap="flat" cmpd="sng" algn="ctr">
                      <a:noFill/>
                    </a:lnT>
                    <a:lnB w="0" cap="flat" cmpd="sng" algn="ctr">
                      <a:noFill/>
                    </a:lnB>
                    <a:solidFill>
                      <a:srgbClr val="E4E8E1"/>
                    </a:solidFill>
                  </a:tcPr>
                </a:tc>
                <a:tc>
                  <a:txBody>
                    <a:bodyPr/>
                    <a:lstStyle/>
                    <a:p>
                      <a:pPr marL="0" indent="0" algn="r">
                        <a:buNone/>
                      </a:pPr>
                      <a:r>
                        <a:rPr lang="en-US" sz="1100" dirty="0">
                          <a:solidFill>
                            <a:srgbClr val="1E2A22"/>
                          </a:solidFill>
                          <a:latin typeface="Calibri" pitchFamily="34" charset="0"/>
                          <a:ea typeface="Calibri" pitchFamily="34" charset="-122"/>
                          <a:cs typeface="Calibri" pitchFamily="34" charset="-120"/>
                        </a:rPr>
                        <a:t>0.57x</a:t>
                      </a:r>
                      <a:endParaRPr lang="en-US" sz="1100" dirty="0">
                        <a:latin typeface="Calibri" charset="0"/>
                        <a:ea typeface="Calibri" charset="0"/>
                        <a:cs typeface="Calibri" charset="0"/>
                      </a:endParaRPr>
                    </a:p>
                  </a:txBody>
                  <a:tcPr marL="50800" marR="50800" marT="12700" marB="12700" anchor="ctr">
                    <a:lnL w="0" cap="flat" cmpd="sng" algn="ctr">
                      <a:noFill/>
                    </a:lnL>
                    <a:lnR w="0" cap="flat" cmpd="sng" algn="ctr">
                      <a:noFill/>
                    </a:lnR>
                    <a:lnT w="0" cap="flat" cmpd="sng" algn="ctr">
                      <a:noFill/>
                    </a:lnT>
                    <a:lnB w="0" cap="flat" cmpd="sng" algn="ctr">
                      <a:noFill/>
                    </a:lnB>
                    <a:solidFill>
                      <a:srgbClr val="E4E8E1"/>
                    </a:solidFill>
                  </a:tcPr>
                </a:tc>
                <a:tc>
                  <a:txBody>
                    <a:bodyPr/>
                    <a:lstStyle/>
                    <a:p>
                      <a:pPr marL="0" indent="0" algn="r">
                        <a:buNone/>
                      </a:pPr>
                      <a:r>
                        <a:rPr lang="en-US" sz="1100" dirty="0">
                          <a:solidFill>
                            <a:srgbClr val="1E2A22"/>
                          </a:solidFill>
                          <a:latin typeface="Calibri" pitchFamily="34" charset="0"/>
                          <a:ea typeface="Calibri" pitchFamily="34" charset="-122"/>
                          <a:cs typeface="Calibri" pitchFamily="34" charset="-120"/>
                        </a:rPr>
                        <a:t>0.42x</a:t>
                      </a:r>
                      <a:endParaRPr lang="en-US" sz="1100" dirty="0">
                        <a:latin typeface="Calibri" charset="0"/>
                        <a:ea typeface="Calibri" charset="0"/>
                        <a:cs typeface="Calibri" charset="0"/>
                      </a:endParaRPr>
                    </a:p>
                  </a:txBody>
                  <a:tcPr marL="50800" marR="50800" marT="12700" marB="12700" anchor="ctr">
                    <a:lnL w="0" cap="flat" cmpd="sng" algn="ctr">
                      <a:noFill/>
                    </a:lnL>
                    <a:lnR w="0" cap="flat" cmpd="sng" algn="ctr">
                      <a:noFill/>
                    </a:lnR>
                    <a:lnT w="0" cap="flat" cmpd="sng" algn="ctr">
                      <a:noFill/>
                    </a:lnT>
                    <a:lnB w="0" cap="flat" cmpd="sng" algn="ctr">
                      <a:noFill/>
                    </a:lnB>
                    <a:solidFill>
                      <a:srgbClr val="E4E8E1"/>
                    </a:solidFill>
                  </a:tcPr>
                </a:tc>
                <a:extLst>
                  <a:ext uri="{0D108BD9-81ED-4DB2-BD59-A6C34878D82A}">
                    <a16:rowId xmlns:a16="http://schemas.microsoft.com/office/drawing/2014/main" val="10002"/>
                  </a:ext>
                </a:extLst>
              </a:tr>
            </a:tbl>
          </a:graphicData>
        </a:graphic>
      </p:graphicFrame>
      <p:sp>
        <p:nvSpPr>
          <p:cNvPr id="7" name="Text 4"/>
          <p:cNvSpPr/>
          <p:nvPr/>
        </p:nvSpPr>
        <p:spPr>
          <a:xfrm>
            <a:off x="649224" y="2450592"/>
            <a:ext cx="5056632" cy="384048"/>
          </a:xfrm>
          <a:prstGeom prst="rect">
            <a:avLst/>
          </a:prstGeom>
          <a:noFill/>
          <a:ln/>
        </p:spPr>
        <p:txBody>
          <a:bodyPr wrap="square" rtlCol="0" anchor="ctr"/>
          <a:lstStyle/>
          <a:p>
            <a:pPr marL="0" indent="0">
              <a:lnSpc>
                <a:spcPts val="1100"/>
              </a:lnSpc>
              <a:buNone/>
            </a:pPr>
            <a:r>
              <a:rPr lang="en-US" sz="880" i="1" dirty="0">
                <a:solidFill>
                  <a:srgbClr val="5B6058"/>
                </a:solidFill>
                <a:latin typeface="Calibri" pitchFamily="34" charset="0"/>
                <a:ea typeface="Calibri" pitchFamily="34" charset="-122"/>
                <a:cs typeface="Calibri" pitchFamily="34" charset="-120"/>
              </a:rPr>
              <a:t>Sub-1.0x by design — suppliers effectively finance the business.</a:t>
            </a:r>
            <a:endParaRPr lang="en-US" sz="880" dirty="0"/>
          </a:p>
        </p:txBody>
      </p:sp>
      <p:sp>
        <p:nvSpPr>
          <p:cNvPr id="6" name="Shape 5"/>
          <p:cNvSpPr/>
          <p:nvPr/>
        </p:nvSpPr>
        <p:spPr>
          <a:xfrm>
            <a:off x="502920" y="3017520"/>
            <a:ext cx="5349240" cy="1481328"/>
          </a:xfrm>
          <a:prstGeom prst="rect">
            <a:avLst/>
          </a:prstGeom>
          <a:solidFill>
            <a:srgbClr val="FFFFFF"/>
          </a:solidFill>
          <a:ln w="9525">
            <a:solidFill>
              <a:srgbClr val="CDD3CB"/>
            </a:solidFill>
            <a:prstDash val="solid"/>
          </a:ln>
        </p:spPr>
      </p:sp>
      <p:sp>
        <p:nvSpPr>
          <p:cNvPr id="9" name="Text 6"/>
          <p:cNvSpPr/>
          <p:nvPr/>
        </p:nvSpPr>
        <p:spPr>
          <a:xfrm>
            <a:off x="649224" y="3099816"/>
            <a:ext cx="2743200" cy="219456"/>
          </a:xfrm>
          <a:prstGeom prst="rect">
            <a:avLst/>
          </a:prstGeom>
          <a:noFill/>
          <a:ln/>
        </p:spPr>
        <p:txBody>
          <a:bodyPr wrap="square" rtlCol="0" anchor="ctr"/>
          <a:lstStyle/>
          <a:p>
            <a:pPr marL="0" indent="0">
              <a:buNone/>
            </a:pPr>
            <a:r>
              <a:rPr lang="en-US" sz="1000" b="1" kern="0" spc="150" dirty="0">
                <a:solidFill>
                  <a:srgbClr val="AA5A34"/>
                </a:solidFill>
                <a:latin typeface="Calibri" pitchFamily="34" charset="0"/>
                <a:ea typeface="Calibri" pitchFamily="34" charset="-122"/>
                <a:cs typeface="Calibri" pitchFamily="34" charset="-120"/>
              </a:rPr>
              <a:t>EFFICIENCY</a:t>
            </a:r>
            <a:endParaRPr lang="en-US" sz="1000" dirty="0"/>
          </a:p>
        </p:txBody>
      </p:sp>
      <p:graphicFrame>
        <p:nvGraphicFramePr>
          <p:cNvPr id="15" name="Table 1"/>
          <p:cNvGraphicFramePr>
            <a:graphicFrameLocks noGrp="1"/>
          </p:cNvGraphicFramePr>
          <p:nvPr>
            <p:extLst>
              <p:ext uri="{D42A27DB-BD31-4B8C-83A1-F6EECF244321}">
                <p14:modId xmlns:p14="http://schemas.microsoft.com/office/powerpoint/2010/main" val="209945080"/>
              </p:ext>
            </p:extLst>
          </p:nvPr>
        </p:nvGraphicFramePr>
        <p:xfrm>
          <a:off x="649224" y="3337560"/>
          <a:ext cx="5056632" cy="658368"/>
        </p:xfrm>
        <a:graphic>
          <a:graphicData uri="http://schemas.openxmlformats.org/drawingml/2006/table">
            <a:tbl>
              <a:tblPr/>
              <a:tblGrid>
                <a:gridCol w="1691640">
                  <a:extLst>
                    <a:ext uri="{9D8B030D-6E8A-4147-A177-3AD203B41FA5}">
                      <a16:colId xmlns:a16="http://schemas.microsoft.com/office/drawing/2014/main" val="20000"/>
                    </a:ext>
                  </a:extLst>
                </a:gridCol>
                <a:gridCol w="841248">
                  <a:extLst>
                    <a:ext uri="{9D8B030D-6E8A-4147-A177-3AD203B41FA5}">
                      <a16:colId xmlns:a16="http://schemas.microsoft.com/office/drawing/2014/main" val="20001"/>
                    </a:ext>
                  </a:extLst>
                </a:gridCol>
                <a:gridCol w="841248">
                  <a:extLst>
                    <a:ext uri="{9D8B030D-6E8A-4147-A177-3AD203B41FA5}">
                      <a16:colId xmlns:a16="http://schemas.microsoft.com/office/drawing/2014/main" val="20002"/>
                    </a:ext>
                  </a:extLst>
                </a:gridCol>
                <a:gridCol w="841248">
                  <a:extLst>
                    <a:ext uri="{9D8B030D-6E8A-4147-A177-3AD203B41FA5}">
                      <a16:colId xmlns:a16="http://schemas.microsoft.com/office/drawing/2014/main" val="20003"/>
                    </a:ext>
                  </a:extLst>
                </a:gridCol>
                <a:gridCol w="841248">
                  <a:extLst>
                    <a:ext uri="{9D8B030D-6E8A-4147-A177-3AD203B41FA5}">
                      <a16:colId xmlns:a16="http://schemas.microsoft.com/office/drawing/2014/main" val="20004"/>
                    </a:ext>
                  </a:extLst>
                </a:gridCol>
              </a:tblGrid>
              <a:tr h="219456">
                <a:tc>
                  <a:txBody>
                    <a:bodyPr/>
                    <a:lstStyle/>
                    <a:p>
                      <a:pPr marL="0" indent="0" algn="l">
                        <a:buNone/>
                      </a:pPr>
                      <a:endParaRPr lang="en-US" sz="1100" dirty="0">
                        <a:latin typeface="Calibri" charset="0"/>
                        <a:ea typeface="Calibri" charset="0"/>
                        <a:cs typeface="Calibri" charset="0"/>
                      </a:endParaRPr>
                    </a:p>
                  </a:txBody>
                  <a:tcPr marL="50800" marR="50800" marT="12700" marB="12700" anchor="ctr">
                    <a:lnL w="0" cap="flat" cmpd="sng" algn="ctr">
                      <a:noFill/>
                    </a:lnL>
                    <a:lnR w="0" cap="flat" cmpd="sng" algn="ctr">
                      <a:noFill/>
                    </a:lnR>
                    <a:lnT w="0" cap="flat" cmpd="sng" algn="ctr">
                      <a:noFill/>
                    </a:lnT>
                    <a:lnB w="0" cap="flat" cmpd="sng" algn="ctr">
                      <a:noFill/>
                    </a:lnB>
                    <a:solidFill>
                      <a:srgbClr val="EEF1EC"/>
                    </a:solidFill>
                  </a:tcPr>
                </a:tc>
                <a:tc>
                  <a:txBody>
                    <a:bodyPr/>
                    <a:lstStyle/>
                    <a:p>
                      <a:pPr marL="0" indent="0" algn="r">
                        <a:buNone/>
                      </a:pPr>
                      <a:r>
                        <a:rPr lang="en-US" sz="1100" b="1" dirty="0">
                          <a:solidFill>
                            <a:srgbClr val="5B6058"/>
                          </a:solidFill>
                          <a:latin typeface="Calibri" pitchFamily="34" charset="0"/>
                          <a:ea typeface="Calibri" pitchFamily="34" charset="-122"/>
                          <a:cs typeface="Calibri" pitchFamily="34" charset="-120"/>
                        </a:rPr>
                        <a:t>FY23</a:t>
                      </a:r>
                      <a:endParaRPr lang="en-US" sz="1100" dirty="0">
                        <a:latin typeface="Calibri" charset="0"/>
                        <a:ea typeface="Calibri" charset="0"/>
                        <a:cs typeface="Calibri" charset="0"/>
                      </a:endParaRPr>
                    </a:p>
                  </a:txBody>
                  <a:tcPr marL="50800" marR="50800" marT="12700" marB="12700" anchor="ctr">
                    <a:lnL w="0" cap="flat" cmpd="sng" algn="ctr">
                      <a:noFill/>
                    </a:lnL>
                    <a:lnR w="0" cap="flat" cmpd="sng" algn="ctr">
                      <a:noFill/>
                    </a:lnR>
                    <a:lnT w="0" cap="flat" cmpd="sng" algn="ctr">
                      <a:noFill/>
                    </a:lnT>
                    <a:lnB w="0" cap="flat" cmpd="sng" algn="ctr">
                      <a:noFill/>
                    </a:lnB>
                    <a:solidFill>
                      <a:srgbClr val="EEF1EC"/>
                    </a:solidFill>
                  </a:tcPr>
                </a:tc>
                <a:tc>
                  <a:txBody>
                    <a:bodyPr/>
                    <a:lstStyle/>
                    <a:p>
                      <a:pPr marL="0" indent="0" algn="r">
                        <a:buNone/>
                      </a:pPr>
                      <a:r>
                        <a:rPr lang="en-US" sz="1100" b="1" dirty="0">
                          <a:solidFill>
                            <a:srgbClr val="5B6058"/>
                          </a:solidFill>
                          <a:latin typeface="Calibri" pitchFamily="34" charset="0"/>
                          <a:ea typeface="Calibri" pitchFamily="34" charset="-122"/>
                          <a:cs typeface="Calibri" pitchFamily="34" charset="-120"/>
                        </a:rPr>
                        <a:t>FY24</a:t>
                      </a:r>
                      <a:endParaRPr lang="en-US" sz="1100" dirty="0">
                        <a:latin typeface="Calibri" charset="0"/>
                        <a:ea typeface="Calibri" charset="0"/>
                        <a:cs typeface="Calibri" charset="0"/>
                      </a:endParaRPr>
                    </a:p>
                  </a:txBody>
                  <a:tcPr marL="50800" marR="50800" marT="12700" marB="12700" anchor="ctr">
                    <a:lnL w="0" cap="flat" cmpd="sng" algn="ctr">
                      <a:noFill/>
                    </a:lnL>
                    <a:lnR w="0" cap="flat" cmpd="sng" algn="ctr">
                      <a:noFill/>
                    </a:lnR>
                    <a:lnT w="0" cap="flat" cmpd="sng" algn="ctr">
                      <a:noFill/>
                    </a:lnT>
                    <a:lnB w="0" cap="flat" cmpd="sng" algn="ctr">
                      <a:noFill/>
                    </a:lnB>
                    <a:solidFill>
                      <a:srgbClr val="EEF1EC"/>
                    </a:solidFill>
                  </a:tcPr>
                </a:tc>
                <a:tc>
                  <a:txBody>
                    <a:bodyPr/>
                    <a:lstStyle/>
                    <a:p>
                      <a:pPr marL="0" indent="0" algn="r">
                        <a:buNone/>
                      </a:pPr>
                      <a:r>
                        <a:rPr lang="en-US" sz="1100" b="1" dirty="0">
                          <a:solidFill>
                            <a:srgbClr val="5B6058"/>
                          </a:solidFill>
                          <a:latin typeface="Calibri" pitchFamily="34" charset="0"/>
                          <a:ea typeface="Calibri" pitchFamily="34" charset="-122"/>
                          <a:cs typeface="Calibri" pitchFamily="34" charset="-120"/>
                        </a:rPr>
                        <a:t>FY25</a:t>
                      </a:r>
                      <a:endParaRPr lang="en-US" sz="1100" dirty="0">
                        <a:latin typeface="Calibri" charset="0"/>
                        <a:ea typeface="Calibri" charset="0"/>
                        <a:cs typeface="Calibri" charset="0"/>
                      </a:endParaRPr>
                    </a:p>
                  </a:txBody>
                  <a:tcPr marL="50800" marR="50800" marT="12700" marB="12700" anchor="ctr">
                    <a:lnL w="0" cap="flat" cmpd="sng" algn="ctr">
                      <a:noFill/>
                    </a:lnL>
                    <a:lnR w="0" cap="flat" cmpd="sng" algn="ctr">
                      <a:noFill/>
                    </a:lnR>
                    <a:lnT w="0" cap="flat" cmpd="sng" algn="ctr">
                      <a:noFill/>
                    </a:lnT>
                    <a:lnB w="0" cap="flat" cmpd="sng" algn="ctr">
                      <a:noFill/>
                    </a:lnB>
                    <a:solidFill>
                      <a:srgbClr val="EEF1EC"/>
                    </a:solidFill>
                  </a:tcPr>
                </a:tc>
                <a:tc>
                  <a:txBody>
                    <a:bodyPr/>
                    <a:lstStyle/>
                    <a:p>
                      <a:pPr marL="0" indent="0" algn="r">
                        <a:buNone/>
                      </a:pPr>
                      <a:r>
                        <a:rPr lang="en-US" sz="1100" b="1" dirty="0">
                          <a:solidFill>
                            <a:srgbClr val="5B6058"/>
                          </a:solidFill>
                          <a:latin typeface="Calibri" pitchFamily="34" charset="0"/>
                          <a:ea typeface="Calibri" pitchFamily="34" charset="-122"/>
                          <a:cs typeface="Calibri" pitchFamily="34" charset="-120"/>
                        </a:rPr>
                        <a:t>FY26</a:t>
                      </a:r>
                      <a:endParaRPr lang="en-US" sz="1100" dirty="0">
                        <a:latin typeface="Calibri" charset="0"/>
                        <a:ea typeface="Calibri" charset="0"/>
                        <a:cs typeface="Calibri" charset="0"/>
                      </a:endParaRPr>
                    </a:p>
                  </a:txBody>
                  <a:tcPr marL="50800" marR="50800" marT="12700" marB="12700" anchor="ctr">
                    <a:lnL w="0" cap="flat" cmpd="sng" algn="ctr">
                      <a:noFill/>
                    </a:lnL>
                    <a:lnR w="0" cap="flat" cmpd="sng" algn="ctr">
                      <a:noFill/>
                    </a:lnR>
                    <a:lnT w="0" cap="flat" cmpd="sng" algn="ctr">
                      <a:noFill/>
                    </a:lnT>
                    <a:lnB w="0" cap="flat" cmpd="sng" algn="ctr">
                      <a:noFill/>
                    </a:lnB>
                    <a:solidFill>
                      <a:srgbClr val="EEF1EC"/>
                    </a:solidFill>
                  </a:tcPr>
                </a:tc>
                <a:extLst>
                  <a:ext uri="{0D108BD9-81ED-4DB2-BD59-A6C34878D82A}">
                    <a16:rowId xmlns:a16="http://schemas.microsoft.com/office/drawing/2014/main" val="10000"/>
                  </a:ext>
                </a:extLst>
              </a:tr>
              <a:tr h="219456">
                <a:tc>
                  <a:txBody>
                    <a:bodyPr/>
                    <a:lstStyle/>
                    <a:p>
                      <a:pPr marL="0" indent="0" algn="l">
                        <a:buNone/>
                      </a:pPr>
                      <a:r>
                        <a:rPr lang="en-US" sz="1100" dirty="0">
                          <a:solidFill>
                            <a:srgbClr val="1E2A22"/>
                          </a:solidFill>
                          <a:latin typeface="Calibri" pitchFamily="34" charset="0"/>
                          <a:ea typeface="Calibri" pitchFamily="34" charset="-122"/>
                          <a:cs typeface="Calibri" pitchFamily="34" charset="-120"/>
                        </a:rPr>
                        <a:t>Inventory turnover</a:t>
                      </a:r>
                      <a:endParaRPr lang="en-US" sz="1100" dirty="0">
                        <a:latin typeface="Calibri" charset="0"/>
                        <a:ea typeface="Calibri" charset="0"/>
                        <a:cs typeface="Calibri" charset="0"/>
                      </a:endParaRPr>
                    </a:p>
                  </a:txBody>
                  <a:tcPr marL="50800" marR="50800" marT="12700" marB="127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r">
                        <a:buNone/>
                      </a:pPr>
                      <a:r>
                        <a:rPr lang="en-US" sz="1100" dirty="0">
                          <a:solidFill>
                            <a:srgbClr val="1E2A22"/>
                          </a:solidFill>
                          <a:latin typeface="Calibri" pitchFamily="34" charset="0"/>
                          <a:ea typeface="Calibri" pitchFamily="34" charset="-122"/>
                          <a:cs typeface="Calibri" pitchFamily="34" charset="-120"/>
                        </a:rPr>
                        <a:t>7.8x</a:t>
                      </a:r>
                      <a:endParaRPr lang="en-US" sz="1100" dirty="0">
                        <a:latin typeface="Calibri" charset="0"/>
                        <a:ea typeface="Calibri" charset="0"/>
                        <a:cs typeface="Calibri" charset="0"/>
                      </a:endParaRPr>
                    </a:p>
                  </a:txBody>
                  <a:tcPr marL="50800" marR="50800" marT="12700" marB="127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r">
                        <a:buNone/>
                      </a:pPr>
                      <a:r>
                        <a:rPr lang="en-US" sz="1100" dirty="0">
                          <a:solidFill>
                            <a:srgbClr val="1E2A22"/>
                          </a:solidFill>
                          <a:latin typeface="Calibri" pitchFamily="34" charset="0"/>
                          <a:ea typeface="Calibri" pitchFamily="34" charset="-122"/>
                          <a:cs typeface="Calibri" pitchFamily="34" charset="-120"/>
                        </a:rPr>
                        <a:t>7.4x</a:t>
                      </a:r>
                      <a:endParaRPr lang="en-US" sz="1100" dirty="0">
                        <a:latin typeface="Calibri" charset="0"/>
                        <a:ea typeface="Calibri" charset="0"/>
                        <a:cs typeface="Calibri" charset="0"/>
                      </a:endParaRPr>
                    </a:p>
                  </a:txBody>
                  <a:tcPr marL="50800" marR="50800" marT="12700" marB="127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r">
                        <a:buNone/>
                      </a:pPr>
                      <a:r>
                        <a:rPr lang="en-US" sz="1100" dirty="0">
                          <a:solidFill>
                            <a:srgbClr val="1E2A22"/>
                          </a:solidFill>
                          <a:latin typeface="Calibri" pitchFamily="34" charset="0"/>
                          <a:ea typeface="Calibri" pitchFamily="34" charset="-122"/>
                          <a:cs typeface="Calibri" pitchFamily="34" charset="-120"/>
                        </a:rPr>
                        <a:t>7.3x</a:t>
                      </a:r>
                      <a:endParaRPr lang="en-US" sz="1100" dirty="0">
                        <a:latin typeface="Calibri" charset="0"/>
                        <a:ea typeface="Calibri" charset="0"/>
                        <a:cs typeface="Calibri" charset="0"/>
                      </a:endParaRPr>
                    </a:p>
                  </a:txBody>
                  <a:tcPr marL="50800" marR="50800" marT="12700" marB="127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r">
                        <a:buNone/>
                      </a:pPr>
                      <a:r>
                        <a:rPr lang="en-US" sz="1100" dirty="0">
                          <a:solidFill>
                            <a:srgbClr val="1E2A22"/>
                          </a:solidFill>
                          <a:latin typeface="Calibri" pitchFamily="34" charset="0"/>
                          <a:ea typeface="Calibri" pitchFamily="34" charset="-122"/>
                          <a:cs typeface="Calibri" pitchFamily="34" charset="-120"/>
                        </a:rPr>
                        <a:t>7.2x</a:t>
                      </a:r>
                      <a:endParaRPr lang="en-US" sz="1100" dirty="0">
                        <a:latin typeface="Calibri" charset="0"/>
                        <a:ea typeface="Calibri" charset="0"/>
                        <a:cs typeface="Calibri" charset="0"/>
                      </a:endParaRPr>
                    </a:p>
                  </a:txBody>
                  <a:tcPr marL="50800" marR="50800" marT="12700" marB="12700"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1"/>
                  </a:ext>
                </a:extLst>
              </a:tr>
              <a:tr h="219456">
                <a:tc>
                  <a:txBody>
                    <a:bodyPr/>
                    <a:lstStyle/>
                    <a:p>
                      <a:pPr marL="0" indent="0" algn="l">
                        <a:buNone/>
                      </a:pPr>
                      <a:r>
                        <a:rPr lang="en-US" sz="1100" dirty="0">
                          <a:solidFill>
                            <a:srgbClr val="1E2A22"/>
                          </a:solidFill>
                          <a:latin typeface="Calibri" pitchFamily="34" charset="0"/>
                          <a:ea typeface="Calibri" pitchFamily="34" charset="-122"/>
                          <a:cs typeface="Calibri" pitchFamily="34" charset="-120"/>
                        </a:rPr>
                        <a:t>Debtors turnover</a:t>
                      </a:r>
                      <a:endParaRPr lang="en-US" sz="1100" dirty="0">
                        <a:latin typeface="Calibri" charset="0"/>
                        <a:ea typeface="Calibri" charset="0"/>
                        <a:cs typeface="Calibri" charset="0"/>
                      </a:endParaRPr>
                    </a:p>
                  </a:txBody>
                  <a:tcPr marL="50800" marR="50800" marT="12700" marB="12700" anchor="ctr">
                    <a:lnL w="0" cap="flat" cmpd="sng" algn="ctr">
                      <a:noFill/>
                    </a:lnL>
                    <a:lnR w="0" cap="flat" cmpd="sng" algn="ctr">
                      <a:noFill/>
                    </a:lnR>
                    <a:lnT w="0" cap="flat" cmpd="sng" algn="ctr">
                      <a:noFill/>
                    </a:lnT>
                    <a:lnB w="0" cap="flat" cmpd="sng" algn="ctr">
                      <a:noFill/>
                    </a:lnB>
                    <a:solidFill>
                      <a:srgbClr val="E4E8E1"/>
                    </a:solidFill>
                  </a:tcPr>
                </a:tc>
                <a:tc>
                  <a:txBody>
                    <a:bodyPr/>
                    <a:lstStyle/>
                    <a:p>
                      <a:pPr marL="0" indent="0" algn="r">
                        <a:buNone/>
                      </a:pPr>
                      <a:r>
                        <a:rPr lang="en-US" sz="1100" dirty="0">
                          <a:solidFill>
                            <a:srgbClr val="1E2A22"/>
                          </a:solidFill>
                          <a:latin typeface="Calibri" pitchFamily="34" charset="0"/>
                          <a:ea typeface="Calibri" pitchFamily="34" charset="-122"/>
                          <a:cs typeface="Calibri" pitchFamily="34" charset="-120"/>
                        </a:rPr>
                        <a:t>22.8x</a:t>
                      </a:r>
                      <a:endParaRPr lang="en-US" sz="1100" dirty="0">
                        <a:latin typeface="Calibri" charset="0"/>
                        <a:ea typeface="Calibri" charset="0"/>
                        <a:cs typeface="Calibri" charset="0"/>
                      </a:endParaRPr>
                    </a:p>
                  </a:txBody>
                  <a:tcPr marL="50800" marR="50800" marT="12700" marB="12700" anchor="ctr">
                    <a:lnL w="0" cap="flat" cmpd="sng" algn="ctr">
                      <a:noFill/>
                    </a:lnL>
                    <a:lnR w="0" cap="flat" cmpd="sng" algn="ctr">
                      <a:noFill/>
                    </a:lnR>
                    <a:lnT w="0" cap="flat" cmpd="sng" algn="ctr">
                      <a:noFill/>
                    </a:lnT>
                    <a:lnB w="0" cap="flat" cmpd="sng" algn="ctr">
                      <a:noFill/>
                    </a:lnB>
                    <a:solidFill>
                      <a:srgbClr val="E4E8E1"/>
                    </a:solidFill>
                  </a:tcPr>
                </a:tc>
                <a:tc>
                  <a:txBody>
                    <a:bodyPr/>
                    <a:lstStyle/>
                    <a:p>
                      <a:pPr marL="0" indent="0" algn="r">
                        <a:buNone/>
                      </a:pPr>
                      <a:r>
                        <a:rPr lang="en-US" sz="1100" dirty="0">
                          <a:solidFill>
                            <a:srgbClr val="1E2A22"/>
                          </a:solidFill>
                          <a:latin typeface="Calibri" pitchFamily="34" charset="0"/>
                          <a:ea typeface="Calibri" pitchFamily="34" charset="-122"/>
                          <a:cs typeface="Calibri" pitchFamily="34" charset="-120"/>
                        </a:rPr>
                        <a:t>20.4x</a:t>
                      </a:r>
                      <a:endParaRPr lang="en-US" sz="1100" dirty="0">
                        <a:latin typeface="Calibri" charset="0"/>
                        <a:ea typeface="Calibri" charset="0"/>
                        <a:cs typeface="Calibri" charset="0"/>
                      </a:endParaRPr>
                    </a:p>
                  </a:txBody>
                  <a:tcPr marL="50800" marR="50800" marT="12700" marB="12700" anchor="ctr">
                    <a:lnL w="0" cap="flat" cmpd="sng" algn="ctr">
                      <a:noFill/>
                    </a:lnL>
                    <a:lnR w="0" cap="flat" cmpd="sng" algn="ctr">
                      <a:noFill/>
                    </a:lnR>
                    <a:lnT w="0" cap="flat" cmpd="sng" algn="ctr">
                      <a:noFill/>
                    </a:lnT>
                    <a:lnB w="0" cap="flat" cmpd="sng" algn="ctr">
                      <a:noFill/>
                    </a:lnB>
                    <a:solidFill>
                      <a:srgbClr val="E4E8E1"/>
                    </a:solidFill>
                  </a:tcPr>
                </a:tc>
                <a:tc>
                  <a:txBody>
                    <a:bodyPr/>
                    <a:lstStyle/>
                    <a:p>
                      <a:pPr marL="0" indent="0" algn="r">
                        <a:buNone/>
                      </a:pPr>
                      <a:r>
                        <a:rPr lang="en-US" sz="1100" dirty="0">
                          <a:solidFill>
                            <a:srgbClr val="1E2A22"/>
                          </a:solidFill>
                          <a:latin typeface="Calibri" pitchFamily="34" charset="0"/>
                          <a:ea typeface="Calibri" pitchFamily="34" charset="-122"/>
                          <a:cs typeface="Calibri" pitchFamily="34" charset="-120"/>
                        </a:rPr>
                        <a:t>18.0x</a:t>
                      </a:r>
                      <a:endParaRPr lang="en-US" sz="1100" dirty="0">
                        <a:latin typeface="Calibri" charset="0"/>
                        <a:ea typeface="Calibri" charset="0"/>
                        <a:cs typeface="Calibri" charset="0"/>
                      </a:endParaRPr>
                    </a:p>
                  </a:txBody>
                  <a:tcPr marL="50800" marR="50800" marT="12700" marB="12700" anchor="ctr">
                    <a:lnL w="0" cap="flat" cmpd="sng" algn="ctr">
                      <a:noFill/>
                    </a:lnL>
                    <a:lnR w="0" cap="flat" cmpd="sng" algn="ctr">
                      <a:noFill/>
                    </a:lnR>
                    <a:lnT w="0" cap="flat" cmpd="sng" algn="ctr">
                      <a:noFill/>
                    </a:lnT>
                    <a:lnB w="0" cap="flat" cmpd="sng" algn="ctr">
                      <a:noFill/>
                    </a:lnB>
                    <a:solidFill>
                      <a:srgbClr val="E4E8E1"/>
                    </a:solidFill>
                  </a:tcPr>
                </a:tc>
                <a:tc>
                  <a:txBody>
                    <a:bodyPr/>
                    <a:lstStyle/>
                    <a:p>
                      <a:pPr marL="0" indent="0" algn="r">
                        <a:buNone/>
                      </a:pPr>
                      <a:r>
                        <a:rPr lang="en-US" sz="1100" dirty="0">
                          <a:solidFill>
                            <a:srgbClr val="1E2A22"/>
                          </a:solidFill>
                          <a:latin typeface="Calibri" pitchFamily="34" charset="0"/>
                          <a:ea typeface="Calibri" pitchFamily="34" charset="-122"/>
                          <a:cs typeface="Calibri" pitchFamily="34" charset="-120"/>
                        </a:rPr>
                        <a:t>17.9x</a:t>
                      </a:r>
                      <a:endParaRPr lang="en-US" sz="1100" dirty="0">
                        <a:latin typeface="Calibri" charset="0"/>
                        <a:ea typeface="Calibri" charset="0"/>
                        <a:cs typeface="Calibri" charset="0"/>
                      </a:endParaRPr>
                    </a:p>
                  </a:txBody>
                  <a:tcPr marL="50800" marR="50800" marT="12700" marB="12700" anchor="ctr">
                    <a:lnL w="0" cap="flat" cmpd="sng" algn="ctr">
                      <a:noFill/>
                    </a:lnL>
                    <a:lnR w="0" cap="flat" cmpd="sng" algn="ctr">
                      <a:noFill/>
                    </a:lnR>
                    <a:lnT w="0" cap="flat" cmpd="sng" algn="ctr">
                      <a:noFill/>
                    </a:lnT>
                    <a:lnB w="0" cap="flat" cmpd="sng" algn="ctr">
                      <a:noFill/>
                    </a:lnB>
                    <a:solidFill>
                      <a:srgbClr val="E4E8E1"/>
                    </a:solidFill>
                  </a:tcPr>
                </a:tc>
                <a:extLst>
                  <a:ext uri="{0D108BD9-81ED-4DB2-BD59-A6C34878D82A}">
                    <a16:rowId xmlns:a16="http://schemas.microsoft.com/office/drawing/2014/main" val="10002"/>
                  </a:ext>
                </a:extLst>
              </a:tr>
            </a:tbl>
          </a:graphicData>
        </a:graphic>
      </p:graphicFrame>
      <p:sp>
        <p:nvSpPr>
          <p:cNvPr id="11" name="Text 7"/>
          <p:cNvSpPr/>
          <p:nvPr/>
        </p:nvSpPr>
        <p:spPr>
          <a:xfrm>
            <a:off x="649224" y="4050792"/>
            <a:ext cx="5056632" cy="384048"/>
          </a:xfrm>
          <a:prstGeom prst="rect">
            <a:avLst/>
          </a:prstGeom>
          <a:noFill/>
          <a:ln/>
        </p:spPr>
        <p:txBody>
          <a:bodyPr wrap="square" rtlCol="0" anchor="ctr"/>
          <a:lstStyle/>
          <a:p>
            <a:pPr marL="0" indent="0">
              <a:lnSpc>
                <a:spcPts val="1100"/>
              </a:lnSpc>
              <a:buNone/>
            </a:pPr>
            <a:r>
              <a:rPr lang="en-US" sz="880" i="1" dirty="0">
                <a:solidFill>
                  <a:srgbClr val="5B6058"/>
                </a:solidFill>
                <a:latin typeface="Calibri" pitchFamily="34" charset="0"/>
                <a:ea typeface="Calibri" pitchFamily="34" charset="-122"/>
                <a:cs typeface="Calibri" pitchFamily="34" charset="-120"/>
              </a:rPr>
              <a:t>Collections are the soft spot; inventory and asset turns are stable.</a:t>
            </a:r>
            <a:endParaRPr lang="en-US" sz="880" dirty="0"/>
          </a:p>
        </p:txBody>
      </p:sp>
      <p:sp>
        <p:nvSpPr>
          <p:cNvPr id="12" name="Shape 8"/>
          <p:cNvSpPr/>
          <p:nvPr/>
        </p:nvSpPr>
        <p:spPr>
          <a:xfrm>
            <a:off x="502920" y="4617720"/>
            <a:ext cx="5349240" cy="1481328"/>
          </a:xfrm>
          <a:prstGeom prst="rect">
            <a:avLst/>
          </a:prstGeom>
          <a:solidFill>
            <a:srgbClr val="FFFFFF"/>
          </a:solidFill>
          <a:ln w="9525">
            <a:solidFill>
              <a:srgbClr val="CDD3CB"/>
            </a:solidFill>
            <a:prstDash val="solid"/>
          </a:ln>
        </p:spPr>
      </p:sp>
      <p:sp>
        <p:nvSpPr>
          <p:cNvPr id="13" name="Text 9"/>
          <p:cNvSpPr/>
          <p:nvPr/>
        </p:nvSpPr>
        <p:spPr>
          <a:xfrm>
            <a:off x="649224" y="4700016"/>
            <a:ext cx="2743200" cy="219456"/>
          </a:xfrm>
          <a:prstGeom prst="rect">
            <a:avLst/>
          </a:prstGeom>
          <a:noFill/>
          <a:ln/>
        </p:spPr>
        <p:txBody>
          <a:bodyPr wrap="square" rtlCol="0" anchor="ctr"/>
          <a:lstStyle/>
          <a:p>
            <a:pPr marL="0" indent="0">
              <a:buNone/>
            </a:pPr>
            <a:r>
              <a:rPr lang="en-US" sz="1000" b="1" kern="0" spc="150" dirty="0">
                <a:solidFill>
                  <a:srgbClr val="AA5A34"/>
                </a:solidFill>
                <a:latin typeface="Calibri" pitchFamily="34" charset="0"/>
                <a:ea typeface="Calibri" pitchFamily="34" charset="-122"/>
                <a:cs typeface="Calibri" pitchFamily="34" charset="-120"/>
              </a:rPr>
              <a:t>SOLVENCY</a:t>
            </a:r>
            <a:endParaRPr lang="en-US" sz="1000" dirty="0"/>
          </a:p>
        </p:txBody>
      </p:sp>
      <p:graphicFrame>
        <p:nvGraphicFramePr>
          <p:cNvPr id="22" name="Table 2"/>
          <p:cNvGraphicFramePr>
            <a:graphicFrameLocks noGrp="1"/>
          </p:cNvGraphicFramePr>
          <p:nvPr>
            <p:extLst>
              <p:ext uri="{D42A27DB-BD31-4B8C-83A1-F6EECF244321}">
                <p14:modId xmlns:p14="http://schemas.microsoft.com/office/powerpoint/2010/main" val="1579011935"/>
              </p:ext>
            </p:extLst>
          </p:nvPr>
        </p:nvGraphicFramePr>
        <p:xfrm>
          <a:off x="649224" y="4937760"/>
          <a:ext cx="5056632" cy="658368"/>
        </p:xfrm>
        <a:graphic>
          <a:graphicData uri="http://schemas.openxmlformats.org/drawingml/2006/table">
            <a:tbl>
              <a:tblPr/>
              <a:tblGrid>
                <a:gridCol w="1691640">
                  <a:extLst>
                    <a:ext uri="{9D8B030D-6E8A-4147-A177-3AD203B41FA5}">
                      <a16:colId xmlns:a16="http://schemas.microsoft.com/office/drawing/2014/main" val="20000"/>
                    </a:ext>
                  </a:extLst>
                </a:gridCol>
                <a:gridCol w="841248">
                  <a:extLst>
                    <a:ext uri="{9D8B030D-6E8A-4147-A177-3AD203B41FA5}">
                      <a16:colId xmlns:a16="http://schemas.microsoft.com/office/drawing/2014/main" val="20001"/>
                    </a:ext>
                  </a:extLst>
                </a:gridCol>
                <a:gridCol w="841248">
                  <a:extLst>
                    <a:ext uri="{9D8B030D-6E8A-4147-A177-3AD203B41FA5}">
                      <a16:colId xmlns:a16="http://schemas.microsoft.com/office/drawing/2014/main" val="20002"/>
                    </a:ext>
                  </a:extLst>
                </a:gridCol>
                <a:gridCol w="841248">
                  <a:extLst>
                    <a:ext uri="{9D8B030D-6E8A-4147-A177-3AD203B41FA5}">
                      <a16:colId xmlns:a16="http://schemas.microsoft.com/office/drawing/2014/main" val="20003"/>
                    </a:ext>
                  </a:extLst>
                </a:gridCol>
                <a:gridCol w="841248">
                  <a:extLst>
                    <a:ext uri="{9D8B030D-6E8A-4147-A177-3AD203B41FA5}">
                      <a16:colId xmlns:a16="http://schemas.microsoft.com/office/drawing/2014/main" val="20004"/>
                    </a:ext>
                  </a:extLst>
                </a:gridCol>
              </a:tblGrid>
              <a:tr h="219456">
                <a:tc>
                  <a:txBody>
                    <a:bodyPr/>
                    <a:lstStyle/>
                    <a:p>
                      <a:pPr marL="0" indent="0" algn="l">
                        <a:buNone/>
                      </a:pPr>
                      <a:endParaRPr lang="en-US" sz="850" dirty="0">
                        <a:latin typeface="Calibri" charset="0"/>
                        <a:ea typeface="Calibri" charset="0"/>
                        <a:cs typeface="Calibri" charset="0"/>
                      </a:endParaRPr>
                    </a:p>
                  </a:txBody>
                  <a:tcPr marL="50800" marR="50800" marT="12700" marB="12700" anchor="ctr">
                    <a:lnL w="0" cap="flat" cmpd="sng" algn="ctr">
                      <a:noFill/>
                    </a:lnL>
                    <a:lnR w="0" cap="flat" cmpd="sng" algn="ctr">
                      <a:noFill/>
                    </a:lnR>
                    <a:lnT w="0" cap="flat" cmpd="sng" algn="ctr">
                      <a:noFill/>
                    </a:lnT>
                    <a:lnB w="0" cap="flat" cmpd="sng" algn="ctr">
                      <a:noFill/>
                    </a:lnB>
                    <a:solidFill>
                      <a:srgbClr val="EEF1EC"/>
                    </a:solidFill>
                  </a:tcPr>
                </a:tc>
                <a:tc>
                  <a:txBody>
                    <a:bodyPr/>
                    <a:lstStyle/>
                    <a:p>
                      <a:pPr marL="0" indent="0" algn="r">
                        <a:buNone/>
                      </a:pPr>
                      <a:r>
                        <a:rPr lang="en-US" sz="850" b="1" dirty="0">
                          <a:solidFill>
                            <a:srgbClr val="5B6058"/>
                          </a:solidFill>
                          <a:latin typeface="Calibri" pitchFamily="34" charset="0"/>
                          <a:ea typeface="Calibri" pitchFamily="34" charset="-122"/>
                          <a:cs typeface="Calibri" pitchFamily="34" charset="-120"/>
                        </a:rPr>
                        <a:t>FY23</a:t>
                      </a:r>
                      <a:endParaRPr lang="en-US" sz="850" dirty="0">
                        <a:latin typeface="Calibri" charset="0"/>
                        <a:ea typeface="Calibri" charset="0"/>
                        <a:cs typeface="Calibri" charset="0"/>
                      </a:endParaRPr>
                    </a:p>
                  </a:txBody>
                  <a:tcPr marL="50800" marR="50800" marT="12700" marB="12700" anchor="ctr">
                    <a:lnL w="0" cap="flat" cmpd="sng" algn="ctr">
                      <a:noFill/>
                    </a:lnL>
                    <a:lnR w="0" cap="flat" cmpd="sng" algn="ctr">
                      <a:noFill/>
                    </a:lnR>
                    <a:lnT w="0" cap="flat" cmpd="sng" algn="ctr">
                      <a:noFill/>
                    </a:lnT>
                    <a:lnB w="0" cap="flat" cmpd="sng" algn="ctr">
                      <a:noFill/>
                    </a:lnB>
                    <a:solidFill>
                      <a:srgbClr val="EEF1EC"/>
                    </a:solidFill>
                  </a:tcPr>
                </a:tc>
                <a:tc>
                  <a:txBody>
                    <a:bodyPr/>
                    <a:lstStyle/>
                    <a:p>
                      <a:pPr marL="0" indent="0" algn="r">
                        <a:buNone/>
                      </a:pPr>
                      <a:r>
                        <a:rPr lang="en-US" sz="850" b="1" dirty="0">
                          <a:solidFill>
                            <a:srgbClr val="5B6058"/>
                          </a:solidFill>
                          <a:latin typeface="Calibri" pitchFamily="34" charset="0"/>
                          <a:ea typeface="Calibri" pitchFamily="34" charset="-122"/>
                          <a:cs typeface="Calibri" pitchFamily="34" charset="-120"/>
                        </a:rPr>
                        <a:t>FY24</a:t>
                      </a:r>
                      <a:endParaRPr lang="en-US" sz="850" dirty="0">
                        <a:latin typeface="Calibri" charset="0"/>
                        <a:ea typeface="Calibri" charset="0"/>
                        <a:cs typeface="Calibri" charset="0"/>
                      </a:endParaRPr>
                    </a:p>
                  </a:txBody>
                  <a:tcPr marL="50800" marR="50800" marT="12700" marB="12700" anchor="ctr">
                    <a:lnL w="0" cap="flat" cmpd="sng" algn="ctr">
                      <a:noFill/>
                    </a:lnL>
                    <a:lnR w="0" cap="flat" cmpd="sng" algn="ctr">
                      <a:noFill/>
                    </a:lnR>
                    <a:lnT w="0" cap="flat" cmpd="sng" algn="ctr">
                      <a:noFill/>
                    </a:lnT>
                    <a:lnB w="0" cap="flat" cmpd="sng" algn="ctr">
                      <a:noFill/>
                    </a:lnB>
                    <a:solidFill>
                      <a:srgbClr val="EEF1EC"/>
                    </a:solidFill>
                  </a:tcPr>
                </a:tc>
                <a:tc>
                  <a:txBody>
                    <a:bodyPr/>
                    <a:lstStyle/>
                    <a:p>
                      <a:pPr marL="0" indent="0" algn="r">
                        <a:buNone/>
                      </a:pPr>
                      <a:r>
                        <a:rPr lang="en-US" sz="850" b="1" dirty="0">
                          <a:solidFill>
                            <a:srgbClr val="5B6058"/>
                          </a:solidFill>
                          <a:latin typeface="Calibri" pitchFamily="34" charset="0"/>
                          <a:ea typeface="Calibri" pitchFamily="34" charset="-122"/>
                          <a:cs typeface="Calibri" pitchFamily="34" charset="-120"/>
                        </a:rPr>
                        <a:t>FY25</a:t>
                      </a:r>
                      <a:endParaRPr lang="en-US" sz="850" dirty="0">
                        <a:latin typeface="Calibri" charset="0"/>
                        <a:ea typeface="Calibri" charset="0"/>
                        <a:cs typeface="Calibri" charset="0"/>
                      </a:endParaRPr>
                    </a:p>
                  </a:txBody>
                  <a:tcPr marL="50800" marR="50800" marT="12700" marB="12700" anchor="ctr">
                    <a:lnL w="0" cap="flat" cmpd="sng" algn="ctr">
                      <a:noFill/>
                    </a:lnL>
                    <a:lnR w="0" cap="flat" cmpd="sng" algn="ctr">
                      <a:noFill/>
                    </a:lnR>
                    <a:lnT w="0" cap="flat" cmpd="sng" algn="ctr">
                      <a:noFill/>
                    </a:lnT>
                    <a:lnB w="0" cap="flat" cmpd="sng" algn="ctr">
                      <a:noFill/>
                    </a:lnB>
                    <a:solidFill>
                      <a:srgbClr val="EEF1EC"/>
                    </a:solidFill>
                  </a:tcPr>
                </a:tc>
                <a:tc>
                  <a:txBody>
                    <a:bodyPr/>
                    <a:lstStyle/>
                    <a:p>
                      <a:pPr marL="0" indent="0" algn="r">
                        <a:buNone/>
                      </a:pPr>
                      <a:r>
                        <a:rPr lang="en-US" sz="850" b="1" dirty="0">
                          <a:solidFill>
                            <a:srgbClr val="5B6058"/>
                          </a:solidFill>
                          <a:latin typeface="Calibri" pitchFamily="34" charset="0"/>
                          <a:ea typeface="Calibri" pitchFamily="34" charset="-122"/>
                          <a:cs typeface="Calibri" pitchFamily="34" charset="-120"/>
                        </a:rPr>
                        <a:t>FY26</a:t>
                      </a:r>
                      <a:endParaRPr lang="en-US" sz="850" dirty="0">
                        <a:latin typeface="Calibri" charset="0"/>
                        <a:ea typeface="Calibri" charset="0"/>
                        <a:cs typeface="Calibri" charset="0"/>
                      </a:endParaRPr>
                    </a:p>
                  </a:txBody>
                  <a:tcPr marL="50800" marR="50800" marT="12700" marB="12700" anchor="ctr">
                    <a:lnL w="0" cap="flat" cmpd="sng" algn="ctr">
                      <a:noFill/>
                    </a:lnL>
                    <a:lnR w="0" cap="flat" cmpd="sng" algn="ctr">
                      <a:noFill/>
                    </a:lnR>
                    <a:lnT w="0" cap="flat" cmpd="sng" algn="ctr">
                      <a:noFill/>
                    </a:lnT>
                    <a:lnB w="0" cap="flat" cmpd="sng" algn="ctr">
                      <a:noFill/>
                    </a:lnB>
                    <a:solidFill>
                      <a:srgbClr val="EEF1EC"/>
                    </a:solidFill>
                  </a:tcPr>
                </a:tc>
                <a:extLst>
                  <a:ext uri="{0D108BD9-81ED-4DB2-BD59-A6C34878D82A}">
                    <a16:rowId xmlns:a16="http://schemas.microsoft.com/office/drawing/2014/main" val="10000"/>
                  </a:ext>
                </a:extLst>
              </a:tr>
              <a:tr h="219456">
                <a:tc>
                  <a:txBody>
                    <a:bodyPr/>
                    <a:lstStyle/>
                    <a:p>
                      <a:pPr marL="0" indent="0" algn="l">
                        <a:buNone/>
                      </a:pPr>
                      <a:r>
                        <a:rPr lang="en-US" sz="900" dirty="0">
                          <a:solidFill>
                            <a:srgbClr val="1E2A22"/>
                          </a:solidFill>
                          <a:latin typeface="Calibri" pitchFamily="34" charset="0"/>
                          <a:ea typeface="Calibri" pitchFamily="34" charset="-122"/>
                          <a:cs typeface="Calibri" pitchFamily="34" charset="-120"/>
                        </a:rPr>
                        <a:t>Debt-equity ratio</a:t>
                      </a:r>
                      <a:endParaRPr lang="en-US" sz="900" dirty="0">
                        <a:latin typeface="Calibri" charset="0"/>
                        <a:ea typeface="Calibri" charset="0"/>
                        <a:cs typeface="Calibri" charset="0"/>
                      </a:endParaRPr>
                    </a:p>
                  </a:txBody>
                  <a:tcPr marL="50800" marR="50800" marT="12700" marB="127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r">
                        <a:buNone/>
                      </a:pPr>
                      <a:r>
                        <a:rPr lang="en-US" sz="900" dirty="0">
                          <a:solidFill>
                            <a:srgbClr val="1E2A22"/>
                          </a:solidFill>
                          <a:latin typeface="Calibri" pitchFamily="34" charset="0"/>
                          <a:ea typeface="Calibri" pitchFamily="34" charset="-122"/>
                          <a:cs typeface="Calibri" pitchFamily="34" charset="-120"/>
                        </a:rPr>
                        <a:t>0.05x</a:t>
                      </a:r>
                      <a:endParaRPr lang="en-US" sz="900" dirty="0">
                        <a:latin typeface="Calibri" charset="0"/>
                        <a:ea typeface="Calibri" charset="0"/>
                        <a:cs typeface="Calibri" charset="0"/>
                      </a:endParaRPr>
                    </a:p>
                  </a:txBody>
                  <a:tcPr marL="50800" marR="50800" marT="12700" marB="127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r">
                        <a:buNone/>
                      </a:pPr>
                      <a:r>
                        <a:rPr lang="en-US" sz="900" dirty="0">
                          <a:solidFill>
                            <a:srgbClr val="1E2A22"/>
                          </a:solidFill>
                          <a:latin typeface="Calibri" pitchFamily="34" charset="0"/>
                          <a:ea typeface="Calibri" pitchFamily="34" charset="-122"/>
                          <a:cs typeface="Calibri" pitchFamily="34" charset="-120"/>
                        </a:rPr>
                        <a:t>0.06x</a:t>
                      </a:r>
                      <a:endParaRPr lang="en-US" sz="900" dirty="0">
                        <a:latin typeface="Calibri" charset="0"/>
                        <a:ea typeface="Calibri" charset="0"/>
                        <a:cs typeface="Calibri" charset="0"/>
                      </a:endParaRPr>
                    </a:p>
                  </a:txBody>
                  <a:tcPr marL="50800" marR="50800" marT="12700" marB="127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r">
                        <a:buNone/>
                      </a:pPr>
                      <a:r>
                        <a:rPr lang="en-US" sz="900" dirty="0">
                          <a:solidFill>
                            <a:srgbClr val="1E2A22"/>
                          </a:solidFill>
                          <a:latin typeface="Calibri" pitchFamily="34" charset="0"/>
                          <a:ea typeface="Calibri" pitchFamily="34" charset="-122"/>
                          <a:cs typeface="Calibri" pitchFamily="34" charset="-120"/>
                        </a:rPr>
                        <a:t>0.07x</a:t>
                      </a:r>
                      <a:endParaRPr lang="en-US" sz="900" dirty="0">
                        <a:latin typeface="Calibri" charset="0"/>
                        <a:ea typeface="Calibri" charset="0"/>
                        <a:cs typeface="Calibri" charset="0"/>
                      </a:endParaRPr>
                    </a:p>
                  </a:txBody>
                  <a:tcPr marL="50800" marR="50800" marT="12700" marB="127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r">
                        <a:buNone/>
                      </a:pPr>
                      <a:r>
                        <a:rPr lang="en-US" sz="900" dirty="0">
                          <a:solidFill>
                            <a:srgbClr val="1E2A22"/>
                          </a:solidFill>
                          <a:latin typeface="Calibri" pitchFamily="34" charset="0"/>
                          <a:ea typeface="Calibri" pitchFamily="34" charset="-122"/>
                          <a:cs typeface="Calibri" pitchFamily="34" charset="-120"/>
                        </a:rPr>
                        <a:t>0.06x</a:t>
                      </a:r>
                      <a:endParaRPr lang="en-US" sz="900" dirty="0">
                        <a:latin typeface="Calibri" charset="0"/>
                        <a:ea typeface="Calibri" charset="0"/>
                        <a:cs typeface="Calibri" charset="0"/>
                      </a:endParaRPr>
                    </a:p>
                  </a:txBody>
                  <a:tcPr marL="50800" marR="50800" marT="12700" marB="12700"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1"/>
                  </a:ext>
                </a:extLst>
              </a:tr>
              <a:tr h="219456">
                <a:tc>
                  <a:txBody>
                    <a:bodyPr/>
                    <a:lstStyle/>
                    <a:p>
                      <a:pPr marL="0" indent="0" algn="l">
                        <a:buNone/>
                      </a:pPr>
                      <a:r>
                        <a:rPr lang="en-US" sz="900" dirty="0">
                          <a:solidFill>
                            <a:srgbClr val="1E2A22"/>
                          </a:solidFill>
                          <a:latin typeface="Calibri" pitchFamily="34" charset="0"/>
                          <a:ea typeface="Calibri" pitchFamily="34" charset="-122"/>
                          <a:cs typeface="Calibri" pitchFamily="34" charset="-120"/>
                        </a:rPr>
                        <a:t>Interest coverage</a:t>
                      </a:r>
                      <a:endParaRPr lang="en-US" sz="900" dirty="0">
                        <a:latin typeface="Calibri" charset="0"/>
                        <a:ea typeface="Calibri" charset="0"/>
                        <a:cs typeface="Calibri" charset="0"/>
                      </a:endParaRPr>
                    </a:p>
                  </a:txBody>
                  <a:tcPr marL="50800" marR="50800" marT="12700" marB="12700" anchor="ctr">
                    <a:lnL w="0" cap="flat" cmpd="sng" algn="ctr">
                      <a:noFill/>
                    </a:lnL>
                    <a:lnR w="0" cap="flat" cmpd="sng" algn="ctr">
                      <a:noFill/>
                    </a:lnR>
                    <a:lnT w="0" cap="flat" cmpd="sng" algn="ctr">
                      <a:noFill/>
                    </a:lnT>
                    <a:lnB w="0" cap="flat" cmpd="sng" algn="ctr">
                      <a:noFill/>
                    </a:lnB>
                    <a:solidFill>
                      <a:srgbClr val="E4E8E1"/>
                    </a:solidFill>
                  </a:tcPr>
                </a:tc>
                <a:tc>
                  <a:txBody>
                    <a:bodyPr/>
                    <a:lstStyle/>
                    <a:p>
                      <a:pPr marL="0" indent="0" algn="r">
                        <a:buNone/>
                      </a:pPr>
                      <a:r>
                        <a:rPr lang="en-US" sz="900" dirty="0">
                          <a:solidFill>
                            <a:srgbClr val="1E2A22"/>
                          </a:solidFill>
                          <a:latin typeface="Calibri" pitchFamily="34" charset="0"/>
                          <a:ea typeface="Calibri" pitchFamily="34" charset="-122"/>
                          <a:cs typeface="Calibri" pitchFamily="34" charset="-120"/>
                        </a:rPr>
                        <a:t>118x</a:t>
                      </a:r>
                      <a:endParaRPr lang="en-US" sz="900" dirty="0">
                        <a:latin typeface="Calibri" charset="0"/>
                        <a:ea typeface="Calibri" charset="0"/>
                        <a:cs typeface="Calibri" charset="0"/>
                      </a:endParaRPr>
                    </a:p>
                  </a:txBody>
                  <a:tcPr marL="50800" marR="50800" marT="12700" marB="12700" anchor="ctr">
                    <a:lnL w="0" cap="flat" cmpd="sng" algn="ctr">
                      <a:noFill/>
                    </a:lnL>
                    <a:lnR w="0" cap="flat" cmpd="sng" algn="ctr">
                      <a:noFill/>
                    </a:lnR>
                    <a:lnT w="0" cap="flat" cmpd="sng" algn="ctr">
                      <a:noFill/>
                    </a:lnT>
                    <a:lnB w="0" cap="flat" cmpd="sng" algn="ctr">
                      <a:noFill/>
                    </a:lnB>
                    <a:solidFill>
                      <a:srgbClr val="E4E8E1"/>
                    </a:solidFill>
                  </a:tcPr>
                </a:tc>
                <a:tc>
                  <a:txBody>
                    <a:bodyPr/>
                    <a:lstStyle/>
                    <a:p>
                      <a:pPr marL="0" indent="0" algn="r">
                        <a:buNone/>
                      </a:pPr>
                      <a:r>
                        <a:rPr lang="en-US" sz="900" dirty="0">
                          <a:solidFill>
                            <a:srgbClr val="1E2A22"/>
                          </a:solidFill>
                          <a:latin typeface="Calibri" pitchFamily="34" charset="0"/>
                          <a:ea typeface="Calibri" pitchFamily="34" charset="-122"/>
                          <a:cs typeface="Calibri" pitchFamily="34" charset="-120"/>
                        </a:rPr>
                        <a:t>43x</a:t>
                      </a:r>
                      <a:endParaRPr lang="en-US" sz="900" dirty="0">
                        <a:latin typeface="Calibri" charset="0"/>
                        <a:ea typeface="Calibri" charset="0"/>
                        <a:cs typeface="Calibri" charset="0"/>
                      </a:endParaRPr>
                    </a:p>
                  </a:txBody>
                  <a:tcPr marL="50800" marR="50800" marT="12700" marB="12700" anchor="ctr">
                    <a:lnL w="0" cap="flat" cmpd="sng" algn="ctr">
                      <a:noFill/>
                    </a:lnL>
                    <a:lnR w="0" cap="flat" cmpd="sng" algn="ctr">
                      <a:noFill/>
                    </a:lnR>
                    <a:lnT w="0" cap="flat" cmpd="sng" algn="ctr">
                      <a:noFill/>
                    </a:lnT>
                    <a:lnB w="0" cap="flat" cmpd="sng" algn="ctr">
                      <a:noFill/>
                    </a:lnB>
                    <a:solidFill>
                      <a:srgbClr val="E4E8E1"/>
                    </a:solidFill>
                  </a:tcPr>
                </a:tc>
                <a:tc>
                  <a:txBody>
                    <a:bodyPr/>
                    <a:lstStyle/>
                    <a:p>
                      <a:pPr marL="0" indent="0" algn="r">
                        <a:buNone/>
                      </a:pPr>
                      <a:r>
                        <a:rPr lang="en-US" sz="900" dirty="0">
                          <a:solidFill>
                            <a:srgbClr val="1E2A22"/>
                          </a:solidFill>
                          <a:latin typeface="Calibri" pitchFamily="34" charset="0"/>
                          <a:ea typeface="Calibri" pitchFamily="34" charset="-122"/>
                          <a:cs typeface="Calibri" pitchFamily="34" charset="-120"/>
                        </a:rPr>
                        <a:t>39x</a:t>
                      </a:r>
                      <a:endParaRPr lang="en-US" sz="900" dirty="0">
                        <a:latin typeface="Calibri" charset="0"/>
                        <a:ea typeface="Calibri" charset="0"/>
                        <a:cs typeface="Calibri" charset="0"/>
                      </a:endParaRPr>
                    </a:p>
                  </a:txBody>
                  <a:tcPr marL="50800" marR="50800" marT="12700" marB="12700" anchor="ctr">
                    <a:lnL w="0" cap="flat" cmpd="sng" algn="ctr">
                      <a:noFill/>
                    </a:lnL>
                    <a:lnR w="0" cap="flat" cmpd="sng" algn="ctr">
                      <a:noFill/>
                    </a:lnR>
                    <a:lnT w="0" cap="flat" cmpd="sng" algn="ctr">
                      <a:noFill/>
                    </a:lnT>
                    <a:lnB w="0" cap="flat" cmpd="sng" algn="ctr">
                      <a:noFill/>
                    </a:lnB>
                    <a:solidFill>
                      <a:srgbClr val="E4E8E1"/>
                    </a:solidFill>
                  </a:tcPr>
                </a:tc>
                <a:tc>
                  <a:txBody>
                    <a:bodyPr/>
                    <a:lstStyle/>
                    <a:p>
                      <a:pPr marL="0" indent="0" algn="r">
                        <a:buNone/>
                      </a:pPr>
                      <a:r>
                        <a:rPr lang="en-US" sz="900" dirty="0">
                          <a:solidFill>
                            <a:srgbClr val="1E2A22"/>
                          </a:solidFill>
                          <a:latin typeface="Calibri" pitchFamily="34" charset="0"/>
                          <a:ea typeface="Calibri" pitchFamily="34" charset="-122"/>
                          <a:cs typeface="Calibri" pitchFamily="34" charset="-120"/>
                        </a:rPr>
                        <a:t>45x</a:t>
                      </a:r>
                      <a:endParaRPr lang="en-US" sz="900" dirty="0">
                        <a:latin typeface="Calibri" charset="0"/>
                        <a:ea typeface="Calibri" charset="0"/>
                        <a:cs typeface="Calibri" charset="0"/>
                      </a:endParaRPr>
                    </a:p>
                  </a:txBody>
                  <a:tcPr marL="50800" marR="50800" marT="12700" marB="12700" anchor="ctr">
                    <a:lnL w="0" cap="flat" cmpd="sng" algn="ctr">
                      <a:noFill/>
                    </a:lnL>
                    <a:lnR w="0" cap="flat" cmpd="sng" algn="ctr">
                      <a:noFill/>
                    </a:lnR>
                    <a:lnT w="0" cap="flat" cmpd="sng" algn="ctr">
                      <a:noFill/>
                    </a:lnT>
                    <a:lnB w="0" cap="flat" cmpd="sng" algn="ctr">
                      <a:noFill/>
                    </a:lnB>
                    <a:solidFill>
                      <a:srgbClr val="E4E8E1"/>
                    </a:solidFill>
                  </a:tcPr>
                </a:tc>
                <a:extLst>
                  <a:ext uri="{0D108BD9-81ED-4DB2-BD59-A6C34878D82A}">
                    <a16:rowId xmlns:a16="http://schemas.microsoft.com/office/drawing/2014/main" val="10002"/>
                  </a:ext>
                </a:extLst>
              </a:tr>
            </a:tbl>
          </a:graphicData>
        </a:graphic>
      </p:graphicFrame>
      <p:sp>
        <p:nvSpPr>
          <p:cNvPr id="10" name="Text 10"/>
          <p:cNvSpPr/>
          <p:nvPr/>
        </p:nvSpPr>
        <p:spPr>
          <a:xfrm>
            <a:off x="649224" y="5650992"/>
            <a:ext cx="5056632" cy="384048"/>
          </a:xfrm>
          <a:prstGeom prst="rect">
            <a:avLst/>
          </a:prstGeom>
          <a:noFill/>
          <a:ln/>
        </p:spPr>
        <p:txBody>
          <a:bodyPr wrap="square" rtlCol="0" anchor="ctr"/>
          <a:lstStyle/>
          <a:p>
            <a:pPr marL="0" indent="0">
              <a:lnSpc>
                <a:spcPts val="1100"/>
              </a:lnSpc>
              <a:buNone/>
            </a:pPr>
            <a:r>
              <a:rPr lang="en-US" sz="880" i="1" dirty="0">
                <a:solidFill>
                  <a:srgbClr val="5B6058"/>
                </a:solidFill>
                <a:latin typeface="Calibri" pitchFamily="34" charset="0"/>
                <a:ea typeface="Calibri" pitchFamily="34" charset="-122"/>
                <a:cs typeface="Calibri" pitchFamily="34" charset="-120"/>
              </a:rPr>
              <a:t>Near-zero leverage; interest cover eased but stays very comfortable.</a:t>
            </a:r>
            <a:endParaRPr lang="en-US" sz="880" dirty="0"/>
          </a:p>
        </p:txBody>
      </p:sp>
      <p:sp>
        <p:nvSpPr>
          <p:cNvPr id="16" name="Shape 11"/>
          <p:cNvSpPr/>
          <p:nvPr/>
        </p:nvSpPr>
        <p:spPr>
          <a:xfrm>
            <a:off x="6108192" y="1417320"/>
            <a:ext cx="5577840" cy="475488"/>
          </a:xfrm>
          <a:prstGeom prst="rect">
            <a:avLst/>
          </a:prstGeom>
          <a:solidFill>
            <a:srgbClr val="EEF1EC"/>
          </a:solidFill>
          <a:ln/>
        </p:spPr>
      </p:sp>
      <p:sp>
        <p:nvSpPr>
          <p:cNvPr id="17" name="Text 12"/>
          <p:cNvSpPr/>
          <p:nvPr/>
        </p:nvSpPr>
        <p:spPr>
          <a:xfrm>
            <a:off x="6272784" y="1417320"/>
            <a:ext cx="5303520" cy="475488"/>
          </a:xfrm>
          <a:prstGeom prst="rect">
            <a:avLst/>
          </a:prstGeom>
          <a:noFill/>
          <a:ln/>
        </p:spPr>
        <p:txBody>
          <a:bodyPr wrap="square" rtlCol="0" anchor="ctr"/>
          <a:lstStyle/>
          <a:p>
            <a:pPr marL="0" indent="0">
              <a:buNone/>
            </a:pPr>
            <a:r>
              <a:rPr lang="en-US" sz="1150" b="1" dirty="0">
                <a:solidFill>
                  <a:srgbClr val="1E2A22"/>
                </a:solidFill>
                <a:latin typeface="Georgia" pitchFamily="34" charset="0"/>
                <a:ea typeface="Georgia" pitchFamily="34" charset="-122"/>
                <a:cs typeface="Georgia" pitchFamily="34" charset="-120"/>
              </a:rPr>
              <a:t>ROE = </a:t>
            </a:r>
            <a:r>
              <a:rPr lang="en-US" sz="1150" b="1" dirty="0">
                <a:solidFill>
                  <a:srgbClr val="AA5A34"/>
                </a:solidFill>
                <a:latin typeface="Georgia" pitchFamily="34" charset="0"/>
                <a:ea typeface="Georgia" pitchFamily="34" charset="-122"/>
                <a:cs typeface="Georgia" pitchFamily="34" charset="-120"/>
              </a:rPr>
              <a:t>Net Margin</a:t>
            </a:r>
            <a:r>
              <a:rPr lang="en-US" sz="1150" dirty="0">
                <a:solidFill>
                  <a:srgbClr val="5B6058"/>
                </a:solidFill>
                <a:latin typeface="Georgia" pitchFamily="34" charset="0"/>
                <a:ea typeface="Georgia" pitchFamily="34" charset="-122"/>
                <a:cs typeface="Georgia" pitchFamily="34" charset="-120"/>
              </a:rPr>
              <a:t> × </a:t>
            </a:r>
            <a:r>
              <a:rPr lang="en-US" sz="1150" b="1" dirty="0">
                <a:solidFill>
                  <a:srgbClr val="8C6A3F"/>
                </a:solidFill>
                <a:latin typeface="Georgia" pitchFamily="34" charset="0"/>
                <a:ea typeface="Georgia" pitchFamily="34" charset="-122"/>
                <a:cs typeface="Georgia" pitchFamily="34" charset="-120"/>
              </a:rPr>
              <a:t>Asset Turnover</a:t>
            </a:r>
            <a:r>
              <a:rPr lang="en-US" sz="1150" dirty="0">
                <a:solidFill>
                  <a:srgbClr val="5B6058"/>
                </a:solidFill>
                <a:latin typeface="Georgia" pitchFamily="34" charset="0"/>
                <a:ea typeface="Georgia" pitchFamily="34" charset="-122"/>
                <a:cs typeface="Georgia" pitchFamily="34" charset="-120"/>
              </a:rPr>
              <a:t> × </a:t>
            </a:r>
            <a:r>
              <a:rPr lang="en-US" sz="1150" b="1" dirty="0">
                <a:solidFill>
                  <a:srgbClr val="1E2A22"/>
                </a:solidFill>
                <a:latin typeface="Georgia" pitchFamily="34" charset="0"/>
                <a:ea typeface="Georgia" pitchFamily="34" charset="-122"/>
                <a:cs typeface="Georgia" pitchFamily="34" charset="-120"/>
              </a:rPr>
              <a:t>Equity Multiplier</a:t>
            </a:r>
            <a:endParaRPr lang="en-US" sz="1150" dirty="0"/>
          </a:p>
        </p:txBody>
      </p:sp>
      <p:graphicFrame>
        <p:nvGraphicFramePr>
          <p:cNvPr id="29" name="Table 3"/>
          <p:cNvGraphicFramePr>
            <a:graphicFrameLocks noGrp="1"/>
          </p:cNvGraphicFramePr>
          <p:nvPr>
            <p:extLst>
              <p:ext uri="{D42A27DB-BD31-4B8C-83A1-F6EECF244321}">
                <p14:modId xmlns:p14="http://schemas.microsoft.com/office/powerpoint/2010/main" val="2471783537"/>
              </p:ext>
            </p:extLst>
          </p:nvPr>
        </p:nvGraphicFramePr>
        <p:xfrm>
          <a:off x="6108192" y="2011680"/>
          <a:ext cx="5577840" cy="1333500"/>
        </p:xfrm>
        <a:graphic>
          <a:graphicData uri="http://schemas.openxmlformats.org/drawingml/2006/table">
            <a:tbl>
              <a:tblPr/>
              <a:tblGrid>
                <a:gridCol w="2148840">
                  <a:extLst>
                    <a:ext uri="{9D8B030D-6E8A-4147-A177-3AD203B41FA5}">
                      <a16:colId xmlns:a16="http://schemas.microsoft.com/office/drawing/2014/main" val="20000"/>
                    </a:ext>
                  </a:extLst>
                </a:gridCol>
                <a:gridCol w="857250">
                  <a:extLst>
                    <a:ext uri="{9D8B030D-6E8A-4147-A177-3AD203B41FA5}">
                      <a16:colId xmlns:a16="http://schemas.microsoft.com/office/drawing/2014/main" val="20001"/>
                    </a:ext>
                  </a:extLst>
                </a:gridCol>
                <a:gridCol w="857250">
                  <a:extLst>
                    <a:ext uri="{9D8B030D-6E8A-4147-A177-3AD203B41FA5}">
                      <a16:colId xmlns:a16="http://schemas.microsoft.com/office/drawing/2014/main" val="20002"/>
                    </a:ext>
                  </a:extLst>
                </a:gridCol>
                <a:gridCol w="857250">
                  <a:extLst>
                    <a:ext uri="{9D8B030D-6E8A-4147-A177-3AD203B41FA5}">
                      <a16:colId xmlns:a16="http://schemas.microsoft.com/office/drawing/2014/main" val="20003"/>
                    </a:ext>
                  </a:extLst>
                </a:gridCol>
                <a:gridCol w="857250">
                  <a:extLst>
                    <a:ext uri="{9D8B030D-6E8A-4147-A177-3AD203B41FA5}">
                      <a16:colId xmlns:a16="http://schemas.microsoft.com/office/drawing/2014/main" val="20004"/>
                    </a:ext>
                  </a:extLst>
                </a:gridCol>
              </a:tblGrid>
              <a:tr h="266700">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Driver</a:t>
                      </a:r>
                      <a:endParaRPr lang="en-US" sz="1100" dirty="0">
                        <a:latin typeface="Calibri" charset="0"/>
                        <a:ea typeface="Calibri" charset="0"/>
                        <a:cs typeface="Calibri" charset="0"/>
                      </a:endParaRPr>
                    </a:p>
                  </a:txBody>
                  <a:tcPr marL="63500" marR="63500" marT="38100" marB="38100" anchor="ctr">
                    <a:lnL w="6350" cap="flat" cmpd="sng" algn="ctr">
                      <a:solidFill>
                        <a:srgbClr val="CDD3CB"/>
                      </a:solidFill>
                      <a:prstDash val="solid"/>
                      <a:round/>
                      <a:headEnd type="none" w="med" len="med"/>
                      <a:tailEnd type="none" w="med" len="med"/>
                    </a:lnL>
                    <a:lnR w="6350" cap="flat" cmpd="sng" algn="ctr">
                      <a:solidFill>
                        <a:srgbClr val="CDD3CB"/>
                      </a:solidFill>
                      <a:prstDash val="solid"/>
                      <a:round/>
                      <a:headEnd type="none" w="med" len="med"/>
                      <a:tailEnd type="none" w="med" len="med"/>
                    </a:lnR>
                    <a:lnT w="6350" cap="flat" cmpd="sng" algn="ctr">
                      <a:solidFill>
                        <a:srgbClr val="CDD3CB"/>
                      </a:solidFill>
                      <a:prstDash val="solid"/>
                      <a:round/>
                      <a:headEnd type="none" w="med" len="med"/>
                      <a:tailEnd type="none" w="med" len="med"/>
                    </a:lnT>
                    <a:lnB w="6350" cap="flat" cmpd="sng" algn="ctr">
                      <a:solidFill>
                        <a:srgbClr val="CDD3CB"/>
                      </a:solidFill>
                      <a:prstDash val="solid"/>
                      <a:round/>
                      <a:headEnd type="none" w="med" len="med"/>
                      <a:tailEnd type="none" w="med" len="med"/>
                    </a:lnB>
                    <a:solidFill>
                      <a:srgbClr val="1E2A22"/>
                    </a:solidFill>
                  </a:tcPr>
                </a:tc>
                <a:tc>
                  <a:txBody>
                    <a:bodyPr/>
                    <a:lstStyle/>
                    <a:p>
                      <a:pPr marL="0" indent="0" algn="r">
                        <a:buNone/>
                      </a:pPr>
                      <a:r>
                        <a:rPr lang="en-US" sz="1100" b="1" dirty="0">
                          <a:solidFill>
                            <a:srgbClr val="FFFFFF"/>
                          </a:solidFill>
                          <a:latin typeface="Calibri" pitchFamily="34" charset="0"/>
                          <a:ea typeface="Calibri" pitchFamily="34" charset="-122"/>
                          <a:cs typeface="Calibri" pitchFamily="34" charset="-120"/>
                        </a:rPr>
                        <a:t>FY23</a:t>
                      </a:r>
                      <a:endParaRPr lang="en-US" sz="1100" dirty="0">
                        <a:latin typeface="Calibri" charset="0"/>
                        <a:ea typeface="Calibri" charset="0"/>
                        <a:cs typeface="Calibri" charset="0"/>
                      </a:endParaRPr>
                    </a:p>
                  </a:txBody>
                  <a:tcPr marL="63500" marR="63500" marT="38100" marB="38100" anchor="ctr">
                    <a:lnL w="6350" cap="flat" cmpd="sng" algn="ctr">
                      <a:solidFill>
                        <a:srgbClr val="CDD3CB"/>
                      </a:solidFill>
                      <a:prstDash val="solid"/>
                      <a:round/>
                      <a:headEnd type="none" w="med" len="med"/>
                      <a:tailEnd type="none" w="med" len="med"/>
                    </a:lnL>
                    <a:lnR w="6350" cap="flat" cmpd="sng" algn="ctr">
                      <a:solidFill>
                        <a:srgbClr val="CDD3CB"/>
                      </a:solidFill>
                      <a:prstDash val="solid"/>
                      <a:round/>
                      <a:headEnd type="none" w="med" len="med"/>
                      <a:tailEnd type="none" w="med" len="med"/>
                    </a:lnR>
                    <a:lnT w="6350" cap="flat" cmpd="sng" algn="ctr">
                      <a:solidFill>
                        <a:srgbClr val="CDD3CB"/>
                      </a:solidFill>
                      <a:prstDash val="solid"/>
                      <a:round/>
                      <a:headEnd type="none" w="med" len="med"/>
                      <a:tailEnd type="none" w="med" len="med"/>
                    </a:lnT>
                    <a:lnB w="6350" cap="flat" cmpd="sng" algn="ctr">
                      <a:solidFill>
                        <a:srgbClr val="CDD3CB"/>
                      </a:solidFill>
                      <a:prstDash val="solid"/>
                      <a:round/>
                      <a:headEnd type="none" w="med" len="med"/>
                      <a:tailEnd type="none" w="med" len="med"/>
                    </a:lnB>
                    <a:solidFill>
                      <a:srgbClr val="1E2A22"/>
                    </a:solidFill>
                  </a:tcPr>
                </a:tc>
                <a:tc>
                  <a:txBody>
                    <a:bodyPr/>
                    <a:lstStyle/>
                    <a:p>
                      <a:pPr marL="0" indent="0" algn="r">
                        <a:buNone/>
                      </a:pPr>
                      <a:r>
                        <a:rPr lang="en-US" sz="1100" b="1" dirty="0">
                          <a:solidFill>
                            <a:srgbClr val="FFFFFF"/>
                          </a:solidFill>
                          <a:latin typeface="Calibri" pitchFamily="34" charset="0"/>
                          <a:ea typeface="Calibri" pitchFamily="34" charset="-122"/>
                          <a:cs typeface="Calibri" pitchFamily="34" charset="-120"/>
                        </a:rPr>
                        <a:t>FY24</a:t>
                      </a:r>
                      <a:endParaRPr lang="en-US" sz="1100" dirty="0">
                        <a:latin typeface="Calibri" charset="0"/>
                        <a:ea typeface="Calibri" charset="0"/>
                        <a:cs typeface="Calibri" charset="0"/>
                      </a:endParaRPr>
                    </a:p>
                  </a:txBody>
                  <a:tcPr marL="63500" marR="63500" marT="38100" marB="38100" anchor="ctr">
                    <a:lnL w="6350" cap="flat" cmpd="sng" algn="ctr">
                      <a:solidFill>
                        <a:srgbClr val="CDD3CB"/>
                      </a:solidFill>
                      <a:prstDash val="solid"/>
                      <a:round/>
                      <a:headEnd type="none" w="med" len="med"/>
                      <a:tailEnd type="none" w="med" len="med"/>
                    </a:lnL>
                    <a:lnR w="6350" cap="flat" cmpd="sng" algn="ctr">
                      <a:solidFill>
                        <a:srgbClr val="CDD3CB"/>
                      </a:solidFill>
                      <a:prstDash val="solid"/>
                      <a:round/>
                      <a:headEnd type="none" w="med" len="med"/>
                      <a:tailEnd type="none" w="med" len="med"/>
                    </a:lnR>
                    <a:lnT w="6350" cap="flat" cmpd="sng" algn="ctr">
                      <a:solidFill>
                        <a:srgbClr val="CDD3CB"/>
                      </a:solidFill>
                      <a:prstDash val="solid"/>
                      <a:round/>
                      <a:headEnd type="none" w="med" len="med"/>
                      <a:tailEnd type="none" w="med" len="med"/>
                    </a:lnT>
                    <a:lnB w="6350" cap="flat" cmpd="sng" algn="ctr">
                      <a:solidFill>
                        <a:srgbClr val="CDD3CB"/>
                      </a:solidFill>
                      <a:prstDash val="solid"/>
                      <a:round/>
                      <a:headEnd type="none" w="med" len="med"/>
                      <a:tailEnd type="none" w="med" len="med"/>
                    </a:lnB>
                    <a:solidFill>
                      <a:srgbClr val="1E2A22"/>
                    </a:solidFill>
                  </a:tcPr>
                </a:tc>
                <a:tc>
                  <a:txBody>
                    <a:bodyPr/>
                    <a:lstStyle/>
                    <a:p>
                      <a:pPr marL="0" indent="0" algn="r">
                        <a:buNone/>
                      </a:pPr>
                      <a:r>
                        <a:rPr lang="en-US" sz="1100" b="1" dirty="0">
                          <a:solidFill>
                            <a:srgbClr val="FFFFFF"/>
                          </a:solidFill>
                          <a:latin typeface="Calibri" pitchFamily="34" charset="0"/>
                          <a:ea typeface="Calibri" pitchFamily="34" charset="-122"/>
                          <a:cs typeface="Calibri" pitchFamily="34" charset="-120"/>
                        </a:rPr>
                        <a:t>FY25</a:t>
                      </a:r>
                      <a:endParaRPr lang="en-US" sz="1100" dirty="0">
                        <a:latin typeface="Calibri" charset="0"/>
                        <a:ea typeface="Calibri" charset="0"/>
                        <a:cs typeface="Calibri" charset="0"/>
                      </a:endParaRPr>
                    </a:p>
                  </a:txBody>
                  <a:tcPr marL="63500" marR="63500" marT="38100" marB="38100" anchor="ctr">
                    <a:lnL w="6350" cap="flat" cmpd="sng" algn="ctr">
                      <a:solidFill>
                        <a:srgbClr val="CDD3CB"/>
                      </a:solidFill>
                      <a:prstDash val="solid"/>
                      <a:round/>
                      <a:headEnd type="none" w="med" len="med"/>
                      <a:tailEnd type="none" w="med" len="med"/>
                    </a:lnL>
                    <a:lnR w="6350" cap="flat" cmpd="sng" algn="ctr">
                      <a:solidFill>
                        <a:srgbClr val="CDD3CB"/>
                      </a:solidFill>
                      <a:prstDash val="solid"/>
                      <a:round/>
                      <a:headEnd type="none" w="med" len="med"/>
                      <a:tailEnd type="none" w="med" len="med"/>
                    </a:lnR>
                    <a:lnT w="6350" cap="flat" cmpd="sng" algn="ctr">
                      <a:solidFill>
                        <a:srgbClr val="CDD3CB"/>
                      </a:solidFill>
                      <a:prstDash val="solid"/>
                      <a:round/>
                      <a:headEnd type="none" w="med" len="med"/>
                      <a:tailEnd type="none" w="med" len="med"/>
                    </a:lnT>
                    <a:lnB w="6350" cap="flat" cmpd="sng" algn="ctr">
                      <a:solidFill>
                        <a:srgbClr val="CDD3CB"/>
                      </a:solidFill>
                      <a:prstDash val="solid"/>
                      <a:round/>
                      <a:headEnd type="none" w="med" len="med"/>
                      <a:tailEnd type="none" w="med" len="med"/>
                    </a:lnB>
                    <a:solidFill>
                      <a:srgbClr val="1E2A22"/>
                    </a:solidFill>
                  </a:tcPr>
                </a:tc>
                <a:tc>
                  <a:txBody>
                    <a:bodyPr/>
                    <a:lstStyle/>
                    <a:p>
                      <a:pPr marL="0" indent="0" algn="r">
                        <a:buNone/>
                      </a:pPr>
                      <a:r>
                        <a:rPr lang="en-US" sz="1100" b="1" dirty="0">
                          <a:solidFill>
                            <a:srgbClr val="FFFFFF"/>
                          </a:solidFill>
                          <a:latin typeface="Calibri" pitchFamily="34" charset="0"/>
                          <a:ea typeface="Calibri" pitchFamily="34" charset="-122"/>
                          <a:cs typeface="Calibri" pitchFamily="34" charset="-120"/>
                        </a:rPr>
                        <a:t>FY26</a:t>
                      </a:r>
                      <a:endParaRPr lang="en-US" sz="1100" dirty="0">
                        <a:latin typeface="Calibri" charset="0"/>
                        <a:ea typeface="Calibri" charset="0"/>
                        <a:cs typeface="Calibri" charset="0"/>
                      </a:endParaRPr>
                    </a:p>
                  </a:txBody>
                  <a:tcPr marL="63500" marR="63500" marT="38100" marB="38100" anchor="ctr">
                    <a:lnL w="6350" cap="flat" cmpd="sng" algn="ctr">
                      <a:solidFill>
                        <a:srgbClr val="CDD3CB"/>
                      </a:solidFill>
                      <a:prstDash val="solid"/>
                      <a:round/>
                      <a:headEnd type="none" w="med" len="med"/>
                      <a:tailEnd type="none" w="med" len="med"/>
                    </a:lnL>
                    <a:lnR w="6350" cap="flat" cmpd="sng" algn="ctr">
                      <a:solidFill>
                        <a:srgbClr val="CDD3CB"/>
                      </a:solidFill>
                      <a:prstDash val="solid"/>
                      <a:round/>
                      <a:headEnd type="none" w="med" len="med"/>
                      <a:tailEnd type="none" w="med" len="med"/>
                    </a:lnR>
                    <a:lnT w="6350" cap="flat" cmpd="sng" algn="ctr">
                      <a:solidFill>
                        <a:srgbClr val="CDD3CB"/>
                      </a:solidFill>
                      <a:prstDash val="solid"/>
                      <a:round/>
                      <a:headEnd type="none" w="med" len="med"/>
                      <a:tailEnd type="none" w="med" len="med"/>
                    </a:lnT>
                    <a:lnB w="6350" cap="flat" cmpd="sng" algn="ctr">
                      <a:solidFill>
                        <a:srgbClr val="CDD3CB"/>
                      </a:solidFill>
                      <a:prstDash val="solid"/>
                      <a:round/>
                      <a:headEnd type="none" w="med" len="med"/>
                      <a:tailEnd type="none" w="med" len="med"/>
                    </a:lnB>
                    <a:solidFill>
                      <a:srgbClr val="1E2A22"/>
                    </a:solidFill>
                  </a:tcPr>
                </a:tc>
                <a:extLst>
                  <a:ext uri="{0D108BD9-81ED-4DB2-BD59-A6C34878D82A}">
                    <a16:rowId xmlns:a16="http://schemas.microsoft.com/office/drawing/2014/main" val="10000"/>
                  </a:ext>
                </a:extLst>
              </a:tr>
              <a:tr h="266700">
                <a:tc>
                  <a:txBody>
                    <a:bodyPr/>
                    <a:lstStyle/>
                    <a:p>
                      <a:pPr marL="0" indent="0" algn="l">
                        <a:buNone/>
                      </a:pPr>
                      <a:r>
                        <a:rPr lang="en-US" sz="1100" dirty="0">
                          <a:solidFill>
                            <a:srgbClr val="1E2A22"/>
                          </a:solidFill>
                          <a:latin typeface="Calibri" pitchFamily="34" charset="0"/>
                          <a:ea typeface="Calibri" pitchFamily="34" charset="-122"/>
                          <a:cs typeface="Calibri" pitchFamily="34" charset="-120"/>
                        </a:rPr>
                        <a:t>Net profit margin</a:t>
                      </a:r>
                      <a:endParaRPr lang="en-US" sz="1100" dirty="0">
                        <a:latin typeface="Calibri" charset="0"/>
                        <a:ea typeface="Calibri" charset="0"/>
                        <a:cs typeface="Calibri" charset="0"/>
                      </a:endParaRPr>
                    </a:p>
                  </a:txBody>
                  <a:tcPr marL="63500" marR="63500" marT="38100" marB="38100" anchor="ctr">
                    <a:lnL w="6350" cap="flat" cmpd="sng" algn="ctr">
                      <a:solidFill>
                        <a:srgbClr val="CDD3CB"/>
                      </a:solidFill>
                      <a:prstDash val="solid"/>
                      <a:round/>
                      <a:headEnd type="none" w="med" len="med"/>
                      <a:tailEnd type="none" w="med" len="med"/>
                    </a:lnL>
                    <a:lnR w="6350" cap="flat" cmpd="sng" algn="ctr">
                      <a:solidFill>
                        <a:srgbClr val="CDD3CB"/>
                      </a:solidFill>
                      <a:prstDash val="solid"/>
                      <a:round/>
                      <a:headEnd type="none" w="med" len="med"/>
                      <a:tailEnd type="none" w="med" len="med"/>
                    </a:lnR>
                    <a:lnT w="6350" cap="flat" cmpd="sng" algn="ctr">
                      <a:solidFill>
                        <a:srgbClr val="CDD3CB"/>
                      </a:solidFill>
                      <a:prstDash val="solid"/>
                      <a:round/>
                      <a:headEnd type="none" w="med" len="med"/>
                      <a:tailEnd type="none" w="med" len="med"/>
                    </a:lnT>
                    <a:lnB w="6350" cap="flat" cmpd="sng" algn="ctr">
                      <a:solidFill>
                        <a:srgbClr val="CDD3CB"/>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E2A22"/>
                          </a:solidFill>
                          <a:latin typeface="Calibri" pitchFamily="34" charset="0"/>
                          <a:ea typeface="Calibri" pitchFamily="34" charset="-122"/>
                          <a:cs typeface="Calibri" pitchFamily="34" charset="-120"/>
                        </a:rPr>
                        <a:t>16.7%</a:t>
                      </a:r>
                      <a:endParaRPr lang="en-US" sz="1100" dirty="0">
                        <a:latin typeface="Calibri" charset="0"/>
                        <a:ea typeface="Calibri" charset="0"/>
                        <a:cs typeface="Calibri" charset="0"/>
                      </a:endParaRPr>
                    </a:p>
                  </a:txBody>
                  <a:tcPr marL="63500" marR="63500" marT="38100" marB="38100" anchor="ctr">
                    <a:lnL w="6350" cap="flat" cmpd="sng" algn="ctr">
                      <a:solidFill>
                        <a:srgbClr val="CDD3CB"/>
                      </a:solidFill>
                      <a:prstDash val="solid"/>
                      <a:round/>
                      <a:headEnd type="none" w="med" len="med"/>
                      <a:tailEnd type="none" w="med" len="med"/>
                    </a:lnL>
                    <a:lnR w="6350" cap="flat" cmpd="sng" algn="ctr">
                      <a:solidFill>
                        <a:srgbClr val="CDD3CB"/>
                      </a:solidFill>
                      <a:prstDash val="solid"/>
                      <a:round/>
                      <a:headEnd type="none" w="med" len="med"/>
                      <a:tailEnd type="none" w="med" len="med"/>
                    </a:lnR>
                    <a:lnT w="6350" cap="flat" cmpd="sng" algn="ctr">
                      <a:solidFill>
                        <a:srgbClr val="CDD3CB"/>
                      </a:solidFill>
                      <a:prstDash val="solid"/>
                      <a:round/>
                      <a:headEnd type="none" w="med" len="med"/>
                      <a:tailEnd type="none" w="med" len="med"/>
                    </a:lnT>
                    <a:lnB w="6350" cap="flat" cmpd="sng" algn="ctr">
                      <a:solidFill>
                        <a:srgbClr val="CDD3CB"/>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E2A22"/>
                          </a:solidFill>
                          <a:latin typeface="Calibri" pitchFamily="34" charset="0"/>
                          <a:ea typeface="Calibri" pitchFamily="34" charset="-122"/>
                          <a:cs typeface="Calibri" pitchFamily="34" charset="-120"/>
                        </a:rPr>
                        <a:t>16.6%</a:t>
                      </a:r>
                      <a:endParaRPr lang="en-US" sz="1100" dirty="0">
                        <a:latin typeface="Calibri" charset="0"/>
                        <a:ea typeface="Calibri" charset="0"/>
                        <a:cs typeface="Calibri" charset="0"/>
                      </a:endParaRPr>
                    </a:p>
                  </a:txBody>
                  <a:tcPr marL="63500" marR="63500" marT="38100" marB="38100" anchor="ctr">
                    <a:lnL w="6350" cap="flat" cmpd="sng" algn="ctr">
                      <a:solidFill>
                        <a:srgbClr val="CDD3CB"/>
                      </a:solidFill>
                      <a:prstDash val="solid"/>
                      <a:round/>
                      <a:headEnd type="none" w="med" len="med"/>
                      <a:tailEnd type="none" w="med" len="med"/>
                    </a:lnL>
                    <a:lnR w="6350" cap="flat" cmpd="sng" algn="ctr">
                      <a:solidFill>
                        <a:srgbClr val="CDD3CB"/>
                      </a:solidFill>
                      <a:prstDash val="solid"/>
                      <a:round/>
                      <a:headEnd type="none" w="med" len="med"/>
                      <a:tailEnd type="none" w="med" len="med"/>
                    </a:lnR>
                    <a:lnT w="6350" cap="flat" cmpd="sng" algn="ctr">
                      <a:solidFill>
                        <a:srgbClr val="CDD3CB"/>
                      </a:solidFill>
                      <a:prstDash val="solid"/>
                      <a:round/>
                      <a:headEnd type="none" w="med" len="med"/>
                      <a:tailEnd type="none" w="med" len="med"/>
                    </a:lnT>
                    <a:lnB w="6350" cap="flat" cmpd="sng" algn="ctr">
                      <a:solidFill>
                        <a:srgbClr val="CDD3CB"/>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E2A22"/>
                          </a:solidFill>
                          <a:latin typeface="Calibri" pitchFamily="34" charset="0"/>
                          <a:ea typeface="Calibri" pitchFamily="34" charset="-122"/>
                          <a:cs typeface="Calibri" pitchFamily="34" charset="-120"/>
                        </a:rPr>
                        <a:t>17.4%</a:t>
                      </a:r>
                      <a:endParaRPr lang="en-US" sz="1100" dirty="0">
                        <a:latin typeface="Calibri" charset="0"/>
                        <a:ea typeface="Calibri" charset="0"/>
                        <a:cs typeface="Calibri" charset="0"/>
                      </a:endParaRPr>
                    </a:p>
                  </a:txBody>
                  <a:tcPr marL="63500" marR="63500" marT="38100" marB="38100" anchor="ctr">
                    <a:lnL w="6350" cap="flat" cmpd="sng" algn="ctr">
                      <a:solidFill>
                        <a:srgbClr val="CDD3CB"/>
                      </a:solidFill>
                      <a:prstDash val="solid"/>
                      <a:round/>
                      <a:headEnd type="none" w="med" len="med"/>
                      <a:tailEnd type="none" w="med" len="med"/>
                    </a:lnL>
                    <a:lnR w="6350" cap="flat" cmpd="sng" algn="ctr">
                      <a:solidFill>
                        <a:srgbClr val="CDD3CB"/>
                      </a:solidFill>
                      <a:prstDash val="solid"/>
                      <a:round/>
                      <a:headEnd type="none" w="med" len="med"/>
                      <a:tailEnd type="none" w="med" len="med"/>
                    </a:lnR>
                    <a:lnT w="6350" cap="flat" cmpd="sng" algn="ctr">
                      <a:solidFill>
                        <a:srgbClr val="CDD3CB"/>
                      </a:solidFill>
                      <a:prstDash val="solid"/>
                      <a:round/>
                      <a:headEnd type="none" w="med" len="med"/>
                      <a:tailEnd type="none" w="med" len="med"/>
                    </a:lnT>
                    <a:lnB w="6350" cap="flat" cmpd="sng" algn="ctr">
                      <a:solidFill>
                        <a:srgbClr val="CDD3CB"/>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E2A22"/>
                          </a:solidFill>
                          <a:latin typeface="Calibri" pitchFamily="34" charset="0"/>
                          <a:ea typeface="Calibri" pitchFamily="34" charset="-122"/>
                          <a:cs typeface="Calibri" pitchFamily="34" charset="-120"/>
                        </a:rPr>
                        <a:t>23.3%</a:t>
                      </a:r>
                      <a:endParaRPr lang="en-US" sz="1100" dirty="0">
                        <a:latin typeface="Calibri" charset="0"/>
                        <a:ea typeface="Calibri" charset="0"/>
                        <a:cs typeface="Calibri" charset="0"/>
                      </a:endParaRPr>
                    </a:p>
                  </a:txBody>
                  <a:tcPr marL="63500" marR="63500" marT="38100" marB="38100" anchor="ctr">
                    <a:lnL w="6350" cap="flat" cmpd="sng" algn="ctr">
                      <a:solidFill>
                        <a:srgbClr val="CDD3CB"/>
                      </a:solidFill>
                      <a:prstDash val="solid"/>
                      <a:round/>
                      <a:headEnd type="none" w="med" len="med"/>
                      <a:tailEnd type="none" w="med" len="med"/>
                    </a:lnL>
                    <a:lnR w="6350" cap="flat" cmpd="sng" algn="ctr">
                      <a:solidFill>
                        <a:srgbClr val="CDD3CB"/>
                      </a:solidFill>
                      <a:prstDash val="solid"/>
                      <a:round/>
                      <a:headEnd type="none" w="med" len="med"/>
                      <a:tailEnd type="none" w="med" len="med"/>
                    </a:lnR>
                    <a:lnT w="6350" cap="flat" cmpd="sng" algn="ctr">
                      <a:solidFill>
                        <a:srgbClr val="CDD3CB"/>
                      </a:solidFill>
                      <a:prstDash val="solid"/>
                      <a:round/>
                      <a:headEnd type="none" w="med" len="med"/>
                      <a:tailEnd type="none" w="med" len="med"/>
                    </a:lnT>
                    <a:lnB w="6350" cap="flat" cmpd="sng" algn="ctr">
                      <a:solidFill>
                        <a:srgbClr val="CDD3C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66700">
                <a:tc>
                  <a:txBody>
                    <a:bodyPr/>
                    <a:lstStyle/>
                    <a:p>
                      <a:pPr marL="0" indent="0" algn="l">
                        <a:buNone/>
                      </a:pPr>
                      <a:r>
                        <a:rPr lang="en-US" sz="1100" dirty="0">
                          <a:solidFill>
                            <a:srgbClr val="1E2A22"/>
                          </a:solidFill>
                          <a:latin typeface="Calibri" pitchFamily="34" charset="0"/>
                          <a:ea typeface="Calibri" pitchFamily="34" charset="-122"/>
                          <a:cs typeface="Calibri" pitchFamily="34" charset="-120"/>
                        </a:rPr>
                        <a:t>Asset turnover</a:t>
                      </a:r>
                      <a:endParaRPr lang="en-US" sz="1100" dirty="0">
                        <a:latin typeface="Calibri" charset="0"/>
                        <a:ea typeface="Calibri" charset="0"/>
                        <a:cs typeface="Calibri" charset="0"/>
                      </a:endParaRPr>
                    </a:p>
                  </a:txBody>
                  <a:tcPr marL="63500" marR="63500" marT="38100" marB="38100" anchor="ctr">
                    <a:lnL w="6350" cap="flat" cmpd="sng" algn="ctr">
                      <a:solidFill>
                        <a:srgbClr val="CDD3CB"/>
                      </a:solidFill>
                      <a:prstDash val="solid"/>
                      <a:round/>
                      <a:headEnd type="none" w="med" len="med"/>
                      <a:tailEnd type="none" w="med" len="med"/>
                    </a:lnL>
                    <a:lnR w="6350" cap="flat" cmpd="sng" algn="ctr">
                      <a:solidFill>
                        <a:srgbClr val="CDD3CB"/>
                      </a:solidFill>
                      <a:prstDash val="solid"/>
                      <a:round/>
                      <a:headEnd type="none" w="med" len="med"/>
                      <a:tailEnd type="none" w="med" len="med"/>
                    </a:lnR>
                    <a:lnT w="6350" cap="flat" cmpd="sng" algn="ctr">
                      <a:solidFill>
                        <a:srgbClr val="CDD3CB"/>
                      </a:solidFill>
                      <a:prstDash val="solid"/>
                      <a:round/>
                      <a:headEnd type="none" w="med" len="med"/>
                      <a:tailEnd type="none" w="med" len="med"/>
                    </a:lnT>
                    <a:lnB w="6350" cap="flat" cmpd="sng" algn="ctr">
                      <a:solidFill>
                        <a:srgbClr val="CDD3CB"/>
                      </a:solidFill>
                      <a:prstDash val="solid"/>
                      <a:round/>
                      <a:headEnd type="none" w="med" len="med"/>
                      <a:tailEnd type="none" w="med" len="med"/>
                    </a:lnB>
                    <a:solidFill>
                      <a:srgbClr val="E4E8E1"/>
                    </a:solidFill>
                  </a:tcPr>
                </a:tc>
                <a:tc>
                  <a:txBody>
                    <a:bodyPr/>
                    <a:lstStyle/>
                    <a:p>
                      <a:pPr marL="0" indent="0" algn="r">
                        <a:buNone/>
                      </a:pPr>
                      <a:r>
                        <a:rPr lang="en-US" sz="1100" dirty="0">
                          <a:solidFill>
                            <a:srgbClr val="1E2A22"/>
                          </a:solidFill>
                          <a:latin typeface="Calibri" pitchFamily="34" charset="0"/>
                          <a:ea typeface="Calibri" pitchFamily="34" charset="-122"/>
                          <a:cs typeface="Calibri" pitchFamily="34" charset="-120"/>
                        </a:rPr>
                        <a:t>0.83x</a:t>
                      </a:r>
                      <a:endParaRPr lang="en-US" sz="1100" dirty="0">
                        <a:latin typeface="Calibri" charset="0"/>
                        <a:ea typeface="Calibri" charset="0"/>
                        <a:cs typeface="Calibri" charset="0"/>
                      </a:endParaRPr>
                    </a:p>
                  </a:txBody>
                  <a:tcPr marL="63500" marR="63500" marT="38100" marB="38100" anchor="ctr">
                    <a:lnL w="6350" cap="flat" cmpd="sng" algn="ctr">
                      <a:solidFill>
                        <a:srgbClr val="CDD3CB"/>
                      </a:solidFill>
                      <a:prstDash val="solid"/>
                      <a:round/>
                      <a:headEnd type="none" w="med" len="med"/>
                      <a:tailEnd type="none" w="med" len="med"/>
                    </a:lnL>
                    <a:lnR w="6350" cap="flat" cmpd="sng" algn="ctr">
                      <a:solidFill>
                        <a:srgbClr val="CDD3CB"/>
                      </a:solidFill>
                      <a:prstDash val="solid"/>
                      <a:round/>
                      <a:headEnd type="none" w="med" len="med"/>
                      <a:tailEnd type="none" w="med" len="med"/>
                    </a:lnR>
                    <a:lnT w="6350" cap="flat" cmpd="sng" algn="ctr">
                      <a:solidFill>
                        <a:srgbClr val="CDD3CB"/>
                      </a:solidFill>
                      <a:prstDash val="solid"/>
                      <a:round/>
                      <a:headEnd type="none" w="med" len="med"/>
                      <a:tailEnd type="none" w="med" len="med"/>
                    </a:lnT>
                    <a:lnB w="6350" cap="flat" cmpd="sng" algn="ctr">
                      <a:solidFill>
                        <a:srgbClr val="CDD3CB"/>
                      </a:solidFill>
                      <a:prstDash val="solid"/>
                      <a:round/>
                      <a:headEnd type="none" w="med" len="med"/>
                      <a:tailEnd type="none" w="med" len="med"/>
                    </a:lnB>
                    <a:solidFill>
                      <a:srgbClr val="E4E8E1"/>
                    </a:solidFill>
                  </a:tcPr>
                </a:tc>
                <a:tc>
                  <a:txBody>
                    <a:bodyPr/>
                    <a:lstStyle/>
                    <a:p>
                      <a:pPr marL="0" indent="0" algn="r">
                        <a:buNone/>
                      </a:pPr>
                      <a:r>
                        <a:rPr lang="en-US" sz="1100" dirty="0">
                          <a:solidFill>
                            <a:srgbClr val="1E2A22"/>
                          </a:solidFill>
                          <a:latin typeface="Calibri" pitchFamily="34" charset="0"/>
                          <a:ea typeface="Calibri" pitchFamily="34" charset="-122"/>
                          <a:cs typeface="Calibri" pitchFamily="34" charset="-120"/>
                        </a:rPr>
                        <a:t>0.79x</a:t>
                      </a:r>
                      <a:endParaRPr lang="en-US" sz="1100" dirty="0">
                        <a:latin typeface="Calibri" charset="0"/>
                        <a:ea typeface="Calibri" charset="0"/>
                        <a:cs typeface="Calibri" charset="0"/>
                      </a:endParaRPr>
                    </a:p>
                  </a:txBody>
                  <a:tcPr marL="63500" marR="63500" marT="38100" marB="38100" anchor="ctr">
                    <a:lnL w="6350" cap="flat" cmpd="sng" algn="ctr">
                      <a:solidFill>
                        <a:srgbClr val="CDD3CB"/>
                      </a:solidFill>
                      <a:prstDash val="solid"/>
                      <a:round/>
                      <a:headEnd type="none" w="med" len="med"/>
                      <a:tailEnd type="none" w="med" len="med"/>
                    </a:lnL>
                    <a:lnR w="6350" cap="flat" cmpd="sng" algn="ctr">
                      <a:solidFill>
                        <a:srgbClr val="CDD3CB"/>
                      </a:solidFill>
                      <a:prstDash val="solid"/>
                      <a:round/>
                      <a:headEnd type="none" w="med" len="med"/>
                      <a:tailEnd type="none" w="med" len="med"/>
                    </a:lnR>
                    <a:lnT w="6350" cap="flat" cmpd="sng" algn="ctr">
                      <a:solidFill>
                        <a:srgbClr val="CDD3CB"/>
                      </a:solidFill>
                      <a:prstDash val="solid"/>
                      <a:round/>
                      <a:headEnd type="none" w="med" len="med"/>
                      <a:tailEnd type="none" w="med" len="med"/>
                    </a:lnT>
                    <a:lnB w="6350" cap="flat" cmpd="sng" algn="ctr">
                      <a:solidFill>
                        <a:srgbClr val="CDD3CB"/>
                      </a:solidFill>
                      <a:prstDash val="solid"/>
                      <a:round/>
                      <a:headEnd type="none" w="med" len="med"/>
                      <a:tailEnd type="none" w="med" len="med"/>
                    </a:lnB>
                    <a:solidFill>
                      <a:srgbClr val="E4E8E1"/>
                    </a:solidFill>
                  </a:tcPr>
                </a:tc>
                <a:tc>
                  <a:txBody>
                    <a:bodyPr/>
                    <a:lstStyle/>
                    <a:p>
                      <a:pPr marL="0" indent="0" algn="r">
                        <a:buNone/>
                      </a:pPr>
                      <a:r>
                        <a:rPr lang="en-US" sz="1100" dirty="0">
                          <a:solidFill>
                            <a:srgbClr val="1E2A22"/>
                          </a:solidFill>
                          <a:latin typeface="Calibri" pitchFamily="34" charset="0"/>
                          <a:ea typeface="Calibri" pitchFamily="34" charset="-122"/>
                          <a:cs typeface="Calibri" pitchFamily="34" charset="-120"/>
                        </a:rPr>
                        <a:t>0.77x</a:t>
                      </a:r>
                      <a:endParaRPr lang="en-US" sz="1100" dirty="0">
                        <a:latin typeface="Calibri" charset="0"/>
                        <a:ea typeface="Calibri" charset="0"/>
                        <a:cs typeface="Calibri" charset="0"/>
                      </a:endParaRPr>
                    </a:p>
                  </a:txBody>
                  <a:tcPr marL="63500" marR="63500" marT="38100" marB="38100" anchor="ctr">
                    <a:lnL w="6350" cap="flat" cmpd="sng" algn="ctr">
                      <a:solidFill>
                        <a:srgbClr val="CDD3CB"/>
                      </a:solidFill>
                      <a:prstDash val="solid"/>
                      <a:round/>
                      <a:headEnd type="none" w="med" len="med"/>
                      <a:tailEnd type="none" w="med" len="med"/>
                    </a:lnL>
                    <a:lnR w="6350" cap="flat" cmpd="sng" algn="ctr">
                      <a:solidFill>
                        <a:srgbClr val="CDD3CB"/>
                      </a:solidFill>
                      <a:prstDash val="solid"/>
                      <a:round/>
                      <a:headEnd type="none" w="med" len="med"/>
                      <a:tailEnd type="none" w="med" len="med"/>
                    </a:lnR>
                    <a:lnT w="6350" cap="flat" cmpd="sng" algn="ctr">
                      <a:solidFill>
                        <a:srgbClr val="CDD3CB"/>
                      </a:solidFill>
                      <a:prstDash val="solid"/>
                      <a:round/>
                      <a:headEnd type="none" w="med" len="med"/>
                      <a:tailEnd type="none" w="med" len="med"/>
                    </a:lnT>
                    <a:lnB w="6350" cap="flat" cmpd="sng" algn="ctr">
                      <a:solidFill>
                        <a:srgbClr val="CDD3CB"/>
                      </a:solidFill>
                      <a:prstDash val="solid"/>
                      <a:round/>
                      <a:headEnd type="none" w="med" len="med"/>
                      <a:tailEnd type="none" w="med" len="med"/>
                    </a:lnB>
                    <a:solidFill>
                      <a:srgbClr val="E4E8E1"/>
                    </a:solidFill>
                  </a:tcPr>
                </a:tc>
                <a:tc>
                  <a:txBody>
                    <a:bodyPr/>
                    <a:lstStyle/>
                    <a:p>
                      <a:pPr marL="0" indent="0" algn="r">
                        <a:buNone/>
                      </a:pPr>
                      <a:r>
                        <a:rPr lang="en-US" sz="1100" dirty="0">
                          <a:solidFill>
                            <a:srgbClr val="1E2A22"/>
                          </a:solidFill>
                          <a:latin typeface="Calibri" pitchFamily="34" charset="0"/>
                          <a:ea typeface="Calibri" pitchFamily="34" charset="-122"/>
                          <a:cs typeface="Calibri" pitchFamily="34" charset="-120"/>
                        </a:rPr>
                        <a:t>0.81x</a:t>
                      </a:r>
                      <a:endParaRPr lang="en-US" sz="1100" dirty="0">
                        <a:latin typeface="Calibri" charset="0"/>
                        <a:ea typeface="Calibri" charset="0"/>
                        <a:cs typeface="Calibri" charset="0"/>
                      </a:endParaRPr>
                    </a:p>
                  </a:txBody>
                  <a:tcPr marL="63500" marR="63500" marT="38100" marB="38100" anchor="ctr">
                    <a:lnL w="6350" cap="flat" cmpd="sng" algn="ctr">
                      <a:solidFill>
                        <a:srgbClr val="CDD3CB"/>
                      </a:solidFill>
                      <a:prstDash val="solid"/>
                      <a:round/>
                      <a:headEnd type="none" w="med" len="med"/>
                      <a:tailEnd type="none" w="med" len="med"/>
                    </a:lnL>
                    <a:lnR w="6350" cap="flat" cmpd="sng" algn="ctr">
                      <a:solidFill>
                        <a:srgbClr val="CDD3CB"/>
                      </a:solidFill>
                      <a:prstDash val="solid"/>
                      <a:round/>
                      <a:headEnd type="none" w="med" len="med"/>
                      <a:tailEnd type="none" w="med" len="med"/>
                    </a:lnR>
                    <a:lnT w="6350" cap="flat" cmpd="sng" algn="ctr">
                      <a:solidFill>
                        <a:srgbClr val="CDD3CB"/>
                      </a:solidFill>
                      <a:prstDash val="solid"/>
                      <a:round/>
                      <a:headEnd type="none" w="med" len="med"/>
                      <a:tailEnd type="none" w="med" len="med"/>
                    </a:lnT>
                    <a:lnB w="6350" cap="flat" cmpd="sng" algn="ctr">
                      <a:solidFill>
                        <a:srgbClr val="CDD3CB"/>
                      </a:solidFill>
                      <a:prstDash val="solid"/>
                      <a:round/>
                      <a:headEnd type="none" w="med" len="med"/>
                      <a:tailEnd type="none" w="med" len="med"/>
                    </a:lnB>
                    <a:solidFill>
                      <a:srgbClr val="E4E8E1"/>
                    </a:solidFill>
                  </a:tcPr>
                </a:tc>
                <a:extLst>
                  <a:ext uri="{0D108BD9-81ED-4DB2-BD59-A6C34878D82A}">
                    <a16:rowId xmlns:a16="http://schemas.microsoft.com/office/drawing/2014/main" val="10002"/>
                  </a:ext>
                </a:extLst>
              </a:tr>
              <a:tr h="266700">
                <a:tc>
                  <a:txBody>
                    <a:bodyPr/>
                    <a:lstStyle/>
                    <a:p>
                      <a:pPr marL="0" indent="0" algn="l">
                        <a:buNone/>
                      </a:pPr>
                      <a:r>
                        <a:rPr lang="en-US" sz="1100" dirty="0">
                          <a:solidFill>
                            <a:srgbClr val="1E2A22"/>
                          </a:solidFill>
                          <a:latin typeface="Calibri" pitchFamily="34" charset="0"/>
                          <a:ea typeface="Calibri" pitchFamily="34" charset="-122"/>
                          <a:cs typeface="Calibri" pitchFamily="34" charset="-120"/>
                        </a:rPr>
                        <a:t>Equity multiplier</a:t>
                      </a:r>
                      <a:endParaRPr lang="en-US" sz="1100" dirty="0">
                        <a:latin typeface="Calibri" charset="0"/>
                        <a:ea typeface="Calibri" charset="0"/>
                        <a:cs typeface="Calibri" charset="0"/>
                      </a:endParaRPr>
                    </a:p>
                  </a:txBody>
                  <a:tcPr marL="63500" marR="63500" marT="38100" marB="38100" anchor="ctr">
                    <a:lnL w="6350" cap="flat" cmpd="sng" algn="ctr">
                      <a:solidFill>
                        <a:srgbClr val="CDD3CB"/>
                      </a:solidFill>
                      <a:prstDash val="solid"/>
                      <a:round/>
                      <a:headEnd type="none" w="med" len="med"/>
                      <a:tailEnd type="none" w="med" len="med"/>
                    </a:lnL>
                    <a:lnR w="6350" cap="flat" cmpd="sng" algn="ctr">
                      <a:solidFill>
                        <a:srgbClr val="CDD3CB"/>
                      </a:solidFill>
                      <a:prstDash val="solid"/>
                      <a:round/>
                      <a:headEnd type="none" w="med" len="med"/>
                      <a:tailEnd type="none" w="med" len="med"/>
                    </a:lnR>
                    <a:lnT w="6350" cap="flat" cmpd="sng" algn="ctr">
                      <a:solidFill>
                        <a:srgbClr val="CDD3CB"/>
                      </a:solidFill>
                      <a:prstDash val="solid"/>
                      <a:round/>
                      <a:headEnd type="none" w="med" len="med"/>
                      <a:tailEnd type="none" w="med" len="med"/>
                    </a:lnT>
                    <a:lnB w="6350" cap="flat" cmpd="sng" algn="ctr">
                      <a:solidFill>
                        <a:srgbClr val="CDD3CB"/>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E2A22"/>
                          </a:solidFill>
                          <a:latin typeface="Calibri" pitchFamily="34" charset="0"/>
                          <a:ea typeface="Calibri" pitchFamily="34" charset="-122"/>
                          <a:cs typeface="Calibri" pitchFamily="34" charset="-120"/>
                        </a:rPr>
                        <a:t>1.45x</a:t>
                      </a:r>
                      <a:endParaRPr lang="en-US" sz="1100" dirty="0">
                        <a:latin typeface="Calibri" charset="0"/>
                        <a:ea typeface="Calibri" charset="0"/>
                        <a:cs typeface="Calibri" charset="0"/>
                      </a:endParaRPr>
                    </a:p>
                  </a:txBody>
                  <a:tcPr marL="63500" marR="63500" marT="38100" marB="38100" anchor="ctr">
                    <a:lnL w="6350" cap="flat" cmpd="sng" algn="ctr">
                      <a:solidFill>
                        <a:srgbClr val="CDD3CB"/>
                      </a:solidFill>
                      <a:prstDash val="solid"/>
                      <a:round/>
                      <a:headEnd type="none" w="med" len="med"/>
                      <a:tailEnd type="none" w="med" len="med"/>
                    </a:lnL>
                    <a:lnR w="6350" cap="flat" cmpd="sng" algn="ctr">
                      <a:solidFill>
                        <a:srgbClr val="CDD3CB"/>
                      </a:solidFill>
                      <a:prstDash val="solid"/>
                      <a:round/>
                      <a:headEnd type="none" w="med" len="med"/>
                      <a:tailEnd type="none" w="med" len="med"/>
                    </a:lnR>
                    <a:lnT w="6350" cap="flat" cmpd="sng" algn="ctr">
                      <a:solidFill>
                        <a:srgbClr val="CDD3CB"/>
                      </a:solidFill>
                      <a:prstDash val="solid"/>
                      <a:round/>
                      <a:headEnd type="none" w="med" len="med"/>
                      <a:tailEnd type="none" w="med" len="med"/>
                    </a:lnT>
                    <a:lnB w="6350" cap="flat" cmpd="sng" algn="ctr">
                      <a:solidFill>
                        <a:srgbClr val="CDD3CB"/>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E2A22"/>
                          </a:solidFill>
                          <a:latin typeface="Calibri" pitchFamily="34" charset="0"/>
                          <a:ea typeface="Calibri" pitchFamily="34" charset="-122"/>
                          <a:cs typeface="Calibri" pitchFamily="34" charset="-120"/>
                        </a:rPr>
                        <a:t>1.53x</a:t>
                      </a:r>
                      <a:endParaRPr lang="en-US" sz="1100" dirty="0">
                        <a:latin typeface="Calibri" charset="0"/>
                        <a:ea typeface="Calibri" charset="0"/>
                        <a:cs typeface="Calibri" charset="0"/>
                      </a:endParaRPr>
                    </a:p>
                  </a:txBody>
                  <a:tcPr marL="63500" marR="63500" marT="38100" marB="38100" anchor="ctr">
                    <a:lnL w="6350" cap="flat" cmpd="sng" algn="ctr">
                      <a:solidFill>
                        <a:srgbClr val="CDD3CB"/>
                      </a:solidFill>
                      <a:prstDash val="solid"/>
                      <a:round/>
                      <a:headEnd type="none" w="med" len="med"/>
                      <a:tailEnd type="none" w="med" len="med"/>
                    </a:lnL>
                    <a:lnR w="6350" cap="flat" cmpd="sng" algn="ctr">
                      <a:solidFill>
                        <a:srgbClr val="CDD3CB"/>
                      </a:solidFill>
                      <a:prstDash val="solid"/>
                      <a:round/>
                      <a:headEnd type="none" w="med" len="med"/>
                      <a:tailEnd type="none" w="med" len="med"/>
                    </a:lnR>
                    <a:lnT w="6350" cap="flat" cmpd="sng" algn="ctr">
                      <a:solidFill>
                        <a:srgbClr val="CDD3CB"/>
                      </a:solidFill>
                      <a:prstDash val="solid"/>
                      <a:round/>
                      <a:headEnd type="none" w="med" len="med"/>
                      <a:tailEnd type="none" w="med" len="med"/>
                    </a:lnT>
                    <a:lnB w="6350" cap="flat" cmpd="sng" algn="ctr">
                      <a:solidFill>
                        <a:srgbClr val="CDD3CB"/>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E2A22"/>
                          </a:solidFill>
                          <a:latin typeface="Calibri" pitchFamily="34" charset="0"/>
                          <a:ea typeface="Calibri" pitchFamily="34" charset="-122"/>
                          <a:cs typeface="Calibri" pitchFamily="34" charset="-120"/>
                        </a:rPr>
                        <a:t>1.62x</a:t>
                      </a:r>
                      <a:endParaRPr lang="en-US" sz="1100" dirty="0">
                        <a:latin typeface="Calibri" charset="0"/>
                        <a:ea typeface="Calibri" charset="0"/>
                        <a:cs typeface="Calibri" charset="0"/>
                      </a:endParaRPr>
                    </a:p>
                  </a:txBody>
                  <a:tcPr marL="63500" marR="63500" marT="38100" marB="38100" anchor="ctr">
                    <a:lnL w="6350" cap="flat" cmpd="sng" algn="ctr">
                      <a:solidFill>
                        <a:srgbClr val="CDD3CB"/>
                      </a:solidFill>
                      <a:prstDash val="solid"/>
                      <a:round/>
                      <a:headEnd type="none" w="med" len="med"/>
                      <a:tailEnd type="none" w="med" len="med"/>
                    </a:lnL>
                    <a:lnR w="6350" cap="flat" cmpd="sng" algn="ctr">
                      <a:solidFill>
                        <a:srgbClr val="CDD3CB"/>
                      </a:solidFill>
                      <a:prstDash val="solid"/>
                      <a:round/>
                      <a:headEnd type="none" w="med" len="med"/>
                      <a:tailEnd type="none" w="med" len="med"/>
                    </a:lnR>
                    <a:lnT w="6350" cap="flat" cmpd="sng" algn="ctr">
                      <a:solidFill>
                        <a:srgbClr val="CDD3CB"/>
                      </a:solidFill>
                      <a:prstDash val="solid"/>
                      <a:round/>
                      <a:headEnd type="none" w="med" len="med"/>
                      <a:tailEnd type="none" w="med" len="med"/>
                    </a:lnT>
                    <a:lnB w="6350" cap="flat" cmpd="sng" algn="ctr">
                      <a:solidFill>
                        <a:srgbClr val="CDD3CB"/>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E2A22"/>
                          </a:solidFill>
                          <a:latin typeface="Calibri" pitchFamily="34" charset="0"/>
                          <a:ea typeface="Calibri" pitchFamily="34" charset="-122"/>
                          <a:cs typeface="Calibri" pitchFamily="34" charset="-120"/>
                        </a:rPr>
                        <a:t>1.64x</a:t>
                      </a:r>
                      <a:endParaRPr lang="en-US" sz="1100" dirty="0">
                        <a:latin typeface="Calibri" charset="0"/>
                        <a:ea typeface="Calibri" charset="0"/>
                        <a:cs typeface="Calibri" charset="0"/>
                      </a:endParaRPr>
                    </a:p>
                  </a:txBody>
                  <a:tcPr marL="63500" marR="63500" marT="38100" marB="38100" anchor="ctr">
                    <a:lnL w="6350" cap="flat" cmpd="sng" algn="ctr">
                      <a:solidFill>
                        <a:srgbClr val="CDD3CB"/>
                      </a:solidFill>
                      <a:prstDash val="solid"/>
                      <a:round/>
                      <a:headEnd type="none" w="med" len="med"/>
                      <a:tailEnd type="none" w="med" len="med"/>
                    </a:lnL>
                    <a:lnR w="6350" cap="flat" cmpd="sng" algn="ctr">
                      <a:solidFill>
                        <a:srgbClr val="CDD3CB"/>
                      </a:solidFill>
                      <a:prstDash val="solid"/>
                      <a:round/>
                      <a:headEnd type="none" w="med" len="med"/>
                      <a:tailEnd type="none" w="med" len="med"/>
                    </a:lnR>
                    <a:lnT w="6350" cap="flat" cmpd="sng" algn="ctr">
                      <a:solidFill>
                        <a:srgbClr val="CDD3CB"/>
                      </a:solidFill>
                      <a:prstDash val="solid"/>
                      <a:round/>
                      <a:headEnd type="none" w="med" len="med"/>
                      <a:tailEnd type="none" w="med" len="med"/>
                    </a:lnT>
                    <a:lnB w="6350" cap="flat" cmpd="sng" algn="ctr">
                      <a:solidFill>
                        <a:srgbClr val="CDD3C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66700">
                <a:tc>
                  <a:txBody>
                    <a:bodyPr/>
                    <a:lstStyle/>
                    <a:p>
                      <a:pPr marL="0" indent="0" algn="l">
                        <a:buNone/>
                      </a:pPr>
                      <a:r>
                        <a:rPr lang="en-US" sz="1100" b="1" dirty="0">
                          <a:solidFill>
                            <a:srgbClr val="1E2A22"/>
                          </a:solidFill>
                          <a:latin typeface="Calibri" pitchFamily="34" charset="0"/>
                          <a:ea typeface="Calibri" pitchFamily="34" charset="-122"/>
                          <a:cs typeface="Calibri" pitchFamily="34" charset="-120"/>
                        </a:rPr>
                        <a:t>ROE — computed (product)</a:t>
                      </a:r>
                      <a:endParaRPr lang="en-US" sz="1100" dirty="0">
                        <a:latin typeface="Calibri" charset="0"/>
                        <a:ea typeface="Calibri" charset="0"/>
                        <a:cs typeface="Calibri" charset="0"/>
                      </a:endParaRPr>
                    </a:p>
                  </a:txBody>
                  <a:tcPr marL="63500" marR="63500" marT="38100" marB="38100" anchor="ctr">
                    <a:lnL w="6350" cap="flat" cmpd="sng" algn="ctr">
                      <a:solidFill>
                        <a:srgbClr val="CDD3CB"/>
                      </a:solidFill>
                      <a:prstDash val="solid"/>
                      <a:round/>
                      <a:headEnd type="none" w="med" len="med"/>
                      <a:tailEnd type="none" w="med" len="med"/>
                    </a:lnL>
                    <a:lnR w="6350" cap="flat" cmpd="sng" algn="ctr">
                      <a:solidFill>
                        <a:srgbClr val="CDD3CB"/>
                      </a:solidFill>
                      <a:prstDash val="solid"/>
                      <a:round/>
                      <a:headEnd type="none" w="med" len="med"/>
                      <a:tailEnd type="none" w="med" len="med"/>
                    </a:lnR>
                    <a:lnT w="6350" cap="flat" cmpd="sng" algn="ctr">
                      <a:solidFill>
                        <a:srgbClr val="CDD3CB"/>
                      </a:solidFill>
                      <a:prstDash val="solid"/>
                      <a:round/>
                      <a:headEnd type="none" w="med" len="med"/>
                      <a:tailEnd type="none" w="med" len="med"/>
                    </a:lnT>
                    <a:lnB w="6350" cap="flat" cmpd="sng" algn="ctr">
                      <a:solidFill>
                        <a:srgbClr val="CDD3CB"/>
                      </a:solidFill>
                      <a:prstDash val="solid"/>
                      <a:round/>
                      <a:headEnd type="none" w="med" len="med"/>
                      <a:tailEnd type="none" w="med" len="med"/>
                    </a:lnB>
                    <a:solidFill>
                      <a:srgbClr val="E4E8E1"/>
                    </a:solidFill>
                  </a:tcPr>
                </a:tc>
                <a:tc>
                  <a:txBody>
                    <a:bodyPr/>
                    <a:lstStyle/>
                    <a:p>
                      <a:pPr marL="0" indent="0" algn="r">
                        <a:buNone/>
                      </a:pPr>
                      <a:r>
                        <a:rPr lang="en-US" sz="1100" b="1" dirty="0">
                          <a:solidFill>
                            <a:srgbClr val="1E2A22"/>
                          </a:solidFill>
                          <a:latin typeface="Calibri" pitchFamily="34" charset="0"/>
                          <a:ea typeface="Calibri" pitchFamily="34" charset="-122"/>
                          <a:cs typeface="Calibri" pitchFamily="34" charset="-120"/>
                        </a:rPr>
                        <a:t>20.1%</a:t>
                      </a:r>
                      <a:endParaRPr lang="en-US" sz="1100" dirty="0">
                        <a:latin typeface="Calibri" charset="0"/>
                        <a:ea typeface="Calibri" charset="0"/>
                        <a:cs typeface="Calibri" charset="0"/>
                      </a:endParaRPr>
                    </a:p>
                  </a:txBody>
                  <a:tcPr marL="63500" marR="63500" marT="38100" marB="38100" anchor="ctr">
                    <a:lnL w="6350" cap="flat" cmpd="sng" algn="ctr">
                      <a:solidFill>
                        <a:srgbClr val="CDD3CB"/>
                      </a:solidFill>
                      <a:prstDash val="solid"/>
                      <a:round/>
                      <a:headEnd type="none" w="med" len="med"/>
                      <a:tailEnd type="none" w="med" len="med"/>
                    </a:lnL>
                    <a:lnR w="6350" cap="flat" cmpd="sng" algn="ctr">
                      <a:solidFill>
                        <a:srgbClr val="CDD3CB"/>
                      </a:solidFill>
                      <a:prstDash val="solid"/>
                      <a:round/>
                      <a:headEnd type="none" w="med" len="med"/>
                      <a:tailEnd type="none" w="med" len="med"/>
                    </a:lnR>
                    <a:lnT w="6350" cap="flat" cmpd="sng" algn="ctr">
                      <a:solidFill>
                        <a:srgbClr val="CDD3CB"/>
                      </a:solidFill>
                      <a:prstDash val="solid"/>
                      <a:round/>
                      <a:headEnd type="none" w="med" len="med"/>
                      <a:tailEnd type="none" w="med" len="med"/>
                    </a:lnT>
                    <a:lnB w="6350" cap="flat" cmpd="sng" algn="ctr">
                      <a:solidFill>
                        <a:srgbClr val="CDD3CB"/>
                      </a:solidFill>
                      <a:prstDash val="solid"/>
                      <a:round/>
                      <a:headEnd type="none" w="med" len="med"/>
                      <a:tailEnd type="none" w="med" len="med"/>
                    </a:lnB>
                    <a:solidFill>
                      <a:srgbClr val="E4E8E1"/>
                    </a:solidFill>
                  </a:tcPr>
                </a:tc>
                <a:tc>
                  <a:txBody>
                    <a:bodyPr/>
                    <a:lstStyle/>
                    <a:p>
                      <a:pPr marL="0" indent="0" algn="r">
                        <a:buNone/>
                      </a:pPr>
                      <a:r>
                        <a:rPr lang="en-US" sz="1100" b="1" dirty="0">
                          <a:solidFill>
                            <a:srgbClr val="1E2A22"/>
                          </a:solidFill>
                          <a:latin typeface="Calibri" pitchFamily="34" charset="0"/>
                          <a:ea typeface="Calibri" pitchFamily="34" charset="-122"/>
                          <a:cs typeface="Calibri" pitchFamily="34" charset="-120"/>
                        </a:rPr>
                        <a:t>20.1%</a:t>
                      </a:r>
                      <a:endParaRPr lang="en-US" sz="1100" dirty="0">
                        <a:latin typeface="Calibri" charset="0"/>
                        <a:ea typeface="Calibri" charset="0"/>
                        <a:cs typeface="Calibri" charset="0"/>
                      </a:endParaRPr>
                    </a:p>
                  </a:txBody>
                  <a:tcPr marL="63500" marR="63500" marT="38100" marB="38100" anchor="ctr">
                    <a:lnL w="6350" cap="flat" cmpd="sng" algn="ctr">
                      <a:solidFill>
                        <a:srgbClr val="CDD3CB"/>
                      </a:solidFill>
                      <a:prstDash val="solid"/>
                      <a:round/>
                      <a:headEnd type="none" w="med" len="med"/>
                      <a:tailEnd type="none" w="med" len="med"/>
                    </a:lnL>
                    <a:lnR w="6350" cap="flat" cmpd="sng" algn="ctr">
                      <a:solidFill>
                        <a:srgbClr val="CDD3CB"/>
                      </a:solidFill>
                      <a:prstDash val="solid"/>
                      <a:round/>
                      <a:headEnd type="none" w="med" len="med"/>
                      <a:tailEnd type="none" w="med" len="med"/>
                    </a:lnR>
                    <a:lnT w="6350" cap="flat" cmpd="sng" algn="ctr">
                      <a:solidFill>
                        <a:srgbClr val="CDD3CB"/>
                      </a:solidFill>
                      <a:prstDash val="solid"/>
                      <a:round/>
                      <a:headEnd type="none" w="med" len="med"/>
                      <a:tailEnd type="none" w="med" len="med"/>
                    </a:lnT>
                    <a:lnB w="6350" cap="flat" cmpd="sng" algn="ctr">
                      <a:solidFill>
                        <a:srgbClr val="CDD3CB"/>
                      </a:solidFill>
                      <a:prstDash val="solid"/>
                      <a:round/>
                      <a:headEnd type="none" w="med" len="med"/>
                      <a:tailEnd type="none" w="med" len="med"/>
                    </a:lnB>
                    <a:solidFill>
                      <a:srgbClr val="E4E8E1"/>
                    </a:solidFill>
                  </a:tcPr>
                </a:tc>
                <a:tc>
                  <a:txBody>
                    <a:bodyPr/>
                    <a:lstStyle/>
                    <a:p>
                      <a:pPr marL="0" indent="0" algn="r">
                        <a:buNone/>
                      </a:pPr>
                      <a:r>
                        <a:rPr lang="en-US" sz="1100" b="1" dirty="0">
                          <a:solidFill>
                            <a:srgbClr val="1E2A22"/>
                          </a:solidFill>
                          <a:latin typeface="Calibri" pitchFamily="34" charset="0"/>
                          <a:ea typeface="Calibri" pitchFamily="34" charset="-122"/>
                          <a:cs typeface="Calibri" pitchFamily="34" charset="-120"/>
                        </a:rPr>
                        <a:t>21.6%</a:t>
                      </a:r>
                      <a:endParaRPr lang="en-US" sz="1100" dirty="0">
                        <a:latin typeface="Calibri" charset="0"/>
                        <a:ea typeface="Calibri" charset="0"/>
                        <a:cs typeface="Calibri" charset="0"/>
                      </a:endParaRPr>
                    </a:p>
                  </a:txBody>
                  <a:tcPr marL="63500" marR="63500" marT="38100" marB="38100" anchor="ctr">
                    <a:lnL w="6350" cap="flat" cmpd="sng" algn="ctr">
                      <a:solidFill>
                        <a:srgbClr val="CDD3CB"/>
                      </a:solidFill>
                      <a:prstDash val="solid"/>
                      <a:round/>
                      <a:headEnd type="none" w="med" len="med"/>
                      <a:tailEnd type="none" w="med" len="med"/>
                    </a:lnL>
                    <a:lnR w="6350" cap="flat" cmpd="sng" algn="ctr">
                      <a:solidFill>
                        <a:srgbClr val="CDD3CB"/>
                      </a:solidFill>
                      <a:prstDash val="solid"/>
                      <a:round/>
                      <a:headEnd type="none" w="med" len="med"/>
                      <a:tailEnd type="none" w="med" len="med"/>
                    </a:lnR>
                    <a:lnT w="6350" cap="flat" cmpd="sng" algn="ctr">
                      <a:solidFill>
                        <a:srgbClr val="CDD3CB"/>
                      </a:solidFill>
                      <a:prstDash val="solid"/>
                      <a:round/>
                      <a:headEnd type="none" w="med" len="med"/>
                      <a:tailEnd type="none" w="med" len="med"/>
                    </a:lnT>
                    <a:lnB w="6350" cap="flat" cmpd="sng" algn="ctr">
                      <a:solidFill>
                        <a:srgbClr val="CDD3CB"/>
                      </a:solidFill>
                      <a:prstDash val="solid"/>
                      <a:round/>
                      <a:headEnd type="none" w="med" len="med"/>
                      <a:tailEnd type="none" w="med" len="med"/>
                    </a:lnB>
                    <a:solidFill>
                      <a:srgbClr val="E4E8E1"/>
                    </a:solidFill>
                  </a:tcPr>
                </a:tc>
                <a:tc>
                  <a:txBody>
                    <a:bodyPr/>
                    <a:lstStyle/>
                    <a:p>
                      <a:pPr marL="0" indent="0" algn="r">
                        <a:buNone/>
                      </a:pPr>
                      <a:r>
                        <a:rPr lang="en-US" sz="1100" b="1" dirty="0">
                          <a:solidFill>
                            <a:srgbClr val="1E2A22"/>
                          </a:solidFill>
                          <a:latin typeface="Calibri" pitchFamily="34" charset="0"/>
                          <a:ea typeface="Calibri" pitchFamily="34" charset="-122"/>
                          <a:cs typeface="Calibri" pitchFamily="34" charset="-120"/>
                        </a:rPr>
                        <a:t>30.9%</a:t>
                      </a:r>
                      <a:endParaRPr lang="en-US" sz="1100" dirty="0">
                        <a:latin typeface="Calibri" charset="0"/>
                        <a:ea typeface="Calibri" charset="0"/>
                        <a:cs typeface="Calibri" charset="0"/>
                      </a:endParaRPr>
                    </a:p>
                  </a:txBody>
                  <a:tcPr marL="63500" marR="63500" marT="38100" marB="38100" anchor="ctr">
                    <a:lnL w="6350" cap="flat" cmpd="sng" algn="ctr">
                      <a:solidFill>
                        <a:srgbClr val="CDD3CB"/>
                      </a:solidFill>
                      <a:prstDash val="solid"/>
                      <a:round/>
                      <a:headEnd type="none" w="med" len="med"/>
                      <a:tailEnd type="none" w="med" len="med"/>
                    </a:lnL>
                    <a:lnR w="6350" cap="flat" cmpd="sng" algn="ctr">
                      <a:solidFill>
                        <a:srgbClr val="CDD3CB"/>
                      </a:solidFill>
                      <a:prstDash val="solid"/>
                      <a:round/>
                      <a:headEnd type="none" w="med" len="med"/>
                      <a:tailEnd type="none" w="med" len="med"/>
                    </a:lnR>
                    <a:lnT w="6350" cap="flat" cmpd="sng" algn="ctr">
                      <a:solidFill>
                        <a:srgbClr val="CDD3CB"/>
                      </a:solidFill>
                      <a:prstDash val="solid"/>
                      <a:round/>
                      <a:headEnd type="none" w="med" len="med"/>
                      <a:tailEnd type="none" w="med" len="med"/>
                    </a:lnT>
                    <a:lnB w="6350" cap="flat" cmpd="sng" algn="ctr">
                      <a:solidFill>
                        <a:srgbClr val="CDD3CB"/>
                      </a:solidFill>
                      <a:prstDash val="solid"/>
                      <a:round/>
                      <a:headEnd type="none" w="med" len="med"/>
                      <a:tailEnd type="none" w="med" len="med"/>
                    </a:lnB>
                    <a:solidFill>
                      <a:srgbClr val="E4E8E1"/>
                    </a:solidFill>
                  </a:tcPr>
                </a:tc>
                <a:extLst>
                  <a:ext uri="{0D108BD9-81ED-4DB2-BD59-A6C34878D82A}">
                    <a16:rowId xmlns:a16="http://schemas.microsoft.com/office/drawing/2014/main" val="10004"/>
                  </a:ext>
                </a:extLst>
              </a:tr>
            </a:tbl>
          </a:graphicData>
        </a:graphic>
      </p:graphicFrame>
      <p:sp>
        <p:nvSpPr>
          <p:cNvPr id="19" name="Text 13"/>
          <p:cNvSpPr/>
          <p:nvPr/>
        </p:nvSpPr>
        <p:spPr>
          <a:xfrm>
            <a:off x="6108192" y="3749040"/>
            <a:ext cx="5577840" cy="1051560"/>
          </a:xfrm>
          <a:prstGeom prst="rect">
            <a:avLst/>
          </a:prstGeom>
          <a:noFill/>
          <a:ln/>
        </p:spPr>
        <p:txBody>
          <a:bodyPr wrap="square" rtlCol="0" anchor="ctr"/>
          <a:lstStyle/>
          <a:p>
            <a:pPr marL="0" indent="0">
              <a:lnSpc>
                <a:spcPts val="1350"/>
              </a:lnSpc>
              <a:buNone/>
            </a:pPr>
            <a:r>
              <a:rPr lang="en-US" sz="1200" dirty="0">
                <a:solidFill>
                  <a:srgbClr val="1E2A22"/>
                </a:solidFill>
                <a:latin typeface="Calibri" pitchFamily="34" charset="0"/>
                <a:ea typeface="Calibri" pitchFamily="34" charset="-122"/>
                <a:cs typeface="Calibri" pitchFamily="34" charset="-120"/>
              </a:rPr>
              <a:t>Since FY2023, net margin has done the work — 16.7% → 23.3% — lifting ROE from 20.4% to 30.6% while leverage stayed low and even ticked up slightly (equity multiplier 1.45x → 1.64x). This follows the FY2021 GSK merger, which had already pulled the equity multiplier down from 2.33x (FY2017) to about 1.44x by adding equity and assets faster than profit — a capital-structure effect, not a profitability collapse.</a:t>
            </a:r>
            <a:endParaRPr lang="en-US" sz="1200" dirty="0"/>
          </a:p>
        </p:txBody>
      </p:sp>
      <p:graphicFrame>
        <p:nvGraphicFramePr>
          <p:cNvPr id="20" name="Chart 0"/>
          <p:cNvGraphicFramePr/>
          <p:nvPr>
            <p:extLst>
              <p:ext uri="{D42A27DB-BD31-4B8C-83A1-F6EECF244321}">
                <p14:modId xmlns:p14="http://schemas.microsoft.com/office/powerpoint/2010/main" val="3178598404"/>
              </p:ext>
            </p:extLst>
          </p:nvPr>
        </p:nvGraphicFramePr>
        <p:xfrm>
          <a:off x="6108192" y="4846319"/>
          <a:ext cx="5577840" cy="1546167"/>
        </p:xfrm>
        <a:graphic>
          <a:graphicData uri="http://schemas.openxmlformats.org/drawingml/2006/chart">
            <c:chart xmlns:c="http://schemas.openxmlformats.org/drawingml/2006/chart" xmlns:r="http://schemas.openxmlformats.org/officeDocument/2006/relationships" r:id="rId3"/>
          </a:graphicData>
        </a:graphic>
      </p:graphicFrame>
      <p:sp>
        <p:nvSpPr>
          <p:cNvPr id="23" name="Text 16"/>
          <p:cNvSpPr/>
          <p:nvPr/>
        </p:nvSpPr>
        <p:spPr>
          <a:xfrm>
            <a:off x="11231575" y="6473952"/>
            <a:ext cx="457200" cy="274320"/>
          </a:xfrm>
          <a:prstGeom prst="rect">
            <a:avLst/>
          </a:prstGeom>
          <a:noFill/>
          <a:ln/>
        </p:spPr>
        <p:txBody>
          <a:bodyPr wrap="square" rtlCol="0" anchor="ctr"/>
          <a:lstStyle/>
          <a:p>
            <a:pPr marL="0" indent="0" algn="r">
              <a:buNone/>
            </a:pPr>
            <a:r>
              <a:rPr lang="en-US" sz="850" dirty="0">
                <a:solidFill>
                  <a:srgbClr val="5B6058"/>
                </a:solidFill>
                <a:latin typeface="Calibri" pitchFamily="34" charset="0"/>
                <a:ea typeface="Calibri" pitchFamily="34" charset="-122"/>
                <a:cs typeface="Calibri" pitchFamily="34" charset="-120"/>
              </a:rPr>
              <a:t>6</a:t>
            </a:r>
            <a:endParaRPr lang="en-US" sz="8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65760"/>
            <a:ext cx="9144000" cy="256032"/>
          </a:xfrm>
          <a:prstGeom prst="rect">
            <a:avLst/>
          </a:prstGeom>
          <a:noFill/>
          <a:ln/>
        </p:spPr>
        <p:txBody>
          <a:bodyPr wrap="square" rtlCol="0" anchor="ctr"/>
          <a:lstStyle/>
          <a:p>
            <a:pPr marL="0" indent="0">
              <a:buNone/>
            </a:pPr>
            <a:r>
              <a:rPr lang="en-US" sz="1050" b="1" kern="0" spc="200" dirty="0">
                <a:solidFill>
                  <a:srgbClr val="AA5A34"/>
                </a:solidFill>
                <a:latin typeface="Calibri" pitchFamily="34" charset="0"/>
                <a:ea typeface="Calibri" pitchFamily="34" charset="-122"/>
                <a:cs typeface="Calibri" pitchFamily="34" charset="-120"/>
              </a:rPr>
              <a:t>RISK ASSESSMENT</a:t>
            </a:r>
            <a:endParaRPr lang="en-US" sz="1050" dirty="0"/>
          </a:p>
        </p:txBody>
      </p:sp>
      <p:sp>
        <p:nvSpPr>
          <p:cNvPr id="3" name="Text 1"/>
          <p:cNvSpPr/>
          <p:nvPr/>
        </p:nvSpPr>
        <p:spPr>
          <a:xfrm>
            <a:off x="502920" y="621792"/>
            <a:ext cx="10607040" cy="566928"/>
          </a:xfrm>
          <a:prstGeom prst="rect">
            <a:avLst/>
          </a:prstGeom>
          <a:noFill/>
          <a:ln/>
        </p:spPr>
        <p:txBody>
          <a:bodyPr wrap="square" rtlCol="0" anchor="ctr"/>
          <a:lstStyle/>
          <a:p>
            <a:pPr marL="0" indent="0">
              <a:lnSpc>
                <a:spcPts val="2600"/>
              </a:lnSpc>
              <a:buNone/>
            </a:pPr>
            <a:r>
              <a:rPr lang="en-US" sz="2200" b="1" dirty="0">
                <a:solidFill>
                  <a:srgbClr val="1E2A22"/>
                </a:solidFill>
                <a:latin typeface="Georgia" pitchFamily="34" charset="0"/>
                <a:ea typeface="Georgia" pitchFamily="34" charset="-122"/>
                <a:cs typeface="Georgia" pitchFamily="34" charset="-120"/>
              </a:rPr>
              <a:t>No Statistical Evidence of Distress or Earnings Manipulation</a:t>
            </a:r>
            <a:endParaRPr lang="en-US" sz="2200" dirty="0"/>
          </a:p>
        </p:txBody>
      </p:sp>
      <p:sp>
        <p:nvSpPr>
          <p:cNvPr id="4" name="Text 2"/>
          <p:cNvSpPr/>
          <p:nvPr/>
        </p:nvSpPr>
        <p:spPr>
          <a:xfrm>
            <a:off x="502920" y="1417320"/>
            <a:ext cx="5394960" cy="822960"/>
          </a:xfrm>
          <a:prstGeom prst="rect">
            <a:avLst/>
          </a:prstGeom>
          <a:noFill/>
          <a:ln/>
        </p:spPr>
        <p:txBody>
          <a:bodyPr wrap="square" rtlCol="0" anchor="ctr"/>
          <a:lstStyle/>
          <a:p>
            <a:pPr marL="0" indent="0">
              <a:buNone/>
            </a:pPr>
            <a:r>
              <a:rPr lang="en-US" sz="3000" b="1" dirty="0">
                <a:solidFill>
                  <a:srgbClr val="1E2A22"/>
                </a:solidFill>
                <a:latin typeface="Georgia" pitchFamily="34" charset="0"/>
                <a:ea typeface="Georgia" pitchFamily="34" charset="-122"/>
                <a:cs typeface="Georgia" pitchFamily="34" charset="-120"/>
              </a:rPr>
              <a:t>6.1</a:t>
            </a:r>
            <a:endParaRPr lang="en-US" sz="3000" dirty="0"/>
          </a:p>
          <a:p>
            <a:pPr marL="0" indent="0">
              <a:buNone/>
            </a:pPr>
            <a:r>
              <a:rPr lang="en-US" sz="1050" dirty="0">
                <a:solidFill>
                  <a:srgbClr val="5B6058"/>
                </a:solidFill>
                <a:latin typeface="Calibri" pitchFamily="34" charset="0"/>
                <a:ea typeface="Calibri" pitchFamily="34" charset="-122"/>
                <a:cs typeface="Calibri" pitchFamily="34" charset="-120"/>
              </a:rPr>
              <a:t>FY2026 Altman Z-Score (safe zone: above 3.00)</a:t>
            </a:r>
            <a:endParaRPr lang="en-US" sz="3000" dirty="0"/>
          </a:p>
        </p:txBody>
      </p:sp>
      <p:sp>
        <p:nvSpPr>
          <p:cNvPr id="5" name="Text 3"/>
          <p:cNvSpPr/>
          <p:nvPr/>
        </p:nvSpPr>
        <p:spPr>
          <a:xfrm>
            <a:off x="6172200" y="1417320"/>
            <a:ext cx="5394960" cy="822960"/>
          </a:xfrm>
          <a:prstGeom prst="rect">
            <a:avLst/>
          </a:prstGeom>
          <a:noFill/>
          <a:ln/>
        </p:spPr>
        <p:txBody>
          <a:bodyPr wrap="square" rtlCol="0" anchor="ctr"/>
          <a:lstStyle/>
          <a:p>
            <a:pPr marL="0" indent="0">
              <a:buNone/>
            </a:pPr>
            <a:r>
              <a:rPr lang="en-US" sz="3000" b="1" dirty="0">
                <a:solidFill>
                  <a:srgbClr val="1E2A22"/>
                </a:solidFill>
                <a:latin typeface="Georgia" pitchFamily="34" charset="0"/>
                <a:ea typeface="Georgia" pitchFamily="34" charset="-122"/>
                <a:cs typeface="Georgia" pitchFamily="34" charset="-120"/>
              </a:rPr>
              <a:t>–2.34</a:t>
            </a:r>
            <a:endParaRPr lang="en-US" sz="3000" dirty="0"/>
          </a:p>
          <a:p>
            <a:pPr marL="0" indent="0">
              <a:buNone/>
            </a:pPr>
            <a:r>
              <a:rPr lang="en-US" sz="1050" dirty="0">
                <a:solidFill>
                  <a:srgbClr val="5B6058"/>
                </a:solidFill>
                <a:latin typeface="Calibri" pitchFamily="34" charset="0"/>
                <a:ea typeface="Calibri" pitchFamily="34" charset="-122"/>
                <a:cs typeface="Calibri" pitchFamily="34" charset="-120"/>
              </a:rPr>
              <a:t>FY2026 Beneish M-Score (low-risk threshold: below –1.78)</a:t>
            </a:r>
            <a:endParaRPr lang="en-US" sz="3000" dirty="0"/>
          </a:p>
        </p:txBody>
      </p:sp>
      <p:graphicFrame>
        <p:nvGraphicFramePr>
          <p:cNvPr id="6" name="Chart 0"/>
          <p:cNvGraphicFramePr/>
          <p:nvPr>
            <p:extLst>
              <p:ext uri="{D42A27DB-BD31-4B8C-83A1-F6EECF244321}">
                <p14:modId xmlns:p14="http://schemas.microsoft.com/office/powerpoint/2010/main" val="837922845"/>
              </p:ext>
            </p:extLst>
          </p:nvPr>
        </p:nvGraphicFramePr>
        <p:xfrm>
          <a:off x="502920" y="2377440"/>
          <a:ext cx="5394960" cy="329184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7" name="Chart 1"/>
          <p:cNvGraphicFramePr/>
          <p:nvPr>
            <p:extLst>
              <p:ext uri="{D42A27DB-BD31-4B8C-83A1-F6EECF244321}">
                <p14:modId xmlns:p14="http://schemas.microsoft.com/office/powerpoint/2010/main" val="339233589"/>
              </p:ext>
            </p:extLst>
          </p:nvPr>
        </p:nvGraphicFramePr>
        <p:xfrm>
          <a:off x="6172200" y="2377440"/>
          <a:ext cx="5394960" cy="3291840"/>
        </p:xfrm>
        <a:graphic>
          <a:graphicData uri="http://schemas.openxmlformats.org/drawingml/2006/chart">
            <c:chart xmlns:c="http://schemas.openxmlformats.org/drawingml/2006/chart" xmlns:r="http://schemas.openxmlformats.org/officeDocument/2006/relationships" r:id="rId4"/>
          </a:graphicData>
        </a:graphic>
      </p:graphicFrame>
      <p:sp>
        <p:nvSpPr>
          <p:cNvPr id="8" name="Text 4"/>
          <p:cNvSpPr/>
          <p:nvPr/>
        </p:nvSpPr>
        <p:spPr>
          <a:xfrm>
            <a:off x="502920" y="5989320"/>
            <a:ext cx="11155680" cy="502920"/>
          </a:xfrm>
          <a:prstGeom prst="rect">
            <a:avLst/>
          </a:prstGeom>
          <a:noFill/>
          <a:ln/>
        </p:spPr>
        <p:txBody>
          <a:bodyPr wrap="square" rtlCol="0" anchor="ctr"/>
          <a:lstStyle/>
          <a:p>
            <a:pPr marL="0" indent="0">
              <a:lnSpc>
                <a:spcPts val="1200"/>
              </a:lnSpc>
              <a:buNone/>
            </a:pPr>
            <a:r>
              <a:rPr lang="en-US" sz="900" i="1" dirty="0">
                <a:solidFill>
                  <a:srgbClr val="5B6058"/>
                </a:solidFill>
                <a:latin typeface="Calibri" pitchFamily="34" charset="0"/>
                <a:ea typeface="Calibri" pitchFamily="34" charset="-122"/>
                <a:cs typeface="Calibri" pitchFamily="34" charset="-120"/>
              </a:rPr>
              <a:t>Note: the Altman Z-Score has stayed comfortably in the stable zone (above 3.00) across FY2023–FY2026, ranging between 5.8 and 6.8. FY2021 is flagged high-risk on Beneish (above –1.78) — explained by merger-distorted sales-growth and leverage indices, not evidence of manipulation.</a:t>
            </a:r>
            <a:endParaRPr lang="en-US" sz="900" dirty="0"/>
          </a:p>
        </p:txBody>
      </p:sp>
      <p:sp>
        <p:nvSpPr>
          <p:cNvPr id="10" name="Text 6"/>
          <p:cNvSpPr/>
          <p:nvPr/>
        </p:nvSpPr>
        <p:spPr>
          <a:xfrm>
            <a:off x="11231575" y="6473952"/>
            <a:ext cx="457200" cy="274320"/>
          </a:xfrm>
          <a:prstGeom prst="rect">
            <a:avLst/>
          </a:prstGeom>
          <a:noFill/>
          <a:ln/>
        </p:spPr>
        <p:txBody>
          <a:bodyPr wrap="square" rtlCol="0" anchor="ctr"/>
          <a:lstStyle/>
          <a:p>
            <a:pPr marL="0" indent="0" algn="r">
              <a:buNone/>
            </a:pPr>
            <a:r>
              <a:rPr lang="en-US" sz="850" dirty="0">
                <a:solidFill>
                  <a:srgbClr val="5B6058"/>
                </a:solidFill>
                <a:latin typeface="Calibri" pitchFamily="34" charset="0"/>
                <a:ea typeface="Calibri" pitchFamily="34" charset="-122"/>
                <a:cs typeface="Calibri" pitchFamily="34" charset="-120"/>
              </a:rPr>
              <a:t>7</a:t>
            </a:r>
            <a:endParaRPr lang="en-US" sz="8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65760"/>
            <a:ext cx="9144000" cy="256032"/>
          </a:xfrm>
          <a:prstGeom prst="rect">
            <a:avLst/>
          </a:prstGeom>
          <a:noFill/>
          <a:ln/>
        </p:spPr>
        <p:txBody>
          <a:bodyPr wrap="square" rtlCol="0" anchor="ctr"/>
          <a:lstStyle/>
          <a:p>
            <a:pPr marL="0" indent="0">
              <a:buNone/>
            </a:pPr>
            <a:r>
              <a:rPr lang="en-US" sz="1050" b="1" kern="0" spc="200" dirty="0">
                <a:solidFill>
                  <a:srgbClr val="AA5A34"/>
                </a:solidFill>
                <a:latin typeface="Calibri" pitchFamily="34" charset="0"/>
                <a:ea typeface="Calibri" pitchFamily="34" charset="-122"/>
                <a:cs typeface="Calibri" pitchFamily="34" charset="-120"/>
              </a:rPr>
              <a:t>VALUATION &amp; PROJECTIONS</a:t>
            </a:r>
            <a:endParaRPr lang="en-US" sz="1050" dirty="0"/>
          </a:p>
        </p:txBody>
      </p:sp>
      <p:sp>
        <p:nvSpPr>
          <p:cNvPr id="3" name="Text 1"/>
          <p:cNvSpPr/>
          <p:nvPr/>
        </p:nvSpPr>
        <p:spPr>
          <a:xfrm>
            <a:off x="502920" y="621792"/>
            <a:ext cx="10607040" cy="566928"/>
          </a:xfrm>
          <a:prstGeom prst="rect">
            <a:avLst/>
          </a:prstGeom>
          <a:noFill/>
          <a:ln/>
        </p:spPr>
        <p:txBody>
          <a:bodyPr wrap="square" rtlCol="0" anchor="ctr"/>
          <a:lstStyle/>
          <a:p>
            <a:pPr marL="0" indent="0">
              <a:lnSpc>
                <a:spcPts val="2500"/>
              </a:lnSpc>
              <a:buNone/>
            </a:pPr>
            <a:r>
              <a:rPr lang="en-US" sz="2100" b="1" dirty="0">
                <a:solidFill>
                  <a:srgbClr val="1E2A22"/>
                </a:solidFill>
                <a:latin typeface="Georgia" pitchFamily="34" charset="0"/>
                <a:ea typeface="Georgia" pitchFamily="34" charset="-122"/>
                <a:cs typeface="Georgia" pitchFamily="34" charset="-120"/>
              </a:rPr>
              <a:t>DCF Model: Five-Year Projection Built on Conservative, Normalised Assumptions</a:t>
            </a:r>
            <a:endParaRPr lang="en-US" sz="2100" dirty="0"/>
          </a:p>
        </p:txBody>
      </p:sp>
      <p:sp>
        <p:nvSpPr>
          <p:cNvPr id="4" name="Text 2"/>
          <p:cNvSpPr/>
          <p:nvPr/>
        </p:nvSpPr>
        <p:spPr>
          <a:xfrm>
            <a:off x="502920" y="1417320"/>
            <a:ext cx="5852160" cy="274320"/>
          </a:xfrm>
          <a:prstGeom prst="rect">
            <a:avLst/>
          </a:prstGeom>
          <a:noFill/>
          <a:ln/>
        </p:spPr>
        <p:txBody>
          <a:bodyPr wrap="square" rtlCol="0" anchor="ctr"/>
          <a:lstStyle/>
          <a:p>
            <a:pPr marL="0" indent="0">
              <a:buNone/>
            </a:pPr>
            <a:r>
              <a:rPr lang="en-US" sz="1050" b="1" kern="0" spc="150" dirty="0">
                <a:solidFill>
                  <a:srgbClr val="AA5A34"/>
                </a:solidFill>
                <a:latin typeface="Calibri" pitchFamily="34" charset="0"/>
                <a:ea typeface="Calibri" pitchFamily="34" charset="-122"/>
                <a:cs typeface="Calibri" pitchFamily="34" charset="-120"/>
              </a:rPr>
              <a:t>KEY PROJECTION ASSUMPTIONS</a:t>
            </a:r>
            <a:endParaRPr lang="en-US" sz="1050" dirty="0"/>
          </a:p>
        </p:txBody>
      </p:sp>
      <p:sp>
        <p:nvSpPr>
          <p:cNvPr id="5" name="Shape 3"/>
          <p:cNvSpPr/>
          <p:nvPr/>
        </p:nvSpPr>
        <p:spPr>
          <a:xfrm>
            <a:off x="502920" y="1783080"/>
            <a:ext cx="5852160" cy="457200"/>
          </a:xfrm>
          <a:prstGeom prst="rect">
            <a:avLst/>
          </a:prstGeom>
          <a:solidFill>
            <a:srgbClr val="EEF1EC"/>
          </a:solidFill>
          <a:ln/>
        </p:spPr>
      </p:sp>
      <p:sp>
        <p:nvSpPr>
          <p:cNvPr id="6" name="Text 4"/>
          <p:cNvSpPr/>
          <p:nvPr/>
        </p:nvSpPr>
        <p:spPr>
          <a:xfrm>
            <a:off x="640080" y="1783080"/>
            <a:ext cx="3063240" cy="457200"/>
          </a:xfrm>
          <a:prstGeom prst="rect">
            <a:avLst/>
          </a:prstGeom>
          <a:noFill/>
          <a:ln/>
        </p:spPr>
        <p:txBody>
          <a:bodyPr wrap="square" rtlCol="0" anchor="ctr"/>
          <a:lstStyle/>
          <a:p>
            <a:pPr marL="0" indent="0">
              <a:buNone/>
            </a:pPr>
            <a:r>
              <a:rPr lang="en-US" sz="1150" dirty="0">
                <a:solidFill>
                  <a:srgbClr val="1E2A22"/>
                </a:solidFill>
                <a:latin typeface="Calibri" pitchFamily="34" charset="0"/>
                <a:ea typeface="Calibri" pitchFamily="34" charset="-122"/>
                <a:cs typeface="Calibri" pitchFamily="34" charset="-120"/>
              </a:rPr>
              <a:t>Explicit forecast period</a:t>
            </a:r>
            <a:endParaRPr lang="en-US" sz="1150" dirty="0"/>
          </a:p>
        </p:txBody>
      </p:sp>
      <p:sp>
        <p:nvSpPr>
          <p:cNvPr id="7" name="Text 5"/>
          <p:cNvSpPr/>
          <p:nvPr/>
        </p:nvSpPr>
        <p:spPr>
          <a:xfrm>
            <a:off x="3749040" y="1783080"/>
            <a:ext cx="2514600" cy="457200"/>
          </a:xfrm>
          <a:prstGeom prst="rect">
            <a:avLst/>
          </a:prstGeom>
          <a:noFill/>
          <a:ln/>
        </p:spPr>
        <p:txBody>
          <a:bodyPr wrap="square" rtlCol="0" anchor="ctr"/>
          <a:lstStyle/>
          <a:p>
            <a:pPr marL="0" indent="0">
              <a:buNone/>
            </a:pPr>
            <a:r>
              <a:rPr lang="en-US" sz="1150" b="1" dirty="0">
                <a:solidFill>
                  <a:srgbClr val="1E2A22"/>
                </a:solidFill>
                <a:latin typeface="Calibri" pitchFamily="34" charset="0"/>
                <a:ea typeface="Calibri" pitchFamily="34" charset="-122"/>
                <a:cs typeface="Calibri" pitchFamily="34" charset="-120"/>
              </a:rPr>
              <a:t>FY2027E–FY2031E, plus terminal value</a:t>
            </a:r>
            <a:endParaRPr lang="en-US" sz="1150" dirty="0"/>
          </a:p>
        </p:txBody>
      </p:sp>
      <p:sp>
        <p:nvSpPr>
          <p:cNvPr id="8" name="Shape 6"/>
          <p:cNvSpPr/>
          <p:nvPr/>
        </p:nvSpPr>
        <p:spPr>
          <a:xfrm>
            <a:off x="502920" y="2240280"/>
            <a:ext cx="5852160" cy="457200"/>
          </a:xfrm>
          <a:prstGeom prst="rect">
            <a:avLst/>
          </a:prstGeom>
          <a:solidFill>
            <a:srgbClr val="FFFFFF"/>
          </a:solidFill>
          <a:ln/>
        </p:spPr>
      </p:sp>
      <p:sp>
        <p:nvSpPr>
          <p:cNvPr id="9" name="Text 7"/>
          <p:cNvSpPr/>
          <p:nvPr/>
        </p:nvSpPr>
        <p:spPr>
          <a:xfrm>
            <a:off x="640080" y="2240280"/>
            <a:ext cx="3063240" cy="457200"/>
          </a:xfrm>
          <a:prstGeom prst="rect">
            <a:avLst/>
          </a:prstGeom>
          <a:noFill/>
          <a:ln/>
        </p:spPr>
        <p:txBody>
          <a:bodyPr wrap="square" rtlCol="0" anchor="ctr"/>
          <a:lstStyle/>
          <a:p>
            <a:pPr marL="0" indent="0">
              <a:buNone/>
            </a:pPr>
            <a:r>
              <a:rPr lang="en-US" sz="1150" dirty="0">
                <a:solidFill>
                  <a:srgbClr val="1E2A22"/>
                </a:solidFill>
                <a:latin typeface="Calibri" pitchFamily="34" charset="0"/>
                <a:ea typeface="Calibri" pitchFamily="34" charset="-122"/>
                <a:cs typeface="Calibri" pitchFamily="34" charset="-120"/>
              </a:rPr>
              <a:t>Revenue growth</a:t>
            </a:r>
            <a:endParaRPr lang="en-US" sz="1150" dirty="0"/>
          </a:p>
        </p:txBody>
      </p:sp>
      <p:sp>
        <p:nvSpPr>
          <p:cNvPr id="10" name="Text 8"/>
          <p:cNvSpPr/>
          <p:nvPr/>
        </p:nvSpPr>
        <p:spPr>
          <a:xfrm>
            <a:off x="3749040" y="2240280"/>
            <a:ext cx="2514600" cy="457200"/>
          </a:xfrm>
          <a:prstGeom prst="rect">
            <a:avLst/>
          </a:prstGeom>
          <a:noFill/>
          <a:ln/>
        </p:spPr>
        <p:txBody>
          <a:bodyPr wrap="square" rtlCol="0" anchor="ctr"/>
          <a:lstStyle/>
          <a:p>
            <a:pPr marL="0" indent="0">
              <a:buNone/>
            </a:pPr>
            <a:r>
              <a:rPr lang="en-US" sz="1150" b="1" dirty="0">
                <a:solidFill>
                  <a:srgbClr val="1E2A22"/>
                </a:solidFill>
                <a:latin typeface="Calibri" pitchFamily="34" charset="0"/>
                <a:ea typeface="Calibri" pitchFamily="34" charset="-122"/>
                <a:cs typeface="Calibri" pitchFamily="34" charset="-120"/>
              </a:rPr>
              <a:t>8.0% tapering to 6.0%</a:t>
            </a:r>
            <a:endParaRPr lang="en-US" sz="1150" dirty="0"/>
          </a:p>
        </p:txBody>
      </p:sp>
      <p:sp>
        <p:nvSpPr>
          <p:cNvPr id="11" name="Shape 9"/>
          <p:cNvSpPr/>
          <p:nvPr/>
        </p:nvSpPr>
        <p:spPr>
          <a:xfrm>
            <a:off x="502920" y="2697480"/>
            <a:ext cx="5852160" cy="457200"/>
          </a:xfrm>
          <a:prstGeom prst="rect">
            <a:avLst/>
          </a:prstGeom>
          <a:solidFill>
            <a:srgbClr val="EEF1EC"/>
          </a:solidFill>
          <a:ln/>
        </p:spPr>
      </p:sp>
      <p:sp>
        <p:nvSpPr>
          <p:cNvPr id="12" name="Text 10"/>
          <p:cNvSpPr/>
          <p:nvPr/>
        </p:nvSpPr>
        <p:spPr>
          <a:xfrm>
            <a:off x="640080" y="2697480"/>
            <a:ext cx="3063240" cy="457200"/>
          </a:xfrm>
          <a:prstGeom prst="rect">
            <a:avLst/>
          </a:prstGeom>
          <a:noFill/>
          <a:ln/>
        </p:spPr>
        <p:txBody>
          <a:bodyPr wrap="square" rtlCol="0" anchor="ctr"/>
          <a:lstStyle/>
          <a:p>
            <a:pPr marL="0" indent="0">
              <a:buNone/>
            </a:pPr>
            <a:r>
              <a:rPr lang="en-US" sz="1150" dirty="0">
                <a:solidFill>
                  <a:srgbClr val="1E2A22"/>
                </a:solidFill>
                <a:latin typeface="Calibri" pitchFamily="34" charset="0"/>
                <a:ea typeface="Calibri" pitchFamily="34" charset="-122"/>
                <a:cs typeface="Calibri" pitchFamily="34" charset="-120"/>
              </a:rPr>
              <a:t>Operating margin (EBIT)</a:t>
            </a:r>
            <a:endParaRPr lang="en-US" sz="1150" dirty="0"/>
          </a:p>
        </p:txBody>
      </p:sp>
      <p:sp>
        <p:nvSpPr>
          <p:cNvPr id="13" name="Text 11"/>
          <p:cNvSpPr/>
          <p:nvPr/>
        </p:nvSpPr>
        <p:spPr>
          <a:xfrm>
            <a:off x="3749040" y="2697480"/>
            <a:ext cx="2514600" cy="457200"/>
          </a:xfrm>
          <a:prstGeom prst="rect">
            <a:avLst/>
          </a:prstGeom>
          <a:noFill/>
          <a:ln/>
        </p:spPr>
        <p:txBody>
          <a:bodyPr wrap="square" rtlCol="0" anchor="ctr"/>
          <a:lstStyle/>
          <a:p>
            <a:pPr marL="0" indent="0">
              <a:buNone/>
            </a:pPr>
            <a:r>
              <a:rPr lang="en-US" sz="1150" b="1" dirty="0">
                <a:solidFill>
                  <a:srgbClr val="1E2A22"/>
                </a:solidFill>
                <a:latin typeface="Calibri" pitchFamily="34" charset="0"/>
                <a:ea typeface="Calibri" pitchFamily="34" charset="-122"/>
                <a:cs typeface="Calibri" pitchFamily="34" charset="-120"/>
              </a:rPr>
              <a:t>23.5% (5-yr historical average, held constant)</a:t>
            </a:r>
            <a:endParaRPr lang="en-US" sz="1150" dirty="0"/>
          </a:p>
        </p:txBody>
      </p:sp>
      <p:sp>
        <p:nvSpPr>
          <p:cNvPr id="14" name="Shape 12"/>
          <p:cNvSpPr/>
          <p:nvPr/>
        </p:nvSpPr>
        <p:spPr>
          <a:xfrm>
            <a:off x="502920" y="3154680"/>
            <a:ext cx="5852160" cy="457200"/>
          </a:xfrm>
          <a:prstGeom prst="rect">
            <a:avLst/>
          </a:prstGeom>
          <a:solidFill>
            <a:srgbClr val="FFFFFF"/>
          </a:solidFill>
          <a:ln/>
        </p:spPr>
      </p:sp>
      <p:sp>
        <p:nvSpPr>
          <p:cNvPr id="15" name="Text 13"/>
          <p:cNvSpPr/>
          <p:nvPr/>
        </p:nvSpPr>
        <p:spPr>
          <a:xfrm>
            <a:off x="640080" y="3154680"/>
            <a:ext cx="3063240" cy="457200"/>
          </a:xfrm>
          <a:prstGeom prst="rect">
            <a:avLst/>
          </a:prstGeom>
          <a:noFill/>
          <a:ln/>
        </p:spPr>
        <p:txBody>
          <a:bodyPr wrap="square" rtlCol="0" anchor="ctr"/>
          <a:lstStyle/>
          <a:p>
            <a:pPr marL="0" indent="0">
              <a:buNone/>
            </a:pPr>
            <a:r>
              <a:rPr lang="en-US" sz="1150" dirty="0">
                <a:solidFill>
                  <a:srgbClr val="1E2A22"/>
                </a:solidFill>
                <a:latin typeface="Calibri" pitchFamily="34" charset="0"/>
                <a:ea typeface="Calibri" pitchFamily="34" charset="-122"/>
                <a:cs typeface="Calibri" pitchFamily="34" charset="-120"/>
              </a:rPr>
              <a:t>Effective tax rate</a:t>
            </a:r>
            <a:endParaRPr lang="en-US" sz="1150" dirty="0"/>
          </a:p>
        </p:txBody>
      </p:sp>
      <p:sp>
        <p:nvSpPr>
          <p:cNvPr id="16" name="Text 14"/>
          <p:cNvSpPr/>
          <p:nvPr/>
        </p:nvSpPr>
        <p:spPr>
          <a:xfrm>
            <a:off x="3749040" y="3154680"/>
            <a:ext cx="2514600" cy="457200"/>
          </a:xfrm>
          <a:prstGeom prst="rect">
            <a:avLst/>
          </a:prstGeom>
          <a:noFill/>
          <a:ln/>
        </p:spPr>
        <p:txBody>
          <a:bodyPr wrap="square" rtlCol="0" anchor="ctr"/>
          <a:lstStyle/>
          <a:p>
            <a:pPr marL="0" indent="0">
              <a:buNone/>
            </a:pPr>
            <a:r>
              <a:rPr lang="en-US" sz="1150" b="1" dirty="0">
                <a:solidFill>
                  <a:srgbClr val="1E2A22"/>
                </a:solidFill>
                <a:latin typeface="Calibri" pitchFamily="34" charset="0"/>
                <a:ea typeface="Calibri" pitchFamily="34" charset="-122"/>
                <a:cs typeface="Calibri" pitchFamily="34" charset="-120"/>
              </a:rPr>
              <a:t>26.0% (normalised; excludes FY2026's one-off 17%)</a:t>
            </a:r>
            <a:endParaRPr lang="en-US" sz="1150" dirty="0"/>
          </a:p>
        </p:txBody>
      </p:sp>
      <p:sp>
        <p:nvSpPr>
          <p:cNvPr id="17" name="Shape 15"/>
          <p:cNvSpPr/>
          <p:nvPr/>
        </p:nvSpPr>
        <p:spPr>
          <a:xfrm>
            <a:off x="502920" y="3611880"/>
            <a:ext cx="5852160" cy="457200"/>
          </a:xfrm>
          <a:prstGeom prst="rect">
            <a:avLst/>
          </a:prstGeom>
          <a:solidFill>
            <a:srgbClr val="EEF1EC"/>
          </a:solidFill>
          <a:ln/>
        </p:spPr>
      </p:sp>
      <p:sp>
        <p:nvSpPr>
          <p:cNvPr id="18" name="Text 16"/>
          <p:cNvSpPr/>
          <p:nvPr/>
        </p:nvSpPr>
        <p:spPr>
          <a:xfrm>
            <a:off x="640080" y="3611880"/>
            <a:ext cx="3063240" cy="457200"/>
          </a:xfrm>
          <a:prstGeom prst="rect">
            <a:avLst/>
          </a:prstGeom>
          <a:noFill/>
          <a:ln/>
        </p:spPr>
        <p:txBody>
          <a:bodyPr wrap="square" rtlCol="0" anchor="ctr"/>
          <a:lstStyle/>
          <a:p>
            <a:pPr marL="0" indent="0">
              <a:buNone/>
            </a:pPr>
            <a:r>
              <a:rPr lang="en-US" sz="1150" dirty="0">
                <a:solidFill>
                  <a:srgbClr val="1E2A22"/>
                </a:solidFill>
                <a:latin typeface="Calibri" pitchFamily="34" charset="0"/>
                <a:ea typeface="Calibri" pitchFamily="34" charset="-122"/>
                <a:cs typeface="Calibri" pitchFamily="34" charset="-120"/>
              </a:rPr>
              <a:t>Capex / D&amp;A, % of revenue</a:t>
            </a:r>
            <a:endParaRPr lang="en-US" sz="1150" dirty="0"/>
          </a:p>
        </p:txBody>
      </p:sp>
      <p:sp>
        <p:nvSpPr>
          <p:cNvPr id="19" name="Text 17"/>
          <p:cNvSpPr/>
          <p:nvPr/>
        </p:nvSpPr>
        <p:spPr>
          <a:xfrm>
            <a:off x="3749040" y="3611880"/>
            <a:ext cx="2514600" cy="457200"/>
          </a:xfrm>
          <a:prstGeom prst="rect">
            <a:avLst/>
          </a:prstGeom>
          <a:noFill/>
          <a:ln/>
        </p:spPr>
        <p:txBody>
          <a:bodyPr wrap="square" rtlCol="0" anchor="ctr"/>
          <a:lstStyle/>
          <a:p>
            <a:pPr marL="0" indent="0">
              <a:buNone/>
            </a:pPr>
            <a:r>
              <a:rPr lang="en-US" sz="1150" b="1" dirty="0">
                <a:solidFill>
                  <a:srgbClr val="1E2A22"/>
                </a:solidFill>
                <a:latin typeface="Calibri" pitchFamily="34" charset="0"/>
                <a:ea typeface="Calibri" pitchFamily="34" charset="-122"/>
                <a:cs typeface="Calibri" pitchFamily="34" charset="-120"/>
              </a:rPr>
              <a:t>2.3% / 2.1%</a:t>
            </a:r>
            <a:endParaRPr lang="en-US" sz="1150" dirty="0"/>
          </a:p>
        </p:txBody>
      </p:sp>
      <p:sp>
        <p:nvSpPr>
          <p:cNvPr id="20" name="Shape 18"/>
          <p:cNvSpPr/>
          <p:nvPr/>
        </p:nvSpPr>
        <p:spPr>
          <a:xfrm>
            <a:off x="502920" y="4069080"/>
            <a:ext cx="5852160" cy="457200"/>
          </a:xfrm>
          <a:prstGeom prst="rect">
            <a:avLst/>
          </a:prstGeom>
          <a:solidFill>
            <a:srgbClr val="FFFFFF"/>
          </a:solidFill>
          <a:ln/>
        </p:spPr>
      </p:sp>
      <p:sp>
        <p:nvSpPr>
          <p:cNvPr id="21" name="Text 19"/>
          <p:cNvSpPr/>
          <p:nvPr/>
        </p:nvSpPr>
        <p:spPr>
          <a:xfrm>
            <a:off x="640080" y="4069080"/>
            <a:ext cx="3063240" cy="457200"/>
          </a:xfrm>
          <a:prstGeom prst="rect">
            <a:avLst/>
          </a:prstGeom>
          <a:noFill/>
          <a:ln/>
        </p:spPr>
        <p:txBody>
          <a:bodyPr wrap="square" rtlCol="0" anchor="ctr"/>
          <a:lstStyle/>
          <a:p>
            <a:pPr marL="0" indent="0">
              <a:buNone/>
            </a:pPr>
            <a:r>
              <a:rPr lang="en-US" sz="1150" dirty="0">
                <a:solidFill>
                  <a:srgbClr val="1E2A22"/>
                </a:solidFill>
                <a:latin typeface="Calibri" pitchFamily="34" charset="0"/>
                <a:ea typeface="Calibri" pitchFamily="34" charset="-122"/>
                <a:cs typeface="Calibri" pitchFamily="34" charset="-120"/>
              </a:rPr>
              <a:t>Net working capital, % of revenue</a:t>
            </a:r>
            <a:endParaRPr lang="en-US" sz="1150" dirty="0"/>
          </a:p>
        </p:txBody>
      </p:sp>
      <p:sp>
        <p:nvSpPr>
          <p:cNvPr id="22" name="Text 20"/>
          <p:cNvSpPr/>
          <p:nvPr/>
        </p:nvSpPr>
        <p:spPr>
          <a:xfrm>
            <a:off x="3749040" y="4069080"/>
            <a:ext cx="2514600" cy="457200"/>
          </a:xfrm>
          <a:prstGeom prst="rect">
            <a:avLst/>
          </a:prstGeom>
          <a:noFill/>
          <a:ln/>
        </p:spPr>
        <p:txBody>
          <a:bodyPr wrap="square" rtlCol="0" anchor="ctr"/>
          <a:lstStyle/>
          <a:p>
            <a:pPr marL="0" indent="0">
              <a:buNone/>
            </a:pPr>
            <a:r>
              <a:rPr lang="en-US" sz="1150" b="1" dirty="0">
                <a:solidFill>
                  <a:srgbClr val="1E2A22"/>
                </a:solidFill>
                <a:latin typeface="Calibri" pitchFamily="34" charset="0"/>
                <a:ea typeface="Calibri" pitchFamily="34" charset="-122"/>
                <a:cs typeface="Calibri" pitchFamily="34" charset="-120"/>
              </a:rPr>
              <a:t>5.4%</a:t>
            </a:r>
            <a:endParaRPr lang="en-US" sz="1150" dirty="0"/>
          </a:p>
        </p:txBody>
      </p:sp>
      <p:sp>
        <p:nvSpPr>
          <p:cNvPr id="23" name="Shape 21"/>
          <p:cNvSpPr/>
          <p:nvPr/>
        </p:nvSpPr>
        <p:spPr>
          <a:xfrm>
            <a:off x="502920" y="4526280"/>
            <a:ext cx="5852160" cy="457200"/>
          </a:xfrm>
          <a:prstGeom prst="rect">
            <a:avLst/>
          </a:prstGeom>
          <a:solidFill>
            <a:srgbClr val="EEF1EC"/>
          </a:solidFill>
          <a:ln/>
        </p:spPr>
      </p:sp>
      <p:sp>
        <p:nvSpPr>
          <p:cNvPr id="24" name="Text 22"/>
          <p:cNvSpPr/>
          <p:nvPr/>
        </p:nvSpPr>
        <p:spPr>
          <a:xfrm>
            <a:off x="640080" y="4526280"/>
            <a:ext cx="3063240" cy="457200"/>
          </a:xfrm>
          <a:prstGeom prst="rect">
            <a:avLst/>
          </a:prstGeom>
          <a:noFill/>
          <a:ln/>
        </p:spPr>
        <p:txBody>
          <a:bodyPr wrap="square" rtlCol="0" anchor="ctr"/>
          <a:lstStyle/>
          <a:p>
            <a:pPr marL="0" indent="0">
              <a:buNone/>
            </a:pPr>
            <a:r>
              <a:rPr lang="en-US" sz="1150" dirty="0">
                <a:solidFill>
                  <a:srgbClr val="1E2A22"/>
                </a:solidFill>
                <a:latin typeface="Calibri" pitchFamily="34" charset="0"/>
                <a:ea typeface="Calibri" pitchFamily="34" charset="-122"/>
                <a:cs typeface="Calibri" pitchFamily="34" charset="-120"/>
              </a:rPr>
              <a:t>Terminal growth rate (g)</a:t>
            </a:r>
            <a:endParaRPr lang="en-US" sz="1150" dirty="0"/>
          </a:p>
        </p:txBody>
      </p:sp>
      <p:sp>
        <p:nvSpPr>
          <p:cNvPr id="25" name="Text 23"/>
          <p:cNvSpPr/>
          <p:nvPr/>
        </p:nvSpPr>
        <p:spPr>
          <a:xfrm>
            <a:off x="3749040" y="4526280"/>
            <a:ext cx="2514600" cy="457200"/>
          </a:xfrm>
          <a:prstGeom prst="rect">
            <a:avLst/>
          </a:prstGeom>
          <a:noFill/>
          <a:ln/>
        </p:spPr>
        <p:txBody>
          <a:bodyPr wrap="square" rtlCol="0" anchor="ctr"/>
          <a:lstStyle/>
          <a:p>
            <a:pPr marL="0" indent="0">
              <a:buNone/>
            </a:pPr>
            <a:r>
              <a:rPr lang="en-US" sz="1150" b="1" dirty="0">
                <a:solidFill>
                  <a:srgbClr val="1E2A22"/>
                </a:solidFill>
                <a:latin typeface="Calibri" pitchFamily="34" charset="0"/>
                <a:ea typeface="Calibri" pitchFamily="34" charset="-122"/>
                <a:cs typeface="Calibri" pitchFamily="34" charset="-120"/>
              </a:rPr>
              <a:t>5.0%, linked to nominal India GDP growth</a:t>
            </a:r>
            <a:endParaRPr lang="en-US" sz="1150" dirty="0"/>
          </a:p>
        </p:txBody>
      </p:sp>
      <p:sp>
        <p:nvSpPr>
          <p:cNvPr id="26" name="Shape 24"/>
          <p:cNvSpPr/>
          <p:nvPr/>
        </p:nvSpPr>
        <p:spPr>
          <a:xfrm>
            <a:off x="6537960" y="1417320"/>
            <a:ext cx="5074920" cy="4343400"/>
          </a:xfrm>
          <a:prstGeom prst="rect">
            <a:avLst/>
          </a:prstGeom>
          <a:solidFill>
            <a:srgbClr val="1E2A22"/>
          </a:solidFill>
          <a:ln/>
        </p:spPr>
      </p:sp>
      <p:sp>
        <p:nvSpPr>
          <p:cNvPr id="27" name="Text 25"/>
          <p:cNvSpPr/>
          <p:nvPr/>
        </p:nvSpPr>
        <p:spPr>
          <a:xfrm>
            <a:off x="6812280" y="1691640"/>
            <a:ext cx="4480560" cy="36576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WEIGHTED AVERAGE COST OF CAPITAL</a:t>
            </a:r>
            <a:endParaRPr lang="en-US" sz="1200" dirty="0"/>
          </a:p>
        </p:txBody>
      </p:sp>
      <p:sp>
        <p:nvSpPr>
          <p:cNvPr id="28" name="Text 26"/>
          <p:cNvSpPr/>
          <p:nvPr/>
        </p:nvSpPr>
        <p:spPr>
          <a:xfrm>
            <a:off x="6812280" y="2103120"/>
            <a:ext cx="4480560" cy="777240"/>
          </a:xfrm>
          <a:prstGeom prst="rect">
            <a:avLst/>
          </a:prstGeom>
          <a:noFill/>
          <a:ln/>
        </p:spPr>
        <p:txBody>
          <a:bodyPr wrap="square" rtlCol="0" anchor="ctr"/>
          <a:lstStyle/>
          <a:p>
            <a:pPr marL="0" indent="0">
              <a:buNone/>
            </a:pPr>
            <a:r>
              <a:rPr lang="en-US" sz="4000" b="1" dirty="0">
                <a:solidFill>
                  <a:srgbClr val="D7B79A"/>
                </a:solidFill>
                <a:latin typeface="Georgia" pitchFamily="34" charset="0"/>
                <a:ea typeface="Georgia" pitchFamily="34" charset="-122"/>
                <a:cs typeface="Georgia" pitchFamily="34" charset="-120"/>
              </a:rPr>
              <a:t>~10.7%</a:t>
            </a:r>
            <a:endParaRPr lang="en-US" sz="4000" dirty="0"/>
          </a:p>
        </p:txBody>
      </p:sp>
      <p:sp>
        <p:nvSpPr>
          <p:cNvPr id="29" name="Text 27"/>
          <p:cNvSpPr/>
          <p:nvPr/>
        </p:nvSpPr>
        <p:spPr>
          <a:xfrm>
            <a:off x="6812280" y="3017520"/>
            <a:ext cx="2926080" cy="292608"/>
          </a:xfrm>
          <a:prstGeom prst="rect">
            <a:avLst/>
          </a:prstGeom>
          <a:noFill/>
          <a:ln/>
        </p:spPr>
        <p:txBody>
          <a:bodyPr wrap="square" rtlCol="0" anchor="ctr"/>
          <a:lstStyle/>
          <a:p>
            <a:pPr marL="0" indent="0">
              <a:buNone/>
            </a:pPr>
            <a:r>
              <a:rPr lang="en-US" sz="1100" dirty="0">
                <a:solidFill>
                  <a:srgbClr val="CADCFC"/>
                </a:solidFill>
                <a:latin typeface="Calibri" pitchFamily="34" charset="0"/>
                <a:ea typeface="Calibri" pitchFamily="34" charset="-122"/>
                <a:cs typeface="Calibri" pitchFamily="34" charset="-120"/>
              </a:rPr>
              <a:t>Risk-free rate (India 10Y G-Sec)</a:t>
            </a:r>
            <a:endParaRPr lang="en-US" sz="1100" dirty="0"/>
          </a:p>
        </p:txBody>
      </p:sp>
      <p:sp>
        <p:nvSpPr>
          <p:cNvPr id="30" name="Text 28"/>
          <p:cNvSpPr/>
          <p:nvPr/>
        </p:nvSpPr>
        <p:spPr>
          <a:xfrm>
            <a:off x="9281160" y="3017520"/>
            <a:ext cx="1920240" cy="292608"/>
          </a:xfrm>
          <a:prstGeom prst="rect">
            <a:avLst/>
          </a:prstGeom>
          <a:noFill/>
          <a:ln/>
        </p:spPr>
        <p:txBody>
          <a:bodyPr wrap="square" rtlCol="0" anchor="ctr"/>
          <a:lstStyle/>
          <a:p>
            <a:pPr marL="0" indent="0" algn="r">
              <a:buNone/>
            </a:pPr>
            <a:r>
              <a:rPr lang="en-US" sz="1100" b="1" dirty="0">
                <a:solidFill>
                  <a:srgbClr val="FFFFFF"/>
                </a:solidFill>
                <a:latin typeface="Calibri" pitchFamily="34" charset="0"/>
                <a:ea typeface="Calibri" pitchFamily="34" charset="-122"/>
                <a:cs typeface="Calibri" pitchFamily="34" charset="-120"/>
              </a:rPr>
              <a:t>6.8%</a:t>
            </a:r>
            <a:endParaRPr lang="en-US" sz="1100" dirty="0"/>
          </a:p>
        </p:txBody>
      </p:sp>
      <p:sp>
        <p:nvSpPr>
          <p:cNvPr id="31" name="Text 29"/>
          <p:cNvSpPr/>
          <p:nvPr/>
        </p:nvSpPr>
        <p:spPr>
          <a:xfrm>
            <a:off x="6812280" y="3355848"/>
            <a:ext cx="2926080" cy="292608"/>
          </a:xfrm>
          <a:prstGeom prst="rect">
            <a:avLst/>
          </a:prstGeom>
          <a:noFill/>
          <a:ln/>
        </p:spPr>
        <p:txBody>
          <a:bodyPr wrap="square" rtlCol="0" anchor="ctr"/>
          <a:lstStyle/>
          <a:p>
            <a:pPr marL="0" indent="0">
              <a:buNone/>
            </a:pPr>
            <a:r>
              <a:rPr lang="en-US" sz="1100" dirty="0">
                <a:solidFill>
                  <a:srgbClr val="CADCFC"/>
                </a:solidFill>
                <a:latin typeface="Calibri" pitchFamily="34" charset="0"/>
                <a:ea typeface="Calibri" pitchFamily="34" charset="-122"/>
                <a:cs typeface="Calibri" pitchFamily="34" charset="-120"/>
              </a:rPr>
              <a:t>Equity beta</a:t>
            </a:r>
            <a:endParaRPr lang="en-US" sz="1100" dirty="0"/>
          </a:p>
        </p:txBody>
      </p:sp>
      <p:sp>
        <p:nvSpPr>
          <p:cNvPr id="32" name="Text 30"/>
          <p:cNvSpPr/>
          <p:nvPr/>
        </p:nvSpPr>
        <p:spPr>
          <a:xfrm>
            <a:off x="9281160" y="3355848"/>
            <a:ext cx="1920240" cy="292608"/>
          </a:xfrm>
          <a:prstGeom prst="rect">
            <a:avLst/>
          </a:prstGeom>
          <a:noFill/>
          <a:ln/>
        </p:spPr>
        <p:txBody>
          <a:bodyPr wrap="square" rtlCol="0" anchor="ctr"/>
          <a:lstStyle/>
          <a:p>
            <a:pPr marL="0" indent="0" algn="r">
              <a:buNone/>
            </a:pPr>
            <a:r>
              <a:rPr lang="en-US" sz="1100" b="1" dirty="0">
                <a:solidFill>
                  <a:srgbClr val="FFFFFF"/>
                </a:solidFill>
                <a:latin typeface="Calibri" pitchFamily="34" charset="0"/>
                <a:ea typeface="Calibri" pitchFamily="34" charset="-122"/>
                <a:cs typeface="Calibri" pitchFamily="34" charset="-120"/>
              </a:rPr>
              <a:t>0.60</a:t>
            </a:r>
            <a:endParaRPr lang="en-US" sz="1100" dirty="0"/>
          </a:p>
        </p:txBody>
      </p:sp>
      <p:sp>
        <p:nvSpPr>
          <p:cNvPr id="33" name="Text 31"/>
          <p:cNvSpPr/>
          <p:nvPr/>
        </p:nvSpPr>
        <p:spPr>
          <a:xfrm>
            <a:off x="6812280" y="3694176"/>
            <a:ext cx="2926080" cy="292608"/>
          </a:xfrm>
          <a:prstGeom prst="rect">
            <a:avLst/>
          </a:prstGeom>
          <a:noFill/>
          <a:ln/>
        </p:spPr>
        <p:txBody>
          <a:bodyPr wrap="square" rtlCol="0" anchor="ctr"/>
          <a:lstStyle/>
          <a:p>
            <a:pPr marL="0" indent="0">
              <a:buNone/>
            </a:pPr>
            <a:r>
              <a:rPr lang="en-US" sz="1100" dirty="0">
                <a:solidFill>
                  <a:srgbClr val="CADCFC"/>
                </a:solidFill>
                <a:latin typeface="Calibri" pitchFamily="34" charset="0"/>
                <a:ea typeface="Calibri" pitchFamily="34" charset="-122"/>
                <a:cs typeface="Calibri" pitchFamily="34" charset="-120"/>
              </a:rPr>
              <a:t>Equity risk premium (India)</a:t>
            </a:r>
            <a:endParaRPr lang="en-US" sz="1100" dirty="0"/>
          </a:p>
        </p:txBody>
      </p:sp>
      <p:sp>
        <p:nvSpPr>
          <p:cNvPr id="34" name="Text 32"/>
          <p:cNvSpPr/>
          <p:nvPr/>
        </p:nvSpPr>
        <p:spPr>
          <a:xfrm>
            <a:off x="9281160" y="3694176"/>
            <a:ext cx="1920240" cy="292608"/>
          </a:xfrm>
          <a:prstGeom prst="rect">
            <a:avLst/>
          </a:prstGeom>
          <a:noFill/>
          <a:ln/>
        </p:spPr>
        <p:txBody>
          <a:bodyPr wrap="square" rtlCol="0" anchor="ctr"/>
          <a:lstStyle/>
          <a:p>
            <a:pPr marL="0" indent="0" algn="r">
              <a:buNone/>
            </a:pPr>
            <a:r>
              <a:rPr lang="en-US" sz="1100" b="1" dirty="0">
                <a:solidFill>
                  <a:srgbClr val="FFFFFF"/>
                </a:solidFill>
                <a:latin typeface="Calibri" pitchFamily="34" charset="0"/>
                <a:ea typeface="Calibri" pitchFamily="34" charset="-122"/>
                <a:cs typeface="Calibri" pitchFamily="34" charset="-120"/>
              </a:rPr>
              <a:t>6.5%</a:t>
            </a:r>
            <a:endParaRPr lang="en-US" sz="1100" dirty="0"/>
          </a:p>
        </p:txBody>
      </p:sp>
      <p:sp>
        <p:nvSpPr>
          <p:cNvPr id="35" name="Text 33"/>
          <p:cNvSpPr/>
          <p:nvPr/>
        </p:nvSpPr>
        <p:spPr>
          <a:xfrm>
            <a:off x="6812280" y="4032504"/>
            <a:ext cx="2926080" cy="292608"/>
          </a:xfrm>
          <a:prstGeom prst="rect">
            <a:avLst/>
          </a:prstGeom>
          <a:noFill/>
          <a:ln/>
        </p:spPr>
        <p:txBody>
          <a:bodyPr wrap="square" rtlCol="0" anchor="ctr"/>
          <a:lstStyle/>
          <a:p>
            <a:pPr marL="0" indent="0">
              <a:buNone/>
            </a:pPr>
            <a:r>
              <a:rPr lang="en-US" sz="1100" dirty="0">
                <a:solidFill>
                  <a:srgbClr val="CADCFC"/>
                </a:solidFill>
                <a:latin typeface="Calibri" pitchFamily="34" charset="0"/>
                <a:ea typeface="Calibri" pitchFamily="34" charset="-122"/>
                <a:cs typeface="Calibri" pitchFamily="34" charset="-120"/>
              </a:rPr>
              <a:t>Cost of equity (CAPM)</a:t>
            </a:r>
            <a:endParaRPr lang="en-US" sz="1100" dirty="0"/>
          </a:p>
        </p:txBody>
      </p:sp>
      <p:sp>
        <p:nvSpPr>
          <p:cNvPr id="36" name="Text 34"/>
          <p:cNvSpPr/>
          <p:nvPr/>
        </p:nvSpPr>
        <p:spPr>
          <a:xfrm>
            <a:off x="9281160" y="4032504"/>
            <a:ext cx="1920240" cy="292608"/>
          </a:xfrm>
          <a:prstGeom prst="rect">
            <a:avLst/>
          </a:prstGeom>
          <a:noFill/>
          <a:ln/>
        </p:spPr>
        <p:txBody>
          <a:bodyPr wrap="square" rtlCol="0" anchor="ctr"/>
          <a:lstStyle/>
          <a:p>
            <a:pPr marL="0" indent="0" algn="r">
              <a:buNone/>
            </a:pPr>
            <a:r>
              <a:rPr lang="en-US" sz="1100" b="1" dirty="0">
                <a:solidFill>
                  <a:srgbClr val="FFFFFF"/>
                </a:solidFill>
                <a:latin typeface="Calibri" pitchFamily="34" charset="0"/>
                <a:ea typeface="Calibri" pitchFamily="34" charset="-122"/>
                <a:cs typeface="Calibri" pitchFamily="34" charset="-120"/>
              </a:rPr>
              <a:t>10.7%</a:t>
            </a:r>
            <a:endParaRPr lang="en-US" sz="1100" dirty="0"/>
          </a:p>
        </p:txBody>
      </p:sp>
      <p:sp>
        <p:nvSpPr>
          <p:cNvPr id="37" name="Text 35"/>
          <p:cNvSpPr/>
          <p:nvPr/>
        </p:nvSpPr>
        <p:spPr>
          <a:xfrm>
            <a:off x="6812280" y="4370832"/>
            <a:ext cx="2926080" cy="292608"/>
          </a:xfrm>
          <a:prstGeom prst="rect">
            <a:avLst/>
          </a:prstGeom>
          <a:noFill/>
          <a:ln/>
        </p:spPr>
        <p:txBody>
          <a:bodyPr wrap="square" rtlCol="0" anchor="ctr"/>
          <a:lstStyle/>
          <a:p>
            <a:pPr marL="0" indent="0">
              <a:buNone/>
            </a:pPr>
            <a:r>
              <a:rPr lang="en-US" sz="1100" dirty="0">
                <a:solidFill>
                  <a:srgbClr val="CADCFC"/>
                </a:solidFill>
                <a:latin typeface="Calibri" pitchFamily="34" charset="0"/>
                <a:ea typeface="Calibri" pitchFamily="34" charset="-122"/>
                <a:cs typeface="Calibri" pitchFamily="34" charset="-120"/>
              </a:rPr>
              <a:t>Pre-tax cost of debt</a:t>
            </a:r>
            <a:endParaRPr lang="en-US" sz="1100" dirty="0"/>
          </a:p>
        </p:txBody>
      </p:sp>
      <p:sp>
        <p:nvSpPr>
          <p:cNvPr id="38" name="Text 36"/>
          <p:cNvSpPr/>
          <p:nvPr/>
        </p:nvSpPr>
        <p:spPr>
          <a:xfrm>
            <a:off x="9281160" y="4370832"/>
            <a:ext cx="1920240" cy="292608"/>
          </a:xfrm>
          <a:prstGeom prst="rect">
            <a:avLst/>
          </a:prstGeom>
          <a:noFill/>
          <a:ln/>
        </p:spPr>
        <p:txBody>
          <a:bodyPr wrap="square" rtlCol="0" anchor="ctr"/>
          <a:lstStyle/>
          <a:p>
            <a:pPr marL="0" indent="0" algn="r">
              <a:buNone/>
            </a:pPr>
            <a:r>
              <a:rPr lang="en-US" sz="1100" b="1" dirty="0">
                <a:solidFill>
                  <a:srgbClr val="FFFFFF"/>
                </a:solidFill>
                <a:latin typeface="Calibri" pitchFamily="34" charset="0"/>
                <a:ea typeface="Calibri" pitchFamily="34" charset="-122"/>
                <a:cs typeface="Calibri" pitchFamily="34" charset="-120"/>
              </a:rPr>
              <a:t>7.5%</a:t>
            </a:r>
            <a:endParaRPr lang="en-US" sz="1100" dirty="0"/>
          </a:p>
        </p:txBody>
      </p:sp>
      <p:sp>
        <p:nvSpPr>
          <p:cNvPr id="39" name="Text 37"/>
          <p:cNvSpPr/>
          <p:nvPr/>
        </p:nvSpPr>
        <p:spPr>
          <a:xfrm>
            <a:off x="6812280" y="4709160"/>
            <a:ext cx="2926080" cy="292608"/>
          </a:xfrm>
          <a:prstGeom prst="rect">
            <a:avLst/>
          </a:prstGeom>
          <a:noFill/>
          <a:ln/>
        </p:spPr>
        <p:txBody>
          <a:bodyPr wrap="square" rtlCol="0" anchor="ctr"/>
          <a:lstStyle/>
          <a:p>
            <a:pPr marL="0" indent="0">
              <a:buNone/>
            </a:pPr>
            <a:r>
              <a:rPr lang="en-US" sz="1100" dirty="0">
                <a:solidFill>
                  <a:srgbClr val="CADCFC"/>
                </a:solidFill>
                <a:latin typeface="Calibri" pitchFamily="34" charset="0"/>
                <a:ea typeface="Calibri" pitchFamily="34" charset="-122"/>
                <a:cs typeface="Calibri" pitchFamily="34" charset="-120"/>
              </a:rPr>
              <a:t>Post-tax cost of debt</a:t>
            </a:r>
            <a:endParaRPr lang="en-US" sz="1100" dirty="0"/>
          </a:p>
        </p:txBody>
      </p:sp>
      <p:sp>
        <p:nvSpPr>
          <p:cNvPr id="40" name="Text 38"/>
          <p:cNvSpPr/>
          <p:nvPr/>
        </p:nvSpPr>
        <p:spPr>
          <a:xfrm>
            <a:off x="9281160" y="4709160"/>
            <a:ext cx="1920240" cy="292608"/>
          </a:xfrm>
          <a:prstGeom prst="rect">
            <a:avLst/>
          </a:prstGeom>
          <a:noFill/>
          <a:ln/>
        </p:spPr>
        <p:txBody>
          <a:bodyPr wrap="square" rtlCol="0" anchor="ctr"/>
          <a:lstStyle/>
          <a:p>
            <a:pPr marL="0" indent="0" algn="r">
              <a:buNone/>
            </a:pPr>
            <a:r>
              <a:rPr lang="en-US" sz="1100" b="1" dirty="0">
                <a:solidFill>
                  <a:srgbClr val="FFFFFF"/>
                </a:solidFill>
                <a:latin typeface="Calibri" pitchFamily="34" charset="0"/>
                <a:ea typeface="Calibri" pitchFamily="34" charset="-122"/>
                <a:cs typeface="Calibri" pitchFamily="34" charset="-120"/>
              </a:rPr>
              <a:t>5.55%</a:t>
            </a:r>
            <a:endParaRPr lang="en-US" sz="1100" dirty="0"/>
          </a:p>
        </p:txBody>
      </p:sp>
      <p:sp>
        <p:nvSpPr>
          <p:cNvPr id="41" name="Text 39"/>
          <p:cNvSpPr/>
          <p:nvPr/>
        </p:nvSpPr>
        <p:spPr>
          <a:xfrm>
            <a:off x="6812280" y="5047488"/>
            <a:ext cx="2926080" cy="292608"/>
          </a:xfrm>
          <a:prstGeom prst="rect">
            <a:avLst/>
          </a:prstGeom>
          <a:noFill/>
          <a:ln/>
        </p:spPr>
        <p:txBody>
          <a:bodyPr wrap="square" rtlCol="0" anchor="ctr"/>
          <a:lstStyle/>
          <a:p>
            <a:pPr marL="0" indent="0">
              <a:buNone/>
            </a:pPr>
            <a:r>
              <a:rPr lang="en-US" sz="1100" dirty="0">
                <a:solidFill>
                  <a:srgbClr val="CADCFC"/>
                </a:solidFill>
                <a:latin typeface="Calibri" pitchFamily="34" charset="0"/>
                <a:ea typeface="Calibri" pitchFamily="34" charset="-122"/>
                <a:cs typeface="Calibri" pitchFamily="34" charset="-120"/>
              </a:rPr>
              <a:t>Weight of equity / debt</a:t>
            </a:r>
            <a:endParaRPr lang="en-US" sz="1100" dirty="0"/>
          </a:p>
        </p:txBody>
      </p:sp>
      <p:sp>
        <p:nvSpPr>
          <p:cNvPr id="42" name="Text 40"/>
          <p:cNvSpPr/>
          <p:nvPr/>
        </p:nvSpPr>
        <p:spPr>
          <a:xfrm>
            <a:off x="9281160" y="5047488"/>
            <a:ext cx="1920240" cy="292608"/>
          </a:xfrm>
          <a:prstGeom prst="rect">
            <a:avLst/>
          </a:prstGeom>
          <a:noFill/>
          <a:ln/>
        </p:spPr>
        <p:txBody>
          <a:bodyPr wrap="square" rtlCol="0" anchor="ctr"/>
          <a:lstStyle/>
          <a:p>
            <a:pPr marL="0" indent="0" algn="r">
              <a:buNone/>
            </a:pPr>
            <a:r>
              <a:rPr lang="en-US" sz="1100" b="1" dirty="0">
                <a:solidFill>
                  <a:srgbClr val="FFFFFF"/>
                </a:solidFill>
                <a:latin typeface="Calibri" pitchFamily="34" charset="0"/>
                <a:ea typeface="Calibri" pitchFamily="34" charset="-122"/>
                <a:cs typeface="Calibri" pitchFamily="34" charset="-120"/>
              </a:rPr>
              <a:t>99.7% / 0.3%</a:t>
            </a:r>
            <a:endParaRPr lang="en-US" sz="1100" dirty="0"/>
          </a:p>
        </p:txBody>
      </p:sp>
      <p:sp>
        <p:nvSpPr>
          <p:cNvPr id="43" name="Text 41"/>
          <p:cNvSpPr/>
          <p:nvPr/>
        </p:nvSpPr>
        <p:spPr>
          <a:xfrm>
            <a:off x="6812280" y="5394960"/>
            <a:ext cx="4480560" cy="320040"/>
          </a:xfrm>
          <a:prstGeom prst="rect">
            <a:avLst/>
          </a:prstGeom>
          <a:noFill/>
          <a:ln/>
        </p:spPr>
        <p:txBody>
          <a:bodyPr wrap="square" rtlCol="0" anchor="ctr"/>
          <a:lstStyle/>
          <a:p>
            <a:pPr marL="0" indent="0">
              <a:lnSpc>
                <a:spcPts val="1200"/>
              </a:lnSpc>
              <a:buNone/>
            </a:pPr>
            <a:r>
              <a:rPr lang="en-US" sz="900" i="1" dirty="0">
                <a:solidFill>
                  <a:srgbClr val="9AA6D4"/>
                </a:solidFill>
                <a:latin typeface="Calibri" pitchFamily="34" charset="0"/>
                <a:ea typeface="Calibri" pitchFamily="34" charset="-122"/>
                <a:cs typeface="Calibri" pitchFamily="34" charset="-120"/>
              </a:rPr>
              <a:t>Beta is a blended peer-industry estimate; reported betas range 0.3–0.9 depending on source and period. Full WACC-to-equity-value build shown on the following slide.</a:t>
            </a:r>
            <a:endParaRPr lang="en-US" sz="900" dirty="0"/>
          </a:p>
        </p:txBody>
      </p:sp>
      <p:sp>
        <p:nvSpPr>
          <p:cNvPr id="45" name="Text 43"/>
          <p:cNvSpPr/>
          <p:nvPr/>
        </p:nvSpPr>
        <p:spPr>
          <a:xfrm>
            <a:off x="11231575" y="6473952"/>
            <a:ext cx="457200" cy="274320"/>
          </a:xfrm>
          <a:prstGeom prst="rect">
            <a:avLst/>
          </a:prstGeom>
          <a:noFill/>
          <a:ln/>
        </p:spPr>
        <p:txBody>
          <a:bodyPr wrap="square" rtlCol="0" anchor="ctr"/>
          <a:lstStyle/>
          <a:p>
            <a:pPr marL="0" indent="0" algn="r">
              <a:buNone/>
            </a:pPr>
            <a:r>
              <a:rPr lang="en-US" sz="850" dirty="0">
                <a:solidFill>
                  <a:srgbClr val="5B6058"/>
                </a:solidFill>
                <a:latin typeface="Calibri" pitchFamily="34" charset="0"/>
                <a:ea typeface="Calibri" pitchFamily="34" charset="-122"/>
                <a:cs typeface="Calibri" pitchFamily="34" charset="-120"/>
              </a:rPr>
              <a:t>8</a:t>
            </a:r>
            <a:endParaRPr lang="en-US" sz="8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65760"/>
            <a:ext cx="9144000" cy="256032"/>
          </a:xfrm>
          <a:prstGeom prst="rect">
            <a:avLst/>
          </a:prstGeom>
          <a:noFill/>
          <a:ln/>
        </p:spPr>
        <p:txBody>
          <a:bodyPr wrap="square" rtlCol="0" anchor="ctr"/>
          <a:lstStyle/>
          <a:p>
            <a:pPr marL="0" indent="0">
              <a:buNone/>
            </a:pPr>
            <a:r>
              <a:rPr lang="en-US" sz="1050" b="1" kern="0" spc="200" dirty="0">
                <a:solidFill>
                  <a:srgbClr val="AA5A34"/>
                </a:solidFill>
                <a:latin typeface="Calibri" pitchFamily="34" charset="0"/>
                <a:ea typeface="Calibri" pitchFamily="34" charset="-122"/>
                <a:cs typeface="Calibri" pitchFamily="34" charset="-120"/>
              </a:rPr>
              <a:t>VALUATION &amp; PROJECTIONS</a:t>
            </a:r>
            <a:endParaRPr lang="en-US" sz="1050" dirty="0"/>
          </a:p>
        </p:txBody>
      </p:sp>
      <p:sp>
        <p:nvSpPr>
          <p:cNvPr id="3" name="Text 1"/>
          <p:cNvSpPr/>
          <p:nvPr/>
        </p:nvSpPr>
        <p:spPr>
          <a:xfrm>
            <a:off x="502920" y="621792"/>
            <a:ext cx="10607040" cy="566928"/>
          </a:xfrm>
          <a:prstGeom prst="rect">
            <a:avLst/>
          </a:prstGeom>
          <a:noFill/>
          <a:ln/>
        </p:spPr>
        <p:txBody>
          <a:bodyPr wrap="square" rtlCol="0" anchor="ctr"/>
          <a:lstStyle/>
          <a:p>
            <a:pPr marL="0" indent="0">
              <a:lnSpc>
                <a:spcPts val="2300"/>
              </a:lnSpc>
              <a:buNone/>
            </a:pPr>
            <a:r>
              <a:rPr lang="en-US" sz="1900" b="1" dirty="0">
                <a:solidFill>
                  <a:srgbClr val="1E2A22"/>
                </a:solidFill>
                <a:latin typeface="Georgia" pitchFamily="34" charset="0"/>
                <a:ea typeface="Georgia" pitchFamily="34" charset="-122"/>
                <a:cs typeface="Georgia" pitchFamily="34" charset="-120"/>
              </a:rPr>
              <a:t>DCF Calculation: From WACC to Enterprise Value to Equity Value per Share</a:t>
            </a:r>
            <a:endParaRPr lang="en-US" sz="1900" dirty="0"/>
          </a:p>
        </p:txBody>
      </p:sp>
      <p:sp>
        <p:nvSpPr>
          <p:cNvPr id="4" name="Text 2"/>
          <p:cNvSpPr/>
          <p:nvPr/>
        </p:nvSpPr>
        <p:spPr>
          <a:xfrm>
            <a:off x="502920" y="1203350"/>
            <a:ext cx="3429000" cy="201168"/>
          </a:xfrm>
          <a:prstGeom prst="rect">
            <a:avLst/>
          </a:prstGeom>
          <a:noFill/>
          <a:ln/>
        </p:spPr>
        <p:txBody>
          <a:bodyPr wrap="square" rtlCol="0" anchor="ctr"/>
          <a:lstStyle/>
          <a:p>
            <a:pPr marL="0" indent="0">
              <a:buNone/>
            </a:pPr>
            <a:r>
              <a:rPr lang="en-US" sz="950" b="1" kern="0" spc="120" dirty="0">
                <a:solidFill>
                  <a:srgbClr val="AA5A34"/>
                </a:solidFill>
                <a:latin typeface="Calibri" pitchFamily="34" charset="0"/>
                <a:ea typeface="Calibri" pitchFamily="34" charset="-122"/>
                <a:cs typeface="Calibri" pitchFamily="34" charset="-120"/>
              </a:rPr>
              <a:t>STEP 1 — WACC</a:t>
            </a:r>
            <a:endParaRPr lang="en-US" sz="950" dirty="0"/>
          </a:p>
        </p:txBody>
      </p:sp>
      <p:sp>
        <p:nvSpPr>
          <p:cNvPr id="5" name="Shape 3"/>
          <p:cNvSpPr/>
          <p:nvPr/>
        </p:nvSpPr>
        <p:spPr>
          <a:xfrm>
            <a:off x="502920" y="1474396"/>
            <a:ext cx="3429000" cy="439859"/>
          </a:xfrm>
          <a:prstGeom prst="rect">
            <a:avLst/>
          </a:prstGeom>
          <a:solidFill>
            <a:srgbClr val="FFFFFF"/>
          </a:solidFill>
          <a:ln w="6350">
            <a:solidFill>
              <a:srgbClr val="CDD3CB"/>
            </a:solidFill>
            <a:prstDash val="solid"/>
          </a:ln>
        </p:spPr>
      </p:sp>
      <p:sp>
        <p:nvSpPr>
          <p:cNvPr id="6" name="Text 4"/>
          <p:cNvSpPr/>
          <p:nvPr/>
        </p:nvSpPr>
        <p:spPr>
          <a:xfrm>
            <a:off x="594360" y="1549908"/>
            <a:ext cx="3246120" cy="123444"/>
          </a:xfrm>
          <a:prstGeom prst="rect">
            <a:avLst/>
          </a:prstGeom>
          <a:noFill/>
          <a:ln/>
        </p:spPr>
        <p:txBody>
          <a:bodyPr wrap="square" rtlCol="0" anchor="ctr"/>
          <a:lstStyle/>
          <a:p>
            <a:pPr marL="0" indent="0">
              <a:buNone/>
            </a:pPr>
            <a:r>
              <a:rPr lang="en-US" sz="1100" b="1" dirty="0">
                <a:solidFill>
                  <a:srgbClr val="1E2A22"/>
                </a:solidFill>
                <a:latin typeface="Calibri" pitchFamily="34" charset="0"/>
                <a:ea typeface="Calibri" pitchFamily="34" charset="-122"/>
                <a:cs typeface="Calibri" pitchFamily="34" charset="-120"/>
              </a:rPr>
              <a:t>Cost of equity (Ke)</a:t>
            </a:r>
            <a:endParaRPr lang="en-US" sz="1100" dirty="0"/>
          </a:p>
        </p:txBody>
      </p:sp>
      <p:sp>
        <p:nvSpPr>
          <p:cNvPr id="7" name="Text 5"/>
          <p:cNvSpPr/>
          <p:nvPr/>
        </p:nvSpPr>
        <p:spPr>
          <a:xfrm>
            <a:off x="2061556" y="1499865"/>
            <a:ext cx="1778924" cy="215300"/>
          </a:xfrm>
          <a:prstGeom prst="rect">
            <a:avLst/>
          </a:prstGeom>
          <a:noFill/>
          <a:ln/>
        </p:spPr>
        <p:txBody>
          <a:bodyPr wrap="square" rtlCol="0" anchor="ctr"/>
          <a:lstStyle/>
          <a:p>
            <a:pPr marL="0" indent="0">
              <a:buNone/>
            </a:pPr>
            <a:r>
              <a:rPr lang="en-US" sz="1100" dirty="0">
                <a:solidFill>
                  <a:srgbClr val="5B6058"/>
                </a:solidFill>
                <a:latin typeface="Calibri" pitchFamily="34" charset="0"/>
                <a:ea typeface="Calibri" pitchFamily="34" charset="-122"/>
                <a:cs typeface="Calibri" pitchFamily="34" charset="-120"/>
              </a:rPr>
              <a:t>6.8% + 0.60×6.5% = 10.7%</a:t>
            </a:r>
            <a:endParaRPr lang="en-US" sz="1100" dirty="0"/>
          </a:p>
        </p:txBody>
      </p:sp>
      <p:sp>
        <p:nvSpPr>
          <p:cNvPr id="8" name="Shape 6"/>
          <p:cNvSpPr/>
          <p:nvPr/>
        </p:nvSpPr>
        <p:spPr>
          <a:xfrm>
            <a:off x="502920" y="1845259"/>
            <a:ext cx="3429000" cy="485546"/>
          </a:xfrm>
          <a:prstGeom prst="rect">
            <a:avLst/>
          </a:prstGeom>
          <a:solidFill>
            <a:srgbClr val="E4E8E1"/>
          </a:solidFill>
          <a:ln w="6350">
            <a:solidFill>
              <a:srgbClr val="CDD3CB"/>
            </a:solidFill>
            <a:prstDash val="solid"/>
          </a:ln>
        </p:spPr>
      </p:sp>
      <p:sp>
        <p:nvSpPr>
          <p:cNvPr id="9" name="Text 7"/>
          <p:cNvSpPr/>
          <p:nvPr/>
        </p:nvSpPr>
        <p:spPr>
          <a:xfrm>
            <a:off x="594360" y="1854403"/>
            <a:ext cx="3246120" cy="123444"/>
          </a:xfrm>
          <a:prstGeom prst="rect">
            <a:avLst/>
          </a:prstGeom>
          <a:noFill/>
          <a:ln/>
        </p:spPr>
        <p:txBody>
          <a:bodyPr wrap="square" rtlCol="0" anchor="ctr"/>
          <a:lstStyle/>
          <a:p>
            <a:pPr marL="0" indent="0">
              <a:buNone/>
            </a:pPr>
            <a:r>
              <a:rPr lang="en-US" sz="1100" b="1" dirty="0">
                <a:solidFill>
                  <a:srgbClr val="1E2A22"/>
                </a:solidFill>
                <a:latin typeface="Calibri" pitchFamily="34" charset="0"/>
                <a:ea typeface="Calibri" pitchFamily="34" charset="-122"/>
                <a:cs typeface="Calibri" pitchFamily="34" charset="-120"/>
              </a:rPr>
              <a:t>Post-tax cost of debt (Kd)</a:t>
            </a:r>
            <a:endParaRPr lang="en-US" sz="1100" dirty="0"/>
          </a:p>
        </p:txBody>
      </p:sp>
      <p:sp>
        <p:nvSpPr>
          <p:cNvPr id="10" name="Text 8"/>
          <p:cNvSpPr/>
          <p:nvPr/>
        </p:nvSpPr>
        <p:spPr>
          <a:xfrm>
            <a:off x="2163387" y="1845259"/>
            <a:ext cx="1575262" cy="152705"/>
          </a:xfrm>
          <a:prstGeom prst="rect">
            <a:avLst/>
          </a:prstGeom>
          <a:noFill/>
          <a:ln/>
        </p:spPr>
        <p:txBody>
          <a:bodyPr wrap="square" rtlCol="0" anchor="ctr"/>
          <a:lstStyle/>
          <a:p>
            <a:pPr marL="0" indent="0">
              <a:buNone/>
            </a:pPr>
            <a:r>
              <a:rPr lang="en-US" sz="1100" dirty="0">
                <a:solidFill>
                  <a:srgbClr val="5B6058"/>
                </a:solidFill>
                <a:latin typeface="Calibri" pitchFamily="34" charset="0"/>
                <a:ea typeface="Calibri" pitchFamily="34" charset="-122"/>
                <a:cs typeface="Calibri" pitchFamily="34" charset="-120"/>
              </a:rPr>
              <a:t>7.5% × (1−26%) = 5.55%</a:t>
            </a:r>
            <a:endParaRPr lang="en-US" sz="1100" dirty="0"/>
          </a:p>
        </p:txBody>
      </p:sp>
      <p:sp>
        <p:nvSpPr>
          <p:cNvPr id="11" name="Shape 9"/>
          <p:cNvSpPr/>
          <p:nvPr/>
        </p:nvSpPr>
        <p:spPr>
          <a:xfrm>
            <a:off x="502920" y="2099462"/>
            <a:ext cx="3429000" cy="363931"/>
          </a:xfrm>
          <a:prstGeom prst="rect">
            <a:avLst/>
          </a:prstGeom>
          <a:solidFill>
            <a:srgbClr val="FFFFFF"/>
          </a:solidFill>
          <a:ln w="6350">
            <a:solidFill>
              <a:srgbClr val="CDD3CB"/>
            </a:solidFill>
            <a:prstDash val="solid"/>
          </a:ln>
        </p:spPr>
      </p:sp>
      <p:sp>
        <p:nvSpPr>
          <p:cNvPr id="12" name="Text 10"/>
          <p:cNvSpPr/>
          <p:nvPr/>
        </p:nvSpPr>
        <p:spPr>
          <a:xfrm>
            <a:off x="594360" y="2108606"/>
            <a:ext cx="3246120" cy="123444"/>
          </a:xfrm>
          <a:prstGeom prst="rect">
            <a:avLst/>
          </a:prstGeom>
          <a:noFill/>
          <a:ln/>
        </p:spPr>
        <p:txBody>
          <a:bodyPr wrap="square" rtlCol="0" anchor="ctr"/>
          <a:lstStyle/>
          <a:p>
            <a:pPr marL="0" indent="0">
              <a:buNone/>
            </a:pPr>
            <a:r>
              <a:rPr lang="en-US" sz="1100" b="1" dirty="0">
                <a:solidFill>
                  <a:srgbClr val="1E2A22"/>
                </a:solidFill>
                <a:latin typeface="Calibri" pitchFamily="34" charset="0"/>
                <a:ea typeface="Calibri" pitchFamily="34" charset="-122"/>
                <a:cs typeface="Calibri" pitchFamily="34" charset="-120"/>
              </a:rPr>
              <a:t>Weight of equity (E/V)</a:t>
            </a:r>
            <a:endParaRPr lang="en-US" sz="1100" dirty="0"/>
          </a:p>
        </p:txBody>
      </p:sp>
      <p:sp>
        <p:nvSpPr>
          <p:cNvPr id="13" name="Text 11"/>
          <p:cNvSpPr/>
          <p:nvPr/>
        </p:nvSpPr>
        <p:spPr>
          <a:xfrm>
            <a:off x="2096885" y="2106444"/>
            <a:ext cx="1824644" cy="210313"/>
          </a:xfrm>
          <a:prstGeom prst="rect">
            <a:avLst/>
          </a:prstGeom>
          <a:noFill/>
          <a:ln/>
        </p:spPr>
        <p:txBody>
          <a:bodyPr wrap="square" rtlCol="0" anchor="ctr"/>
          <a:lstStyle/>
          <a:p>
            <a:pPr marL="0" indent="0">
              <a:buNone/>
            </a:pPr>
            <a:r>
              <a:rPr lang="en-US" sz="1100" dirty="0">
                <a:solidFill>
                  <a:srgbClr val="5B6058"/>
                </a:solidFill>
                <a:latin typeface="Calibri" pitchFamily="34" charset="0"/>
                <a:ea typeface="Calibri" pitchFamily="34" charset="-122"/>
                <a:cs typeface="Calibri" pitchFamily="34" charset="-120"/>
              </a:rPr>
              <a:t>4,95,189 / 4,96,667 = 99.7%</a:t>
            </a:r>
            <a:endParaRPr lang="en-US" sz="1100" dirty="0"/>
          </a:p>
        </p:txBody>
      </p:sp>
      <p:sp>
        <p:nvSpPr>
          <p:cNvPr id="14" name="Shape 12"/>
          <p:cNvSpPr/>
          <p:nvPr/>
        </p:nvSpPr>
        <p:spPr>
          <a:xfrm>
            <a:off x="502920" y="2353666"/>
            <a:ext cx="3429000" cy="363931"/>
          </a:xfrm>
          <a:prstGeom prst="rect">
            <a:avLst/>
          </a:prstGeom>
          <a:solidFill>
            <a:srgbClr val="E4E8E1"/>
          </a:solidFill>
          <a:ln w="6350">
            <a:solidFill>
              <a:srgbClr val="CDD3CB"/>
            </a:solidFill>
            <a:prstDash val="solid"/>
          </a:ln>
        </p:spPr>
      </p:sp>
      <p:sp>
        <p:nvSpPr>
          <p:cNvPr id="15" name="Text 13"/>
          <p:cNvSpPr/>
          <p:nvPr/>
        </p:nvSpPr>
        <p:spPr>
          <a:xfrm>
            <a:off x="594360" y="2362810"/>
            <a:ext cx="3246120" cy="123444"/>
          </a:xfrm>
          <a:prstGeom prst="rect">
            <a:avLst/>
          </a:prstGeom>
          <a:noFill/>
          <a:ln/>
        </p:spPr>
        <p:txBody>
          <a:bodyPr wrap="square" rtlCol="0" anchor="ctr"/>
          <a:lstStyle/>
          <a:p>
            <a:pPr marL="0" indent="0">
              <a:buNone/>
            </a:pPr>
            <a:r>
              <a:rPr lang="en-US" sz="1100" b="1" dirty="0">
                <a:solidFill>
                  <a:srgbClr val="1E2A22"/>
                </a:solidFill>
                <a:latin typeface="Calibri" pitchFamily="34" charset="0"/>
                <a:ea typeface="Calibri" pitchFamily="34" charset="-122"/>
                <a:cs typeface="Calibri" pitchFamily="34" charset="-120"/>
              </a:rPr>
              <a:t>Weight of debt (D/V)</a:t>
            </a:r>
            <a:endParaRPr lang="en-US" sz="1100" dirty="0"/>
          </a:p>
        </p:txBody>
      </p:sp>
      <p:sp>
        <p:nvSpPr>
          <p:cNvPr id="16" name="Text 14"/>
          <p:cNvSpPr/>
          <p:nvPr/>
        </p:nvSpPr>
        <p:spPr>
          <a:xfrm>
            <a:off x="2115589" y="2427649"/>
            <a:ext cx="1587731" cy="189364"/>
          </a:xfrm>
          <a:prstGeom prst="rect">
            <a:avLst/>
          </a:prstGeom>
          <a:noFill/>
          <a:ln/>
        </p:spPr>
        <p:txBody>
          <a:bodyPr wrap="square" rtlCol="0" anchor="ctr"/>
          <a:lstStyle/>
          <a:p>
            <a:pPr marL="0" indent="0">
              <a:buNone/>
            </a:pPr>
            <a:r>
              <a:rPr lang="en-US" sz="1100" dirty="0">
                <a:solidFill>
                  <a:srgbClr val="5B6058"/>
                </a:solidFill>
                <a:latin typeface="Calibri" pitchFamily="34" charset="0"/>
                <a:ea typeface="Calibri" pitchFamily="34" charset="-122"/>
                <a:cs typeface="Calibri" pitchFamily="34" charset="-120"/>
              </a:rPr>
              <a:t>1,478 / 4,96,667 = 0.3%</a:t>
            </a:r>
            <a:endParaRPr lang="en-US" sz="1100" dirty="0"/>
          </a:p>
        </p:txBody>
      </p:sp>
      <p:sp>
        <p:nvSpPr>
          <p:cNvPr id="17" name="Shape 15"/>
          <p:cNvSpPr/>
          <p:nvPr/>
        </p:nvSpPr>
        <p:spPr>
          <a:xfrm>
            <a:off x="502920" y="2607869"/>
            <a:ext cx="3429000" cy="363931"/>
          </a:xfrm>
          <a:prstGeom prst="rect">
            <a:avLst/>
          </a:prstGeom>
          <a:solidFill>
            <a:srgbClr val="EEF1EC"/>
          </a:solidFill>
          <a:ln w="6350">
            <a:solidFill>
              <a:srgbClr val="CDD3CB"/>
            </a:solidFill>
            <a:prstDash val="solid"/>
          </a:ln>
        </p:spPr>
      </p:sp>
      <p:sp>
        <p:nvSpPr>
          <p:cNvPr id="18" name="Text 16"/>
          <p:cNvSpPr/>
          <p:nvPr/>
        </p:nvSpPr>
        <p:spPr>
          <a:xfrm>
            <a:off x="594360" y="2708910"/>
            <a:ext cx="3246120" cy="123444"/>
          </a:xfrm>
          <a:prstGeom prst="rect">
            <a:avLst/>
          </a:prstGeom>
          <a:noFill/>
          <a:ln/>
        </p:spPr>
        <p:txBody>
          <a:bodyPr wrap="square" rtlCol="0" anchor="ctr"/>
          <a:lstStyle/>
          <a:p>
            <a:pPr marL="0" indent="0">
              <a:buNone/>
            </a:pPr>
            <a:r>
              <a:rPr lang="en-US" sz="1100" b="1" dirty="0">
                <a:solidFill>
                  <a:srgbClr val="1E2A22"/>
                </a:solidFill>
                <a:latin typeface="Calibri" pitchFamily="34" charset="0"/>
                <a:ea typeface="Calibri" pitchFamily="34" charset="-122"/>
                <a:cs typeface="Calibri" pitchFamily="34" charset="-120"/>
              </a:rPr>
              <a:t>WACC</a:t>
            </a:r>
            <a:endParaRPr lang="en-US" sz="1100" dirty="0"/>
          </a:p>
        </p:txBody>
      </p:sp>
      <p:sp>
        <p:nvSpPr>
          <p:cNvPr id="19" name="Text 17"/>
          <p:cNvSpPr/>
          <p:nvPr/>
        </p:nvSpPr>
        <p:spPr>
          <a:xfrm>
            <a:off x="1620982" y="2675077"/>
            <a:ext cx="2356658" cy="240487"/>
          </a:xfrm>
          <a:prstGeom prst="rect">
            <a:avLst/>
          </a:prstGeom>
          <a:noFill/>
          <a:ln/>
        </p:spPr>
        <p:txBody>
          <a:bodyPr wrap="square" rtlCol="0" anchor="ctr"/>
          <a:lstStyle/>
          <a:p>
            <a:pPr marL="0" indent="0">
              <a:buNone/>
            </a:pPr>
            <a:r>
              <a:rPr lang="en-US" sz="1100" dirty="0">
                <a:solidFill>
                  <a:srgbClr val="5B6058"/>
                </a:solidFill>
                <a:latin typeface="Calibri" pitchFamily="34" charset="0"/>
                <a:ea typeface="Calibri" pitchFamily="34" charset="-122"/>
                <a:cs typeface="Calibri" pitchFamily="34" charset="-120"/>
              </a:rPr>
              <a:t>99.7%×10.7% + 0.3%×5.55% = 10.68%</a:t>
            </a:r>
            <a:endParaRPr lang="en-US" sz="1100" dirty="0"/>
          </a:p>
        </p:txBody>
      </p:sp>
      <p:sp>
        <p:nvSpPr>
          <p:cNvPr id="20" name="Text 18"/>
          <p:cNvSpPr/>
          <p:nvPr/>
        </p:nvSpPr>
        <p:spPr>
          <a:xfrm>
            <a:off x="4046220" y="1335939"/>
            <a:ext cx="8001000" cy="201168"/>
          </a:xfrm>
          <a:prstGeom prst="rect">
            <a:avLst/>
          </a:prstGeom>
          <a:noFill/>
          <a:ln/>
        </p:spPr>
        <p:txBody>
          <a:bodyPr wrap="square" rtlCol="0" anchor="ctr"/>
          <a:lstStyle/>
          <a:p>
            <a:pPr marL="0" indent="0">
              <a:buNone/>
            </a:pPr>
            <a:r>
              <a:rPr lang="en-US" sz="950" b="1" kern="0" spc="120" dirty="0">
                <a:solidFill>
                  <a:srgbClr val="AA5A34"/>
                </a:solidFill>
                <a:latin typeface="Calibri" pitchFamily="34" charset="0"/>
                <a:ea typeface="Calibri" pitchFamily="34" charset="-122"/>
                <a:cs typeface="Calibri" pitchFamily="34" charset="-120"/>
              </a:rPr>
              <a:t>STEP 2 — DISCOUNT EXPLICIT-PERIOD FCFF (FY2027E–FY2031E)</a:t>
            </a:r>
            <a:endParaRPr lang="en-US" sz="950" dirty="0"/>
          </a:p>
        </p:txBody>
      </p:sp>
      <p:graphicFrame>
        <p:nvGraphicFramePr>
          <p:cNvPr id="21" name="Table 0"/>
          <p:cNvGraphicFramePr>
            <a:graphicFrameLocks noGrp="1"/>
          </p:cNvGraphicFramePr>
          <p:nvPr>
            <p:extLst>
              <p:ext uri="{D42A27DB-BD31-4B8C-83A1-F6EECF244321}">
                <p14:modId xmlns:p14="http://schemas.microsoft.com/office/powerpoint/2010/main" val="4106898675"/>
              </p:ext>
            </p:extLst>
          </p:nvPr>
        </p:nvGraphicFramePr>
        <p:xfrm>
          <a:off x="4160520" y="1613916"/>
          <a:ext cx="8001000" cy="873760"/>
        </p:xfrm>
        <a:graphic>
          <a:graphicData uri="http://schemas.openxmlformats.org/drawingml/2006/table">
            <a:tbl>
              <a:tblPr/>
              <a:tblGrid>
                <a:gridCol w="2331720">
                  <a:extLst>
                    <a:ext uri="{9D8B030D-6E8A-4147-A177-3AD203B41FA5}">
                      <a16:colId xmlns:a16="http://schemas.microsoft.com/office/drawing/2014/main" val="20000"/>
                    </a:ext>
                  </a:extLst>
                </a:gridCol>
                <a:gridCol w="1133856">
                  <a:extLst>
                    <a:ext uri="{9D8B030D-6E8A-4147-A177-3AD203B41FA5}">
                      <a16:colId xmlns:a16="http://schemas.microsoft.com/office/drawing/2014/main" val="20001"/>
                    </a:ext>
                  </a:extLst>
                </a:gridCol>
                <a:gridCol w="1133856">
                  <a:extLst>
                    <a:ext uri="{9D8B030D-6E8A-4147-A177-3AD203B41FA5}">
                      <a16:colId xmlns:a16="http://schemas.microsoft.com/office/drawing/2014/main" val="20002"/>
                    </a:ext>
                  </a:extLst>
                </a:gridCol>
                <a:gridCol w="1133856">
                  <a:extLst>
                    <a:ext uri="{9D8B030D-6E8A-4147-A177-3AD203B41FA5}">
                      <a16:colId xmlns:a16="http://schemas.microsoft.com/office/drawing/2014/main" val="20003"/>
                    </a:ext>
                  </a:extLst>
                </a:gridCol>
                <a:gridCol w="1133856">
                  <a:extLst>
                    <a:ext uri="{9D8B030D-6E8A-4147-A177-3AD203B41FA5}">
                      <a16:colId xmlns:a16="http://schemas.microsoft.com/office/drawing/2014/main" val="20004"/>
                    </a:ext>
                  </a:extLst>
                </a:gridCol>
                <a:gridCol w="1133856">
                  <a:extLst>
                    <a:ext uri="{9D8B030D-6E8A-4147-A177-3AD203B41FA5}">
                      <a16:colId xmlns:a16="http://schemas.microsoft.com/office/drawing/2014/main" val="20005"/>
                    </a:ext>
                  </a:extLst>
                </a:gridCol>
              </a:tblGrid>
              <a:tr h="201168">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Rs. crore</a:t>
                      </a:r>
                      <a:endParaRPr lang="en-US" sz="1100" dirty="0">
                        <a:latin typeface="Calibri" charset="0"/>
                        <a:ea typeface="Calibri" charset="0"/>
                        <a:cs typeface="Calibri" charset="0"/>
                      </a:endParaRPr>
                    </a:p>
                  </a:txBody>
                  <a:tcPr marL="63500" marR="63500" marT="25400" marB="25400" anchor="ctr">
                    <a:lnL w="6350" cap="flat" cmpd="sng" algn="ctr">
                      <a:solidFill>
                        <a:srgbClr val="CDD3CB"/>
                      </a:solidFill>
                      <a:prstDash val="solid"/>
                      <a:round/>
                      <a:headEnd type="none" w="med" len="med"/>
                      <a:tailEnd type="none" w="med" len="med"/>
                    </a:lnL>
                    <a:lnR w="6350" cap="flat" cmpd="sng" algn="ctr">
                      <a:solidFill>
                        <a:srgbClr val="CDD3CB"/>
                      </a:solidFill>
                      <a:prstDash val="solid"/>
                      <a:round/>
                      <a:headEnd type="none" w="med" len="med"/>
                      <a:tailEnd type="none" w="med" len="med"/>
                    </a:lnR>
                    <a:lnT w="6350" cap="flat" cmpd="sng" algn="ctr">
                      <a:solidFill>
                        <a:srgbClr val="CDD3CB"/>
                      </a:solidFill>
                      <a:prstDash val="solid"/>
                      <a:round/>
                      <a:headEnd type="none" w="med" len="med"/>
                      <a:tailEnd type="none" w="med" len="med"/>
                    </a:lnT>
                    <a:lnB w="6350" cap="flat" cmpd="sng" algn="ctr">
                      <a:solidFill>
                        <a:srgbClr val="CDD3CB"/>
                      </a:solidFill>
                      <a:prstDash val="solid"/>
                      <a:round/>
                      <a:headEnd type="none" w="med" len="med"/>
                      <a:tailEnd type="none" w="med" len="med"/>
                    </a:lnB>
                    <a:solidFill>
                      <a:srgbClr val="1E2A22"/>
                    </a:solidFill>
                  </a:tcPr>
                </a:tc>
                <a:tc>
                  <a:txBody>
                    <a:bodyPr/>
                    <a:lstStyle/>
                    <a:p>
                      <a:pPr marL="0" indent="0" algn="r">
                        <a:buNone/>
                      </a:pPr>
                      <a:r>
                        <a:rPr lang="en-US" sz="860" b="1" dirty="0">
                          <a:solidFill>
                            <a:srgbClr val="FFFFFF"/>
                          </a:solidFill>
                          <a:latin typeface="Calibri" pitchFamily="34" charset="0"/>
                          <a:ea typeface="Calibri" pitchFamily="34" charset="-122"/>
                          <a:cs typeface="Calibri" pitchFamily="34" charset="-120"/>
                        </a:rPr>
                        <a:t>FY27E</a:t>
                      </a:r>
                      <a:endParaRPr lang="en-US" sz="860" dirty="0">
                        <a:latin typeface="Calibri" charset="0"/>
                        <a:ea typeface="Calibri" charset="0"/>
                        <a:cs typeface="Calibri" charset="0"/>
                      </a:endParaRPr>
                    </a:p>
                  </a:txBody>
                  <a:tcPr marL="63500" marR="63500" marT="25400" marB="25400" anchor="ctr">
                    <a:lnL w="6350" cap="flat" cmpd="sng" algn="ctr">
                      <a:solidFill>
                        <a:srgbClr val="CDD3CB"/>
                      </a:solidFill>
                      <a:prstDash val="solid"/>
                      <a:round/>
                      <a:headEnd type="none" w="med" len="med"/>
                      <a:tailEnd type="none" w="med" len="med"/>
                    </a:lnL>
                    <a:lnR w="6350" cap="flat" cmpd="sng" algn="ctr">
                      <a:solidFill>
                        <a:srgbClr val="CDD3CB"/>
                      </a:solidFill>
                      <a:prstDash val="solid"/>
                      <a:round/>
                      <a:headEnd type="none" w="med" len="med"/>
                      <a:tailEnd type="none" w="med" len="med"/>
                    </a:lnR>
                    <a:lnT w="6350" cap="flat" cmpd="sng" algn="ctr">
                      <a:solidFill>
                        <a:srgbClr val="CDD3CB"/>
                      </a:solidFill>
                      <a:prstDash val="solid"/>
                      <a:round/>
                      <a:headEnd type="none" w="med" len="med"/>
                      <a:tailEnd type="none" w="med" len="med"/>
                    </a:lnT>
                    <a:lnB w="6350" cap="flat" cmpd="sng" algn="ctr">
                      <a:solidFill>
                        <a:srgbClr val="CDD3CB"/>
                      </a:solidFill>
                      <a:prstDash val="solid"/>
                      <a:round/>
                      <a:headEnd type="none" w="med" len="med"/>
                      <a:tailEnd type="none" w="med" len="med"/>
                    </a:lnB>
                    <a:solidFill>
                      <a:srgbClr val="1E2A22"/>
                    </a:solidFill>
                  </a:tcPr>
                </a:tc>
                <a:tc>
                  <a:txBody>
                    <a:bodyPr/>
                    <a:lstStyle/>
                    <a:p>
                      <a:pPr marL="0" indent="0" algn="r">
                        <a:buNone/>
                      </a:pPr>
                      <a:r>
                        <a:rPr lang="en-US" sz="860" b="1" dirty="0">
                          <a:solidFill>
                            <a:srgbClr val="FFFFFF"/>
                          </a:solidFill>
                          <a:latin typeface="Calibri" pitchFamily="34" charset="0"/>
                          <a:ea typeface="Calibri" pitchFamily="34" charset="-122"/>
                          <a:cs typeface="Calibri" pitchFamily="34" charset="-120"/>
                        </a:rPr>
                        <a:t>FY28E</a:t>
                      </a:r>
                      <a:endParaRPr lang="en-US" sz="860" dirty="0">
                        <a:latin typeface="Calibri" charset="0"/>
                        <a:ea typeface="Calibri" charset="0"/>
                        <a:cs typeface="Calibri" charset="0"/>
                      </a:endParaRPr>
                    </a:p>
                  </a:txBody>
                  <a:tcPr marL="63500" marR="63500" marT="25400" marB="25400" anchor="ctr">
                    <a:lnL w="6350" cap="flat" cmpd="sng" algn="ctr">
                      <a:solidFill>
                        <a:srgbClr val="CDD3CB"/>
                      </a:solidFill>
                      <a:prstDash val="solid"/>
                      <a:round/>
                      <a:headEnd type="none" w="med" len="med"/>
                      <a:tailEnd type="none" w="med" len="med"/>
                    </a:lnL>
                    <a:lnR w="6350" cap="flat" cmpd="sng" algn="ctr">
                      <a:solidFill>
                        <a:srgbClr val="CDD3CB"/>
                      </a:solidFill>
                      <a:prstDash val="solid"/>
                      <a:round/>
                      <a:headEnd type="none" w="med" len="med"/>
                      <a:tailEnd type="none" w="med" len="med"/>
                    </a:lnR>
                    <a:lnT w="6350" cap="flat" cmpd="sng" algn="ctr">
                      <a:solidFill>
                        <a:srgbClr val="CDD3CB"/>
                      </a:solidFill>
                      <a:prstDash val="solid"/>
                      <a:round/>
                      <a:headEnd type="none" w="med" len="med"/>
                      <a:tailEnd type="none" w="med" len="med"/>
                    </a:lnT>
                    <a:lnB w="6350" cap="flat" cmpd="sng" algn="ctr">
                      <a:solidFill>
                        <a:srgbClr val="CDD3CB"/>
                      </a:solidFill>
                      <a:prstDash val="solid"/>
                      <a:round/>
                      <a:headEnd type="none" w="med" len="med"/>
                      <a:tailEnd type="none" w="med" len="med"/>
                    </a:lnB>
                    <a:solidFill>
                      <a:srgbClr val="1E2A22"/>
                    </a:solidFill>
                  </a:tcPr>
                </a:tc>
                <a:tc>
                  <a:txBody>
                    <a:bodyPr/>
                    <a:lstStyle/>
                    <a:p>
                      <a:pPr marL="0" indent="0" algn="r">
                        <a:buNone/>
                      </a:pPr>
                      <a:r>
                        <a:rPr lang="en-US" sz="860" b="1" dirty="0">
                          <a:solidFill>
                            <a:srgbClr val="FFFFFF"/>
                          </a:solidFill>
                          <a:latin typeface="Calibri" pitchFamily="34" charset="0"/>
                          <a:ea typeface="Calibri" pitchFamily="34" charset="-122"/>
                          <a:cs typeface="Calibri" pitchFamily="34" charset="-120"/>
                        </a:rPr>
                        <a:t>FY29E</a:t>
                      </a:r>
                      <a:endParaRPr lang="en-US" sz="860" dirty="0">
                        <a:latin typeface="Calibri" charset="0"/>
                        <a:ea typeface="Calibri" charset="0"/>
                        <a:cs typeface="Calibri" charset="0"/>
                      </a:endParaRPr>
                    </a:p>
                  </a:txBody>
                  <a:tcPr marL="63500" marR="63500" marT="25400" marB="25400" anchor="ctr">
                    <a:lnL w="6350" cap="flat" cmpd="sng" algn="ctr">
                      <a:solidFill>
                        <a:srgbClr val="CDD3CB"/>
                      </a:solidFill>
                      <a:prstDash val="solid"/>
                      <a:round/>
                      <a:headEnd type="none" w="med" len="med"/>
                      <a:tailEnd type="none" w="med" len="med"/>
                    </a:lnL>
                    <a:lnR w="6350" cap="flat" cmpd="sng" algn="ctr">
                      <a:solidFill>
                        <a:srgbClr val="CDD3CB"/>
                      </a:solidFill>
                      <a:prstDash val="solid"/>
                      <a:round/>
                      <a:headEnd type="none" w="med" len="med"/>
                      <a:tailEnd type="none" w="med" len="med"/>
                    </a:lnR>
                    <a:lnT w="6350" cap="flat" cmpd="sng" algn="ctr">
                      <a:solidFill>
                        <a:srgbClr val="CDD3CB"/>
                      </a:solidFill>
                      <a:prstDash val="solid"/>
                      <a:round/>
                      <a:headEnd type="none" w="med" len="med"/>
                      <a:tailEnd type="none" w="med" len="med"/>
                    </a:lnT>
                    <a:lnB w="6350" cap="flat" cmpd="sng" algn="ctr">
                      <a:solidFill>
                        <a:srgbClr val="CDD3CB"/>
                      </a:solidFill>
                      <a:prstDash val="solid"/>
                      <a:round/>
                      <a:headEnd type="none" w="med" len="med"/>
                      <a:tailEnd type="none" w="med" len="med"/>
                    </a:lnB>
                    <a:solidFill>
                      <a:srgbClr val="1E2A22"/>
                    </a:solidFill>
                  </a:tcPr>
                </a:tc>
                <a:tc>
                  <a:txBody>
                    <a:bodyPr/>
                    <a:lstStyle/>
                    <a:p>
                      <a:pPr marL="0" indent="0" algn="r">
                        <a:buNone/>
                      </a:pPr>
                      <a:r>
                        <a:rPr lang="en-US" sz="860" b="1" dirty="0">
                          <a:solidFill>
                            <a:srgbClr val="FFFFFF"/>
                          </a:solidFill>
                          <a:latin typeface="Calibri" pitchFamily="34" charset="0"/>
                          <a:ea typeface="Calibri" pitchFamily="34" charset="-122"/>
                          <a:cs typeface="Calibri" pitchFamily="34" charset="-120"/>
                        </a:rPr>
                        <a:t>FY30E</a:t>
                      </a:r>
                      <a:endParaRPr lang="en-US" sz="860" dirty="0">
                        <a:latin typeface="Calibri" charset="0"/>
                        <a:ea typeface="Calibri" charset="0"/>
                        <a:cs typeface="Calibri" charset="0"/>
                      </a:endParaRPr>
                    </a:p>
                  </a:txBody>
                  <a:tcPr marL="63500" marR="63500" marT="25400" marB="25400" anchor="ctr">
                    <a:lnL w="6350" cap="flat" cmpd="sng" algn="ctr">
                      <a:solidFill>
                        <a:srgbClr val="CDD3CB"/>
                      </a:solidFill>
                      <a:prstDash val="solid"/>
                      <a:round/>
                      <a:headEnd type="none" w="med" len="med"/>
                      <a:tailEnd type="none" w="med" len="med"/>
                    </a:lnL>
                    <a:lnR w="6350" cap="flat" cmpd="sng" algn="ctr">
                      <a:solidFill>
                        <a:srgbClr val="CDD3CB"/>
                      </a:solidFill>
                      <a:prstDash val="solid"/>
                      <a:round/>
                      <a:headEnd type="none" w="med" len="med"/>
                      <a:tailEnd type="none" w="med" len="med"/>
                    </a:lnR>
                    <a:lnT w="6350" cap="flat" cmpd="sng" algn="ctr">
                      <a:solidFill>
                        <a:srgbClr val="CDD3CB"/>
                      </a:solidFill>
                      <a:prstDash val="solid"/>
                      <a:round/>
                      <a:headEnd type="none" w="med" len="med"/>
                      <a:tailEnd type="none" w="med" len="med"/>
                    </a:lnT>
                    <a:lnB w="6350" cap="flat" cmpd="sng" algn="ctr">
                      <a:solidFill>
                        <a:srgbClr val="CDD3CB"/>
                      </a:solidFill>
                      <a:prstDash val="solid"/>
                      <a:round/>
                      <a:headEnd type="none" w="med" len="med"/>
                      <a:tailEnd type="none" w="med" len="med"/>
                    </a:lnB>
                    <a:solidFill>
                      <a:srgbClr val="1E2A22"/>
                    </a:solidFill>
                  </a:tcPr>
                </a:tc>
                <a:tc>
                  <a:txBody>
                    <a:bodyPr/>
                    <a:lstStyle/>
                    <a:p>
                      <a:pPr marL="0" indent="0" algn="r">
                        <a:buNone/>
                      </a:pPr>
                      <a:r>
                        <a:rPr lang="en-US" sz="860" b="1" dirty="0">
                          <a:solidFill>
                            <a:srgbClr val="FFFFFF"/>
                          </a:solidFill>
                          <a:latin typeface="Calibri" pitchFamily="34" charset="0"/>
                          <a:ea typeface="Calibri" pitchFamily="34" charset="-122"/>
                          <a:cs typeface="Calibri" pitchFamily="34" charset="-120"/>
                        </a:rPr>
                        <a:t>FY31E</a:t>
                      </a:r>
                      <a:endParaRPr lang="en-US" sz="860" dirty="0">
                        <a:latin typeface="Calibri" charset="0"/>
                        <a:ea typeface="Calibri" charset="0"/>
                        <a:cs typeface="Calibri" charset="0"/>
                      </a:endParaRPr>
                    </a:p>
                  </a:txBody>
                  <a:tcPr marL="63500" marR="63500" marT="25400" marB="25400" anchor="ctr">
                    <a:lnL w="6350" cap="flat" cmpd="sng" algn="ctr">
                      <a:solidFill>
                        <a:srgbClr val="CDD3CB"/>
                      </a:solidFill>
                      <a:prstDash val="solid"/>
                      <a:round/>
                      <a:headEnd type="none" w="med" len="med"/>
                      <a:tailEnd type="none" w="med" len="med"/>
                    </a:lnL>
                    <a:lnR w="6350" cap="flat" cmpd="sng" algn="ctr">
                      <a:solidFill>
                        <a:srgbClr val="CDD3CB"/>
                      </a:solidFill>
                      <a:prstDash val="solid"/>
                      <a:round/>
                      <a:headEnd type="none" w="med" len="med"/>
                      <a:tailEnd type="none" w="med" len="med"/>
                    </a:lnR>
                    <a:lnT w="6350" cap="flat" cmpd="sng" algn="ctr">
                      <a:solidFill>
                        <a:srgbClr val="CDD3CB"/>
                      </a:solidFill>
                      <a:prstDash val="solid"/>
                      <a:round/>
                      <a:headEnd type="none" w="med" len="med"/>
                      <a:tailEnd type="none" w="med" len="med"/>
                    </a:lnT>
                    <a:lnB w="6350" cap="flat" cmpd="sng" algn="ctr">
                      <a:solidFill>
                        <a:srgbClr val="CDD3CB"/>
                      </a:solidFill>
                      <a:prstDash val="solid"/>
                      <a:round/>
                      <a:headEnd type="none" w="med" len="med"/>
                      <a:tailEnd type="none" w="med" len="med"/>
                    </a:lnB>
                    <a:solidFill>
                      <a:srgbClr val="1E2A22"/>
                    </a:solidFill>
                  </a:tcPr>
                </a:tc>
                <a:extLst>
                  <a:ext uri="{0D108BD9-81ED-4DB2-BD59-A6C34878D82A}">
                    <a16:rowId xmlns:a16="http://schemas.microsoft.com/office/drawing/2014/main" val="10000"/>
                  </a:ext>
                </a:extLst>
              </a:tr>
              <a:tr h="201168">
                <a:tc>
                  <a:txBody>
                    <a:bodyPr/>
                    <a:lstStyle/>
                    <a:p>
                      <a:pPr marL="0" indent="0" algn="l">
                        <a:buNone/>
                      </a:pPr>
                      <a:r>
                        <a:rPr lang="en-US" sz="1100" dirty="0">
                          <a:solidFill>
                            <a:srgbClr val="1E2A22"/>
                          </a:solidFill>
                          <a:latin typeface="Calibri" pitchFamily="34" charset="0"/>
                          <a:ea typeface="Calibri" pitchFamily="34" charset="-122"/>
                          <a:cs typeface="Calibri" pitchFamily="34" charset="-120"/>
                        </a:rPr>
                        <a:t>FCFF</a:t>
                      </a:r>
                      <a:endParaRPr lang="en-US" sz="1100" dirty="0">
                        <a:latin typeface="Calibri" charset="0"/>
                        <a:ea typeface="Calibri" charset="0"/>
                        <a:cs typeface="Calibri" charset="0"/>
                      </a:endParaRPr>
                    </a:p>
                  </a:txBody>
                  <a:tcPr marL="63500" marR="63500" marT="25400" marB="25400" anchor="ctr">
                    <a:lnL w="6350" cap="flat" cmpd="sng" algn="ctr">
                      <a:solidFill>
                        <a:srgbClr val="CDD3CB"/>
                      </a:solidFill>
                      <a:prstDash val="solid"/>
                      <a:round/>
                      <a:headEnd type="none" w="med" len="med"/>
                      <a:tailEnd type="none" w="med" len="med"/>
                    </a:lnL>
                    <a:lnR w="6350" cap="flat" cmpd="sng" algn="ctr">
                      <a:solidFill>
                        <a:srgbClr val="CDD3CB"/>
                      </a:solidFill>
                      <a:prstDash val="solid"/>
                      <a:round/>
                      <a:headEnd type="none" w="med" len="med"/>
                      <a:tailEnd type="none" w="med" len="med"/>
                    </a:lnR>
                    <a:lnT w="6350" cap="flat" cmpd="sng" algn="ctr">
                      <a:solidFill>
                        <a:srgbClr val="CDD3CB"/>
                      </a:solidFill>
                      <a:prstDash val="solid"/>
                      <a:round/>
                      <a:headEnd type="none" w="med" len="med"/>
                      <a:tailEnd type="none" w="med" len="med"/>
                    </a:lnT>
                    <a:lnB w="6350" cap="flat" cmpd="sng" algn="ctr">
                      <a:solidFill>
                        <a:srgbClr val="CDD3CB"/>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E2A22"/>
                          </a:solidFill>
                          <a:latin typeface="Calibri" pitchFamily="34" charset="0"/>
                          <a:ea typeface="Calibri" pitchFamily="34" charset="-122"/>
                          <a:cs typeface="Calibri" pitchFamily="34" charset="-120"/>
                        </a:rPr>
                        <a:t>11,681</a:t>
                      </a:r>
                      <a:endParaRPr lang="en-US" sz="1100" dirty="0">
                        <a:latin typeface="Calibri" charset="0"/>
                        <a:ea typeface="Calibri" charset="0"/>
                        <a:cs typeface="Calibri" charset="0"/>
                      </a:endParaRPr>
                    </a:p>
                  </a:txBody>
                  <a:tcPr marL="63500" marR="63500" marT="25400" marB="25400" anchor="ctr">
                    <a:lnL w="6350" cap="flat" cmpd="sng" algn="ctr">
                      <a:solidFill>
                        <a:srgbClr val="CDD3CB"/>
                      </a:solidFill>
                      <a:prstDash val="solid"/>
                      <a:round/>
                      <a:headEnd type="none" w="med" len="med"/>
                      <a:tailEnd type="none" w="med" len="med"/>
                    </a:lnL>
                    <a:lnR w="6350" cap="flat" cmpd="sng" algn="ctr">
                      <a:solidFill>
                        <a:srgbClr val="CDD3CB"/>
                      </a:solidFill>
                      <a:prstDash val="solid"/>
                      <a:round/>
                      <a:headEnd type="none" w="med" len="med"/>
                      <a:tailEnd type="none" w="med" len="med"/>
                    </a:lnR>
                    <a:lnT w="6350" cap="flat" cmpd="sng" algn="ctr">
                      <a:solidFill>
                        <a:srgbClr val="CDD3CB"/>
                      </a:solidFill>
                      <a:prstDash val="solid"/>
                      <a:round/>
                      <a:headEnd type="none" w="med" len="med"/>
                      <a:tailEnd type="none" w="med" len="med"/>
                    </a:lnT>
                    <a:lnB w="6350" cap="flat" cmpd="sng" algn="ctr">
                      <a:solidFill>
                        <a:srgbClr val="CDD3CB"/>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E2A22"/>
                          </a:solidFill>
                          <a:latin typeface="Calibri" pitchFamily="34" charset="0"/>
                          <a:ea typeface="Calibri" pitchFamily="34" charset="-122"/>
                          <a:cs typeface="Calibri" pitchFamily="34" charset="-120"/>
                        </a:rPr>
                        <a:t>12,543</a:t>
                      </a:r>
                      <a:endParaRPr lang="en-US" sz="1100" dirty="0">
                        <a:latin typeface="Calibri" charset="0"/>
                        <a:ea typeface="Calibri" charset="0"/>
                        <a:cs typeface="Calibri" charset="0"/>
                      </a:endParaRPr>
                    </a:p>
                  </a:txBody>
                  <a:tcPr marL="63500" marR="63500" marT="25400" marB="25400" anchor="ctr">
                    <a:lnL w="6350" cap="flat" cmpd="sng" algn="ctr">
                      <a:solidFill>
                        <a:srgbClr val="CDD3CB"/>
                      </a:solidFill>
                      <a:prstDash val="solid"/>
                      <a:round/>
                      <a:headEnd type="none" w="med" len="med"/>
                      <a:tailEnd type="none" w="med" len="med"/>
                    </a:lnL>
                    <a:lnR w="6350" cap="flat" cmpd="sng" algn="ctr">
                      <a:solidFill>
                        <a:srgbClr val="CDD3CB"/>
                      </a:solidFill>
                      <a:prstDash val="solid"/>
                      <a:round/>
                      <a:headEnd type="none" w="med" len="med"/>
                      <a:tailEnd type="none" w="med" len="med"/>
                    </a:lnR>
                    <a:lnT w="6350" cap="flat" cmpd="sng" algn="ctr">
                      <a:solidFill>
                        <a:srgbClr val="CDD3CB"/>
                      </a:solidFill>
                      <a:prstDash val="solid"/>
                      <a:round/>
                      <a:headEnd type="none" w="med" len="med"/>
                      <a:tailEnd type="none" w="med" len="med"/>
                    </a:lnT>
                    <a:lnB w="6350" cap="flat" cmpd="sng" algn="ctr">
                      <a:solidFill>
                        <a:srgbClr val="CDD3CB"/>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E2A22"/>
                          </a:solidFill>
                          <a:latin typeface="Calibri" pitchFamily="34" charset="0"/>
                          <a:ea typeface="Calibri" pitchFamily="34" charset="-122"/>
                          <a:cs typeface="Calibri" pitchFamily="34" charset="-120"/>
                        </a:rPr>
                        <a:t>13,421</a:t>
                      </a:r>
                      <a:endParaRPr lang="en-US" sz="1100" dirty="0">
                        <a:latin typeface="Calibri" charset="0"/>
                        <a:ea typeface="Calibri" charset="0"/>
                        <a:cs typeface="Calibri" charset="0"/>
                      </a:endParaRPr>
                    </a:p>
                  </a:txBody>
                  <a:tcPr marL="63500" marR="63500" marT="25400" marB="25400" anchor="ctr">
                    <a:lnL w="6350" cap="flat" cmpd="sng" algn="ctr">
                      <a:solidFill>
                        <a:srgbClr val="CDD3CB"/>
                      </a:solidFill>
                      <a:prstDash val="solid"/>
                      <a:round/>
                      <a:headEnd type="none" w="med" len="med"/>
                      <a:tailEnd type="none" w="med" len="med"/>
                    </a:lnL>
                    <a:lnR w="6350" cap="flat" cmpd="sng" algn="ctr">
                      <a:solidFill>
                        <a:srgbClr val="CDD3CB"/>
                      </a:solidFill>
                      <a:prstDash val="solid"/>
                      <a:round/>
                      <a:headEnd type="none" w="med" len="med"/>
                      <a:tailEnd type="none" w="med" len="med"/>
                    </a:lnR>
                    <a:lnT w="6350" cap="flat" cmpd="sng" algn="ctr">
                      <a:solidFill>
                        <a:srgbClr val="CDD3CB"/>
                      </a:solidFill>
                      <a:prstDash val="solid"/>
                      <a:round/>
                      <a:headEnd type="none" w="med" len="med"/>
                      <a:tailEnd type="none" w="med" len="med"/>
                    </a:lnT>
                    <a:lnB w="6350" cap="flat" cmpd="sng" algn="ctr">
                      <a:solidFill>
                        <a:srgbClr val="CDD3CB"/>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E2A22"/>
                          </a:solidFill>
                          <a:latin typeface="Calibri" pitchFamily="34" charset="0"/>
                          <a:ea typeface="Calibri" pitchFamily="34" charset="-122"/>
                          <a:cs typeface="Calibri" pitchFamily="34" charset="-120"/>
                        </a:rPr>
                        <a:t>14,267</a:t>
                      </a:r>
                      <a:endParaRPr lang="en-US" sz="1100" dirty="0">
                        <a:latin typeface="Calibri" charset="0"/>
                        <a:ea typeface="Calibri" charset="0"/>
                        <a:cs typeface="Calibri" charset="0"/>
                      </a:endParaRPr>
                    </a:p>
                  </a:txBody>
                  <a:tcPr marL="63500" marR="63500" marT="25400" marB="25400" anchor="ctr">
                    <a:lnL w="6350" cap="flat" cmpd="sng" algn="ctr">
                      <a:solidFill>
                        <a:srgbClr val="CDD3CB"/>
                      </a:solidFill>
                      <a:prstDash val="solid"/>
                      <a:round/>
                      <a:headEnd type="none" w="med" len="med"/>
                      <a:tailEnd type="none" w="med" len="med"/>
                    </a:lnL>
                    <a:lnR w="6350" cap="flat" cmpd="sng" algn="ctr">
                      <a:solidFill>
                        <a:srgbClr val="CDD3CB"/>
                      </a:solidFill>
                      <a:prstDash val="solid"/>
                      <a:round/>
                      <a:headEnd type="none" w="med" len="med"/>
                      <a:tailEnd type="none" w="med" len="med"/>
                    </a:lnR>
                    <a:lnT w="6350" cap="flat" cmpd="sng" algn="ctr">
                      <a:solidFill>
                        <a:srgbClr val="CDD3CB"/>
                      </a:solidFill>
                      <a:prstDash val="solid"/>
                      <a:round/>
                      <a:headEnd type="none" w="med" len="med"/>
                      <a:tailEnd type="none" w="med" len="med"/>
                    </a:lnT>
                    <a:lnB w="6350" cap="flat" cmpd="sng" algn="ctr">
                      <a:solidFill>
                        <a:srgbClr val="CDD3CB"/>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E2A22"/>
                          </a:solidFill>
                          <a:latin typeface="Calibri" pitchFamily="34" charset="0"/>
                          <a:ea typeface="Calibri" pitchFamily="34" charset="-122"/>
                          <a:cs typeface="Calibri" pitchFamily="34" charset="-120"/>
                        </a:rPr>
                        <a:t>15,123</a:t>
                      </a:r>
                      <a:endParaRPr lang="en-US" sz="1100" dirty="0">
                        <a:latin typeface="Calibri" charset="0"/>
                        <a:ea typeface="Calibri" charset="0"/>
                        <a:cs typeface="Calibri" charset="0"/>
                      </a:endParaRPr>
                    </a:p>
                  </a:txBody>
                  <a:tcPr marL="63500" marR="63500" marT="25400" marB="25400" anchor="ctr">
                    <a:lnL w="6350" cap="flat" cmpd="sng" algn="ctr">
                      <a:solidFill>
                        <a:srgbClr val="CDD3CB"/>
                      </a:solidFill>
                      <a:prstDash val="solid"/>
                      <a:round/>
                      <a:headEnd type="none" w="med" len="med"/>
                      <a:tailEnd type="none" w="med" len="med"/>
                    </a:lnL>
                    <a:lnR w="6350" cap="flat" cmpd="sng" algn="ctr">
                      <a:solidFill>
                        <a:srgbClr val="CDD3CB"/>
                      </a:solidFill>
                      <a:prstDash val="solid"/>
                      <a:round/>
                      <a:headEnd type="none" w="med" len="med"/>
                      <a:tailEnd type="none" w="med" len="med"/>
                    </a:lnR>
                    <a:lnT w="6350" cap="flat" cmpd="sng" algn="ctr">
                      <a:solidFill>
                        <a:srgbClr val="CDD3CB"/>
                      </a:solidFill>
                      <a:prstDash val="solid"/>
                      <a:round/>
                      <a:headEnd type="none" w="med" len="med"/>
                      <a:tailEnd type="none" w="med" len="med"/>
                    </a:lnT>
                    <a:lnB w="6350" cap="flat" cmpd="sng" algn="ctr">
                      <a:solidFill>
                        <a:srgbClr val="CDD3C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01168">
                <a:tc>
                  <a:txBody>
                    <a:bodyPr/>
                    <a:lstStyle/>
                    <a:p>
                      <a:pPr marL="0" indent="0" algn="l">
                        <a:buNone/>
                      </a:pPr>
                      <a:r>
                        <a:rPr lang="en-US" sz="1100" dirty="0">
                          <a:solidFill>
                            <a:srgbClr val="1E2A22"/>
                          </a:solidFill>
                          <a:latin typeface="Calibri" pitchFamily="34" charset="0"/>
                          <a:ea typeface="Calibri" pitchFamily="34" charset="-122"/>
                          <a:cs typeface="Calibri" pitchFamily="34" charset="-120"/>
                        </a:rPr>
                        <a:t>Discount factor @ 10.68%</a:t>
                      </a:r>
                      <a:endParaRPr lang="en-US" sz="1100" dirty="0">
                        <a:latin typeface="Calibri" charset="0"/>
                        <a:ea typeface="Calibri" charset="0"/>
                        <a:cs typeface="Calibri" charset="0"/>
                      </a:endParaRPr>
                    </a:p>
                  </a:txBody>
                  <a:tcPr marL="63500" marR="63500" marT="25400" marB="25400" anchor="ctr">
                    <a:lnL w="6350" cap="flat" cmpd="sng" algn="ctr">
                      <a:solidFill>
                        <a:srgbClr val="CDD3CB"/>
                      </a:solidFill>
                      <a:prstDash val="solid"/>
                      <a:round/>
                      <a:headEnd type="none" w="med" len="med"/>
                      <a:tailEnd type="none" w="med" len="med"/>
                    </a:lnL>
                    <a:lnR w="6350" cap="flat" cmpd="sng" algn="ctr">
                      <a:solidFill>
                        <a:srgbClr val="CDD3CB"/>
                      </a:solidFill>
                      <a:prstDash val="solid"/>
                      <a:round/>
                      <a:headEnd type="none" w="med" len="med"/>
                      <a:tailEnd type="none" w="med" len="med"/>
                    </a:lnR>
                    <a:lnT w="6350" cap="flat" cmpd="sng" algn="ctr">
                      <a:solidFill>
                        <a:srgbClr val="CDD3CB"/>
                      </a:solidFill>
                      <a:prstDash val="solid"/>
                      <a:round/>
                      <a:headEnd type="none" w="med" len="med"/>
                      <a:tailEnd type="none" w="med" len="med"/>
                    </a:lnT>
                    <a:lnB w="6350" cap="flat" cmpd="sng" algn="ctr">
                      <a:solidFill>
                        <a:srgbClr val="CDD3CB"/>
                      </a:solidFill>
                      <a:prstDash val="solid"/>
                      <a:round/>
                      <a:headEnd type="none" w="med" len="med"/>
                      <a:tailEnd type="none" w="med" len="med"/>
                    </a:lnB>
                    <a:solidFill>
                      <a:srgbClr val="E4E8E1"/>
                    </a:solidFill>
                  </a:tcPr>
                </a:tc>
                <a:tc>
                  <a:txBody>
                    <a:bodyPr/>
                    <a:lstStyle/>
                    <a:p>
                      <a:pPr marL="0" indent="0" algn="r">
                        <a:buNone/>
                      </a:pPr>
                      <a:r>
                        <a:rPr lang="en-US" sz="1100" dirty="0">
                          <a:solidFill>
                            <a:srgbClr val="1E2A22"/>
                          </a:solidFill>
                          <a:latin typeface="Calibri" pitchFamily="34" charset="0"/>
                          <a:ea typeface="Calibri" pitchFamily="34" charset="-122"/>
                          <a:cs typeface="Calibri" pitchFamily="34" charset="-120"/>
                        </a:rPr>
                        <a:t>0.903</a:t>
                      </a:r>
                      <a:endParaRPr lang="en-US" sz="1100" dirty="0">
                        <a:latin typeface="Calibri" charset="0"/>
                        <a:ea typeface="Calibri" charset="0"/>
                        <a:cs typeface="Calibri" charset="0"/>
                      </a:endParaRPr>
                    </a:p>
                  </a:txBody>
                  <a:tcPr marL="63500" marR="63500" marT="25400" marB="25400" anchor="ctr">
                    <a:lnL w="6350" cap="flat" cmpd="sng" algn="ctr">
                      <a:solidFill>
                        <a:srgbClr val="CDD3CB"/>
                      </a:solidFill>
                      <a:prstDash val="solid"/>
                      <a:round/>
                      <a:headEnd type="none" w="med" len="med"/>
                      <a:tailEnd type="none" w="med" len="med"/>
                    </a:lnL>
                    <a:lnR w="6350" cap="flat" cmpd="sng" algn="ctr">
                      <a:solidFill>
                        <a:srgbClr val="CDD3CB"/>
                      </a:solidFill>
                      <a:prstDash val="solid"/>
                      <a:round/>
                      <a:headEnd type="none" w="med" len="med"/>
                      <a:tailEnd type="none" w="med" len="med"/>
                    </a:lnR>
                    <a:lnT w="6350" cap="flat" cmpd="sng" algn="ctr">
                      <a:solidFill>
                        <a:srgbClr val="CDD3CB"/>
                      </a:solidFill>
                      <a:prstDash val="solid"/>
                      <a:round/>
                      <a:headEnd type="none" w="med" len="med"/>
                      <a:tailEnd type="none" w="med" len="med"/>
                    </a:lnT>
                    <a:lnB w="6350" cap="flat" cmpd="sng" algn="ctr">
                      <a:solidFill>
                        <a:srgbClr val="CDD3CB"/>
                      </a:solidFill>
                      <a:prstDash val="solid"/>
                      <a:round/>
                      <a:headEnd type="none" w="med" len="med"/>
                      <a:tailEnd type="none" w="med" len="med"/>
                    </a:lnB>
                    <a:solidFill>
                      <a:srgbClr val="E4E8E1"/>
                    </a:solidFill>
                  </a:tcPr>
                </a:tc>
                <a:tc>
                  <a:txBody>
                    <a:bodyPr/>
                    <a:lstStyle/>
                    <a:p>
                      <a:pPr marL="0" indent="0" algn="r">
                        <a:buNone/>
                      </a:pPr>
                      <a:r>
                        <a:rPr lang="en-US" sz="1100" dirty="0">
                          <a:solidFill>
                            <a:srgbClr val="1E2A22"/>
                          </a:solidFill>
                          <a:latin typeface="Calibri" pitchFamily="34" charset="0"/>
                          <a:ea typeface="Calibri" pitchFamily="34" charset="-122"/>
                          <a:cs typeface="Calibri" pitchFamily="34" charset="-120"/>
                        </a:rPr>
                        <a:t>0.816</a:t>
                      </a:r>
                      <a:endParaRPr lang="en-US" sz="1100" dirty="0">
                        <a:latin typeface="Calibri" charset="0"/>
                        <a:ea typeface="Calibri" charset="0"/>
                        <a:cs typeface="Calibri" charset="0"/>
                      </a:endParaRPr>
                    </a:p>
                  </a:txBody>
                  <a:tcPr marL="63500" marR="63500" marT="25400" marB="25400" anchor="ctr">
                    <a:lnL w="6350" cap="flat" cmpd="sng" algn="ctr">
                      <a:solidFill>
                        <a:srgbClr val="CDD3CB"/>
                      </a:solidFill>
                      <a:prstDash val="solid"/>
                      <a:round/>
                      <a:headEnd type="none" w="med" len="med"/>
                      <a:tailEnd type="none" w="med" len="med"/>
                    </a:lnL>
                    <a:lnR w="6350" cap="flat" cmpd="sng" algn="ctr">
                      <a:solidFill>
                        <a:srgbClr val="CDD3CB"/>
                      </a:solidFill>
                      <a:prstDash val="solid"/>
                      <a:round/>
                      <a:headEnd type="none" w="med" len="med"/>
                      <a:tailEnd type="none" w="med" len="med"/>
                    </a:lnR>
                    <a:lnT w="6350" cap="flat" cmpd="sng" algn="ctr">
                      <a:solidFill>
                        <a:srgbClr val="CDD3CB"/>
                      </a:solidFill>
                      <a:prstDash val="solid"/>
                      <a:round/>
                      <a:headEnd type="none" w="med" len="med"/>
                      <a:tailEnd type="none" w="med" len="med"/>
                    </a:lnT>
                    <a:lnB w="6350" cap="flat" cmpd="sng" algn="ctr">
                      <a:solidFill>
                        <a:srgbClr val="CDD3CB"/>
                      </a:solidFill>
                      <a:prstDash val="solid"/>
                      <a:round/>
                      <a:headEnd type="none" w="med" len="med"/>
                      <a:tailEnd type="none" w="med" len="med"/>
                    </a:lnB>
                    <a:solidFill>
                      <a:srgbClr val="E4E8E1"/>
                    </a:solidFill>
                  </a:tcPr>
                </a:tc>
                <a:tc>
                  <a:txBody>
                    <a:bodyPr/>
                    <a:lstStyle/>
                    <a:p>
                      <a:pPr marL="0" indent="0" algn="r">
                        <a:buNone/>
                      </a:pPr>
                      <a:r>
                        <a:rPr lang="en-US" sz="1100" dirty="0">
                          <a:solidFill>
                            <a:srgbClr val="1E2A22"/>
                          </a:solidFill>
                          <a:latin typeface="Calibri" pitchFamily="34" charset="0"/>
                          <a:ea typeface="Calibri" pitchFamily="34" charset="-122"/>
                          <a:cs typeface="Calibri" pitchFamily="34" charset="-120"/>
                        </a:rPr>
                        <a:t>0.737</a:t>
                      </a:r>
                      <a:endParaRPr lang="en-US" sz="1100" dirty="0">
                        <a:latin typeface="Calibri" charset="0"/>
                        <a:ea typeface="Calibri" charset="0"/>
                        <a:cs typeface="Calibri" charset="0"/>
                      </a:endParaRPr>
                    </a:p>
                  </a:txBody>
                  <a:tcPr marL="63500" marR="63500" marT="25400" marB="25400" anchor="ctr">
                    <a:lnL w="6350" cap="flat" cmpd="sng" algn="ctr">
                      <a:solidFill>
                        <a:srgbClr val="CDD3CB"/>
                      </a:solidFill>
                      <a:prstDash val="solid"/>
                      <a:round/>
                      <a:headEnd type="none" w="med" len="med"/>
                      <a:tailEnd type="none" w="med" len="med"/>
                    </a:lnL>
                    <a:lnR w="6350" cap="flat" cmpd="sng" algn="ctr">
                      <a:solidFill>
                        <a:srgbClr val="CDD3CB"/>
                      </a:solidFill>
                      <a:prstDash val="solid"/>
                      <a:round/>
                      <a:headEnd type="none" w="med" len="med"/>
                      <a:tailEnd type="none" w="med" len="med"/>
                    </a:lnR>
                    <a:lnT w="6350" cap="flat" cmpd="sng" algn="ctr">
                      <a:solidFill>
                        <a:srgbClr val="CDD3CB"/>
                      </a:solidFill>
                      <a:prstDash val="solid"/>
                      <a:round/>
                      <a:headEnd type="none" w="med" len="med"/>
                      <a:tailEnd type="none" w="med" len="med"/>
                    </a:lnT>
                    <a:lnB w="6350" cap="flat" cmpd="sng" algn="ctr">
                      <a:solidFill>
                        <a:srgbClr val="CDD3CB"/>
                      </a:solidFill>
                      <a:prstDash val="solid"/>
                      <a:round/>
                      <a:headEnd type="none" w="med" len="med"/>
                      <a:tailEnd type="none" w="med" len="med"/>
                    </a:lnB>
                    <a:solidFill>
                      <a:srgbClr val="E4E8E1"/>
                    </a:solidFill>
                  </a:tcPr>
                </a:tc>
                <a:tc>
                  <a:txBody>
                    <a:bodyPr/>
                    <a:lstStyle/>
                    <a:p>
                      <a:pPr marL="0" indent="0" algn="r">
                        <a:buNone/>
                      </a:pPr>
                      <a:r>
                        <a:rPr lang="en-US" sz="1100" dirty="0">
                          <a:solidFill>
                            <a:srgbClr val="1E2A22"/>
                          </a:solidFill>
                          <a:latin typeface="Calibri" pitchFamily="34" charset="0"/>
                          <a:ea typeface="Calibri" pitchFamily="34" charset="-122"/>
                          <a:cs typeface="Calibri" pitchFamily="34" charset="-120"/>
                        </a:rPr>
                        <a:t>0.666</a:t>
                      </a:r>
                      <a:endParaRPr lang="en-US" sz="1100" dirty="0">
                        <a:latin typeface="Calibri" charset="0"/>
                        <a:ea typeface="Calibri" charset="0"/>
                        <a:cs typeface="Calibri" charset="0"/>
                      </a:endParaRPr>
                    </a:p>
                  </a:txBody>
                  <a:tcPr marL="63500" marR="63500" marT="25400" marB="25400" anchor="ctr">
                    <a:lnL w="6350" cap="flat" cmpd="sng" algn="ctr">
                      <a:solidFill>
                        <a:srgbClr val="CDD3CB"/>
                      </a:solidFill>
                      <a:prstDash val="solid"/>
                      <a:round/>
                      <a:headEnd type="none" w="med" len="med"/>
                      <a:tailEnd type="none" w="med" len="med"/>
                    </a:lnL>
                    <a:lnR w="6350" cap="flat" cmpd="sng" algn="ctr">
                      <a:solidFill>
                        <a:srgbClr val="CDD3CB"/>
                      </a:solidFill>
                      <a:prstDash val="solid"/>
                      <a:round/>
                      <a:headEnd type="none" w="med" len="med"/>
                      <a:tailEnd type="none" w="med" len="med"/>
                    </a:lnR>
                    <a:lnT w="6350" cap="flat" cmpd="sng" algn="ctr">
                      <a:solidFill>
                        <a:srgbClr val="CDD3CB"/>
                      </a:solidFill>
                      <a:prstDash val="solid"/>
                      <a:round/>
                      <a:headEnd type="none" w="med" len="med"/>
                      <a:tailEnd type="none" w="med" len="med"/>
                    </a:lnT>
                    <a:lnB w="6350" cap="flat" cmpd="sng" algn="ctr">
                      <a:solidFill>
                        <a:srgbClr val="CDD3CB"/>
                      </a:solidFill>
                      <a:prstDash val="solid"/>
                      <a:round/>
                      <a:headEnd type="none" w="med" len="med"/>
                      <a:tailEnd type="none" w="med" len="med"/>
                    </a:lnB>
                    <a:solidFill>
                      <a:srgbClr val="E4E8E1"/>
                    </a:solidFill>
                  </a:tcPr>
                </a:tc>
                <a:tc>
                  <a:txBody>
                    <a:bodyPr/>
                    <a:lstStyle/>
                    <a:p>
                      <a:pPr marL="0" indent="0" algn="r">
                        <a:buNone/>
                      </a:pPr>
                      <a:r>
                        <a:rPr lang="en-US" sz="1100" dirty="0">
                          <a:solidFill>
                            <a:srgbClr val="1E2A22"/>
                          </a:solidFill>
                          <a:latin typeface="Calibri" pitchFamily="34" charset="0"/>
                          <a:ea typeface="Calibri" pitchFamily="34" charset="-122"/>
                          <a:cs typeface="Calibri" pitchFamily="34" charset="-120"/>
                        </a:rPr>
                        <a:t>0.602</a:t>
                      </a:r>
                      <a:endParaRPr lang="en-US" sz="1100" dirty="0">
                        <a:latin typeface="Calibri" charset="0"/>
                        <a:ea typeface="Calibri" charset="0"/>
                        <a:cs typeface="Calibri" charset="0"/>
                      </a:endParaRPr>
                    </a:p>
                  </a:txBody>
                  <a:tcPr marL="63500" marR="63500" marT="25400" marB="25400" anchor="ctr">
                    <a:lnL w="6350" cap="flat" cmpd="sng" algn="ctr">
                      <a:solidFill>
                        <a:srgbClr val="CDD3CB"/>
                      </a:solidFill>
                      <a:prstDash val="solid"/>
                      <a:round/>
                      <a:headEnd type="none" w="med" len="med"/>
                      <a:tailEnd type="none" w="med" len="med"/>
                    </a:lnL>
                    <a:lnR w="6350" cap="flat" cmpd="sng" algn="ctr">
                      <a:solidFill>
                        <a:srgbClr val="CDD3CB"/>
                      </a:solidFill>
                      <a:prstDash val="solid"/>
                      <a:round/>
                      <a:headEnd type="none" w="med" len="med"/>
                      <a:tailEnd type="none" w="med" len="med"/>
                    </a:lnR>
                    <a:lnT w="6350" cap="flat" cmpd="sng" algn="ctr">
                      <a:solidFill>
                        <a:srgbClr val="CDD3CB"/>
                      </a:solidFill>
                      <a:prstDash val="solid"/>
                      <a:round/>
                      <a:headEnd type="none" w="med" len="med"/>
                      <a:tailEnd type="none" w="med" len="med"/>
                    </a:lnT>
                    <a:lnB w="6350" cap="flat" cmpd="sng" algn="ctr">
                      <a:solidFill>
                        <a:srgbClr val="CDD3CB"/>
                      </a:solidFill>
                      <a:prstDash val="solid"/>
                      <a:round/>
                      <a:headEnd type="none" w="med" len="med"/>
                      <a:tailEnd type="none" w="med" len="med"/>
                    </a:lnB>
                    <a:solidFill>
                      <a:srgbClr val="E4E8E1"/>
                    </a:solidFill>
                  </a:tcPr>
                </a:tc>
                <a:extLst>
                  <a:ext uri="{0D108BD9-81ED-4DB2-BD59-A6C34878D82A}">
                    <a16:rowId xmlns:a16="http://schemas.microsoft.com/office/drawing/2014/main" val="10002"/>
                  </a:ext>
                </a:extLst>
              </a:tr>
              <a:tr h="201168">
                <a:tc>
                  <a:txBody>
                    <a:bodyPr/>
                    <a:lstStyle/>
                    <a:p>
                      <a:pPr marL="0" indent="0" algn="l">
                        <a:buNone/>
                      </a:pPr>
                      <a:r>
                        <a:rPr lang="en-US" sz="1100" b="1" dirty="0">
                          <a:solidFill>
                            <a:srgbClr val="1E2A22"/>
                          </a:solidFill>
                          <a:latin typeface="Calibri" pitchFamily="34" charset="0"/>
                          <a:ea typeface="Calibri" pitchFamily="34" charset="-122"/>
                          <a:cs typeface="Calibri" pitchFamily="34" charset="-120"/>
                        </a:rPr>
                        <a:t>PV of FCFF</a:t>
                      </a:r>
                      <a:endParaRPr lang="en-US" sz="1100" dirty="0">
                        <a:latin typeface="Calibri" charset="0"/>
                        <a:ea typeface="Calibri" charset="0"/>
                        <a:cs typeface="Calibri" charset="0"/>
                      </a:endParaRPr>
                    </a:p>
                  </a:txBody>
                  <a:tcPr marL="63500" marR="63500" marT="25400" marB="25400" anchor="ctr">
                    <a:lnL w="6350" cap="flat" cmpd="sng" algn="ctr">
                      <a:solidFill>
                        <a:srgbClr val="CDD3CB"/>
                      </a:solidFill>
                      <a:prstDash val="solid"/>
                      <a:round/>
                      <a:headEnd type="none" w="med" len="med"/>
                      <a:tailEnd type="none" w="med" len="med"/>
                    </a:lnL>
                    <a:lnR w="6350" cap="flat" cmpd="sng" algn="ctr">
                      <a:solidFill>
                        <a:srgbClr val="CDD3CB"/>
                      </a:solidFill>
                      <a:prstDash val="solid"/>
                      <a:round/>
                      <a:headEnd type="none" w="med" len="med"/>
                      <a:tailEnd type="none" w="med" len="med"/>
                    </a:lnR>
                    <a:lnT w="6350" cap="flat" cmpd="sng" algn="ctr">
                      <a:solidFill>
                        <a:srgbClr val="CDD3CB"/>
                      </a:solidFill>
                      <a:prstDash val="solid"/>
                      <a:round/>
                      <a:headEnd type="none" w="med" len="med"/>
                      <a:tailEnd type="none" w="med" len="med"/>
                    </a:lnT>
                    <a:lnB w="6350" cap="flat" cmpd="sng" algn="ctr">
                      <a:solidFill>
                        <a:srgbClr val="CDD3CB"/>
                      </a:solidFill>
                      <a:prstDash val="solid"/>
                      <a:round/>
                      <a:headEnd type="none" w="med" len="med"/>
                      <a:tailEnd type="none" w="med" len="med"/>
                    </a:lnB>
                    <a:solidFill>
                      <a:srgbClr val="EEF1EC"/>
                    </a:solidFill>
                  </a:tcPr>
                </a:tc>
                <a:tc>
                  <a:txBody>
                    <a:bodyPr/>
                    <a:lstStyle/>
                    <a:p>
                      <a:pPr marL="0" indent="0" algn="r">
                        <a:buNone/>
                      </a:pPr>
                      <a:r>
                        <a:rPr lang="en-US" sz="1100" b="1" dirty="0">
                          <a:solidFill>
                            <a:srgbClr val="1E2A22"/>
                          </a:solidFill>
                          <a:latin typeface="Calibri" pitchFamily="34" charset="0"/>
                          <a:ea typeface="Calibri" pitchFamily="34" charset="-122"/>
                          <a:cs typeface="Calibri" pitchFamily="34" charset="-120"/>
                        </a:rPr>
                        <a:t>10,553</a:t>
                      </a:r>
                      <a:endParaRPr lang="en-US" sz="1100" dirty="0">
                        <a:latin typeface="Calibri" charset="0"/>
                        <a:ea typeface="Calibri" charset="0"/>
                        <a:cs typeface="Calibri" charset="0"/>
                      </a:endParaRPr>
                    </a:p>
                  </a:txBody>
                  <a:tcPr marL="63500" marR="63500" marT="25400" marB="25400" anchor="ctr">
                    <a:lnL w="6350" cap="flat" cmpd="sng" algn="ctr">
                      <a:solidFill>
                        <a:srgbClr val="CDD3CB"/>
                      </a:solidFill>
                      <a:prstDash val="solid"/>
                      <a:round/>
                      <a:headEnd type="none" w="med" len="med"/>
                      <a:tailEnd type="none" w="med" len="med"/>
                    </a:lnL>
                    <a:lnR w="6350" cap="flat" cmpd="sng" algn="ctr">
                      <a:solidFill>
                        <a:srgbClr val="CDD3CB"/>
                      </a:solidFill>
                      <a:prstDash val="solid"/>
                      <a:round/>
                      <a:headEnd type="none" w="med" len="med"/>
                      <a:tailEnd type="none" w="med" len="med"/>
                    </a:lnR>
                    <a:lnT w="6350" cap="flat" cmpd="sng" algn="ctr">
                      <a:solidFill>
                        <a:srgbClr val="CDD3CB"/>
                      </a:solidFill>
                      <a:prstDash val="solid"/>
                      <a:round/>
                      <a:headEnd type="none" w="med" len="med"/>
                      <a:tailEnd type="none" w="med" len="med"/>
                    </a:lnT>
                    <a:lnB w="6350" cap="flat" cmpd="sng" algn="ctr">
                      <a:solidFill>
                        <a:srgbClr val="CDD3CB"/>
                      </a:solidFill>
                      <a:prstDash val="solid"/>
                      <a:round/>
                      <a:headEnd type="none" w="med" len="med"/>
                      <a:tailEnd type="none" w="med" len="med"/>
                    </a:lnB>
                    <a:solidFill>
                      <a:srgbClr val="EEF1EC"/>
                    </a:solidFill>
                  </a:tcPr>
                </a:tc>
                <a:tc>
                  <a:txBody>
                    <a:bodyPr/>
                    <a:lstStyle/>
                    <a:p>
                      <a:pPr marL="0" indent="0" algn="r">
                        <a:buNone/>
                      </a:pPr>
                      <a:r>
                        <a:rPr lang="en-US" sz="1100" b="1" dirty="0">
                          <a:solidFill>
                            <a:srgbClr val="1E2A22"/>
                          </a:solidFill>
                          <a:latin typeface="Calibri" pitchFamily="34" charset="0"/>
                          <a:ea typeface="Calibri" pitchFamily="34" charset="-122"/>
                          <a:cs typeface="Calibri" pitchFamily="34" charset="-120"/>
                        </a:rPr>
                        <a:t>10,238</a:t>
                      </a:r>
                      <a:endParaRPr lang="en-US" sz="1100" dirty="0">
                        <a:latin typeface="Calibri" charset="0"/>
                        <a:ea typeface="Calibri" charset="0"/>
                        <a:cs typeface="Calibri" charset="0"/>
                      </a:endParaRPr>
                    </a:p>
                  </a:txBody>
                  <a:tcPr marL="63500" marR="63500" marT="25400" marB="25400" anchor="ctr">
                    <a:lnL w="6350" cap="flat" cmpd="sng" algn="ctr">
                      <a:solidFill>
                        <a:srgbClr val="CDD3CB"/>
                      </a:solidFill>
                      <a:prstDash val="solid"/>
                      <a:round/>
                      <a:headEnd type="none" w="med" len="med"/>
                      <a:tailEnd type="none" w="med" len="med"/>
                    </a:lnL>
                    <a:lnR w="6350" cap="flat" cmpd="sng" algn="ctr">
                      <a:solidFill>
                        <a:srgbClr val="CDD3CB"/>
                      </a:solidFill>
                      <a:prstDash val="solid"/>
                      <a:round/>
                      <a:headEnd type="none" w="med" len="med"/>
                      <a:tailEnd type="none" w="med" len="med"/>
                    </a:lnR>
                    <a:lnT w="6350" cap="flat" cmpd="sng" algn="ctr">
                      <a:solidFill>
                        <a:srgbClr val="CDD3CB"/>
                      </a:solidFill>
                      <a:prstDash val="solid"/>
                      <a:round/>
                      <a:headEnd type="none" w="med" len="med"/>
                      <a:tailEnd type="none" w="med" len="med"/>
                    </a:lnT>
                    <a:lnB w="6350" cap="flat" cmpd="sng" algn="ctr">
                      <a:solidFill>
                        <a:srgbClr val="CDD3CB"/>
                      </a:solidFill>
                      <a:prstDash val="solid"/>
                      <a:round/>
                      <a:headEnd type="none" w="med" len="med"/>
                      <a:tailEnd type="none" w="med" len="med"/>
                    </a:lnB>
                    <a:solidFill>
                      <a:srgbClr val="EEF1EC"/>
                    </a:solidFill>
                  </a:tcPr>
                </a:tc>
                <a:tc>
                  <a:txBody>
                    <a:bodyPr/>
                    <a:lstStyle/>
                    <a:p>
                      <a:pPr marL="0" indent="0" algn="r">
                        <a:buNone/>
                      </a:pPr>
                      <a:r>
                        <a:rPr lang="en-US" sz="1100" b="1" dirty="0">
                          <a:solidFill>
                            <a:srgbClr val="1E2A22"/>
                          </a:solidFill>
                          <a:latin typeface="Calibri" pitchFamily="34" charset="0"/>
                          <a:ea typeface="Calibri" pitchFamily="34" charset="-122"/>
                          <a:cs typeface="Calibri" pitchFamily="34" charset="-120"/>
                        </a:rPr>
                        <a:t>9,898</a:t>
                      </a:r>
                      <a:endParaRPr lang="en-US" sz="1100" dirty="0">
                        <a:latin typeface="Calibri" charset="0"/>
                        <a:ea typeface="Calibri" charset="0"/>
                        <a:cs typeface="Calibri" charset="0"/>
                      </a:endParaRPr>
                    </a:p>
                  </a:txBody>
                  <a:tcPr marL="63500" marR="63500" marT="25400" marB="25400" anchor="ctr">
                    <a:lnL w="6350" cap="flat" cmpd="sng" algn="ctr">
                      <a:solidFill>
                        <a:srgbClr val="CDD3CB"/>
                      </a:solidFill>
                      <a:prstDash val="solid"/>
                      <a:round/>
                      <a:headEnd type="none" w="med" len="med"/>
                      <a:tailEnd type="none" w="med" len="med"/>
                    </a:lnL>
                    <a:lnR w="6350" cap="flat" cmpd="sng" algn="ctr">
                      <a:solidFill>
                        <a:srgbClr val="CDD3CB"/>
                      </a:solidFill>
                      <a:prstDash val="solid"/>
                      <a:round/>
                      <a:headEnd type="none" w="med" len="med"/>
                      <a:tailEnd type="none" w="med" len="med"/>
                    </a:lnR>
                    <a:lnT w="6350" cap="flat" cmpd="sng" algn="ctr">
                      <a:solidFill>
                        <a:srgbClr val="CDD3CB"/>
                      </a:solidFill>
                      <a:prstDash val="solid"/>
                      <a:round/>
                      <a:headEnd type="none" w="med" len="med"/>
                      <a:tailEnd type="none" w="med" len="med"/>
                    </a:lnT>
                    <a:lnB w="6350" cap="flat" cmpd="sng" algn="ctr">
                      <a:solidFill>
                        <a:srgbClr val="CDD3CB"/>
                      </a:solidFill>
                      <a:prstDash val="solid"/>
                      <a:round/>
                      <a:headEnd type="none" w="med" len="med"/>
                      <a:tailEnd type="none" w="med" len="med"/>
                    </a:lnB>
                    <a:solidFill>
                      <a:srgbClr val="EEF1EC"/>
                    </a:solidFill>
                  </a:tcPr>
                </a:tc>
                <a:tc>
                  <a:txBody>
                    <a:bodyPr/>
                    <a:lstStyle/>
                    <a:p>
                      <a:pPr marL="0" indent="0" algn="r">
                        <a:buNone/>
                      </a:pPr>
                      <a:r>
                        <a:rPr lang="en-US" sz="1100" b="1" dirty="0">
                          <a:solidFill>
                            <a:srgbClr val="1E2A22"/>
                          </a:solidFill>
                          <a:latin typeface="Calibri" pitchFamily="34" charset="0"/>
                          <a:ea typeface="Calibri" pitchFamily="34" charset="-122"/>
                          <a:cs typeface="Calibri" pitchFamily="34" charset="-120"/>
                        </a:rPr>
                        <a:t>9,506</a:t>
                      </a:r>
                      <a:endParaRPr lang="en-US" sz="1100" dirty="0">
                        <a:latin typeface="Calibri" charset="0"/>
                        <a:ea typeface="Calibri" charset="0"/>
                        <a:cs typeface="Calibri" charset="0"/>
                      </a:endParaRPr>
                    </a:p>
                  </a:txBody>
                  <a:tcPr marL="63500" marR="63500" marT="25400" marB="25400" anchor="ctr">
                    <a:lnL w="6350" cap="flat" cmpd="sng" algn="ctr">
                      <a:solidFill>
                        <a:srgbClr val="CDD3CB"/>
                      </a:solidFill>
                      <a:prstDash val="solid"/>
                      <a:round/>
                      <a:headEnd type="none" w="med" len="med"/>
                      <a:tailEnd type="none" w="med" len="med"/>
                    </a:lnL>
                    <a:lnR w="6350" cap="flat" cmpd="sng" algn="ctr">
                      <a:solidFill>
                        <a:srgbClr val="CDD3CB"/>
                      </a:solidFill>
                      <a:prstDash val="solid"/>
                      <a:round/>
                      <a:headEnd type="none" w="med" len="med"/>
                      <a:tailEnd type="none" w="med" len="med"/>
                    </a:lnR>
                    <a:lnT w="6350" cap="flat" cmpd="sng" algn="ctr">
                      <a:solidFill>
                        <a:srgbClr val="CDD3CB"/>
                      </a:solidFill>
                      <a:prstDash val="solid"/>
                      <a:round/>
                      <a:headEnd type="none" w="med" len="med"/>
                      <a:tailEnd type="none" w="med" len="med"/>
                    </a:lnT>
                    <a:lnB w="6350" cap="flat" cmpd="sng" algn="ctr">
                      <a:solidFill>
                        <a:srgbClr val="CDD3CB"/>
                      </a:solidFill>
                      <a:prstDash val="solid"/>
                      <a:round/>
                      <a:headEnd type="none" w="med" len="med"/>
                      <a:tailEnd type="none" w="med" len="med"/>
                    </a:lnB>
                    <a:solidFill>
                      <a:srgbClr val="EEF1EC"/>
                    </a:solidFill>
                  </a:tcPr>
                </a:tc>
                <a:tc>
                  <a:txBody>
                    <a:bodyPr/>
                    <a:lstStyle/>
                    <a:p>
                      <a:pPr marL="0" indent="0" algn="r">
                        <a:buNone/>
                      </a:pPr>
                      <a:r>
                        <a:rPr lang="en-US" sz="1100" b="1" dirty="0">
                          <a:solidFill>
                            <a:srgbClr val="1E2A22"/>
                          </a:solidFill>
                          <a:latin typeface="Calibri" pitchFamily="34" charset="0"/>
                          <a:ea typeface="Calibri" pitchFamily="34" charset="-122"/>
                          <a:cs typeface="Calibri" pitchFamily="34" charset="-120"/>
                        </a:rPr>
                        <a:t>9,103</a:t>
                      </a:r>
                      <a:endParaRPr lang="en-US" sz="1100" dirty="0">
                        <a:latin typeface="Calibri" charset="0"/>
                        <a:ea typeface="Calibri" charset="0"/>
                        <a:cs typeface="Calibri" charset="0"/>
                      </a:endParaRPr>
                    </a:p>
                  </a:txBody>
                  <a:tcPr marL="63500" marR="63500" marT="25400" marB="25400" anchor="ctr">
                    <a:lnL w="6350" cap="flat" cmpd="sng" algn="ctr">
                      <a:solidFill>
                        <a:srgbClr val="CDD3CB"/>
                      </a:solidFill>
                      <a:prstDash val="solid"/>
                      <a:round/>
                      <a:headEnd type="none" w="med" len="med"/>
                      <a:tailEnd type="none" w="med" len="med"/>
                    </a:lnL>
                    <a:lnR w="6350" cap="flat" cmpd="sng" algn="ctr">
                      <a:solidFill>
                        <a:srgbClr val="CDD3CB"/>
                      </a:solidFill>
                      <a:prstDash val="solid"/>
                      <a:round/>
                      <a:headEnd type="none" w="med" len="med"/>
                      <a:tailEnd type="none" w="med" len="med"/>
                    </a:lnR>
                    <a:lnT w="6350" cap="flat" cmpd="sng" algn="ctr">
                      <a:solidFill>
                        <a:srgbClr val="CDD3CB"/>
                      </a:solidFill>
                      <a:prstDash val="solid"/>
                      <a:round/>
                      <a:headEnd type="none" w="med" len="med"/>
                      <a:tailEnd type="none" w="med" len="med"/>
                    </a:lnT>
                    <a:lnB w="6350" cap="flat" cmpd="sng" algn="ctr">
                      <a:solidFill>
                        <a:srgbClr val="CDD3CB"/>
                      </a:solidFill>
                      <a:prstDash val="solid"/>
                      <a:round/>
                      <a:headEnd type="none" w="med" len="med"/>
                      <a:tailEnd type="none" w="med" len="med"/>
                    </a:lnB>
                    <a:solidFill>
                      <a:srgbClr val="EEF1EC"/>
                    </a:solidFill>
                  </a:tcPr>
                </a:tc>
                <a:extLst>
                  <a:ext uri="{0D108BD9-81ED-4DB2-BD59-A6C34878D82A}">
                    <a16:rowId xmlns:a16="http://schemas.microsoft.com/office/drawing/2014/main" val="10003"/>
                  </a:ext>
                </a:extLst>
              </a:tr>
            </a:tbl>
          </a:graphicData>
        </a:graphic>
      </p:graphicFrame>
      <p:sp>
        <p:nvSpPr>
          <p:cNvPr id="22" name="Text 19"/>
          <p:cNvSpPr/>
          <p:nvPr/>
        </p:nvSpPr>
        <p:spPr>
          <a:xfrm>
            <a:off x="4123113" y="2507285"/>
            <a:ext cx="8001000" cy="219456"/>
          </a:xfrm>
          <a:prstGeom prst="rect">
            <a:avLst/>
          </a:prstGeom>
          <a:noFill/>
          <a:ln/>
        </p:spPr>
        <p:txBody>
          <a:bodyPr wrap="square" rtlCol="0" anchor="ctr"/>
          <a:lstStyle/>
          <a:p>
            <a:pPr marL="0" indent="0">
              <a:buNone/>
            </a:pPr>
            <a:r>
              <a:rPr lang="en-US" sz="960" b="1" dirty="0">
                <a:solidFill>
                  <a:srgbClr val="1E2A22"/>
                </a:solidFill>
                <a:latin typeface="Calibri" pitchFamily="34" charset="0"/>
                <a:ea typeface="Calibri" pitchFamily="34" charset="-122"/>
                <a:cs typeface="Calibri" pitchFamily="34" charset="-120"/>
              </a:rPr>
              <a:t>Sum of PV of explicit-period FCFF (FY2027E–FY2031E)  =  Rs. 49,298 crore</a:t>
            </a:r>
            <a:endParaRPr lang="en-US" sz="960" dirty="0"/>
          </a:p>
        </p:txBody>
      </p:sp>
      <p:sp>
        <p:nvSpPr>
          <p:cNvPr id="23" name="Text 20"/>
          <p:cNvSpPr/>
          <p:nvPr/>
        </p:nvSpPr>
        <p:spPr>
          <a:xfrm>
            <a:off x="502920" y="3007461"/>
            <a:ext cx="11183112" cy="201168"/>
          </a:xfrm>
          <a:prstGeom prst="rect">
            <a:avLst/>
          </a:prstGeom>
          <a:noFill/>
          <a:ln/>
        </p:spPr>
        <p:txBody>
          <a:bodyPr wrap="square" rtlCol="0" anchor="ctr"/>
          <a:lstStyle/>
          <a:p>
            <a:pPr marL="0" indent="0">
              <a:buNone/>
            </a:pPr>
            <a:r>
              <a:rPr lang="en-US" sz="1100" b="1" kern="0" spc="120" dirty="0">
                <a:solidFill>
                  <a:srgbClr val="AA5A34"/>
                </a:solidFill>
                <a:latin typeface="Calibri" pitchFamily="34" charset="0"/>
                <a:ea typeface="Calibri" pitchFamily="34" charset="-122"/>
                <a:cs typeface="Calibri" pitchFamily="34" charset="-120"/>
              </a:rPr>
              <a:t>STEP 3 — TERMINAL VALUE (AT END OF FY2031E)</a:t>
            </a:r>
            <a:endParaRPr lang="en-US" sz="1100" dirty="0"/>
          </a:p>
        </p:txBody>
      </p:sp>
      <p:sp>
        <p:nvSpPr>
          <p:cNvPr id="24" name="Shape 21"/>
          <p:cNvSpPr/>
          <p:nvPr/>
        </p:nvSpPr>
        <p:spPr>
          <a:xfrm>
            <a:off x="502920" y="3236975"/>
            <a:ext cx="11183112" cy="731520"/>
          </a:xfrm>
          <a:prstGeom prst="rect">
            <a:avLst/>
          </a:prstGeom>
          <a:solidFill>
            <a:srgbClr val="EEF1EC"/>
          </a:solidFill>
          <a:ln/>
        </p:spPr>
      </p:sp>
      <p:sp>
        <p:nvSpPr>
          <p:cNvPr id="25" name="Text 22"/>
          <p:cNvSpPr/>
          <p:nvPr/>
        </p:nvSpPr>
        <p:spPr>
          <a:xfrm>
            <a:off x="704088" y="3200400"/>
            <a:ext cx="10789920" cy="310896"/>
          </a:xfrm>
          <a:prstGeom prst="rect">
            <a:avLst/>
          </a:prstGeom>
          <a:noFill/>
          <a:ln/>
        </p:spPr>
        <p:txBody>
          <a:bodyPr wrap="square" rtlCol="0" anchor="ctr"/>
          <a:lstStyle/>
          <a:p>
            <a:pPr marL="0" indent="0">
              <a:buNone/>
            </a:pPr>
            <a:r>
              <a:rPr lang="en-US" sz="1150" dirty="0">
                <a:solidFill>
                  <a:srgbClr val="1E2A22"/>
                </a:solidFill>
                <a:latin typeface="Georgia" pitchFamily="34" charset="0"/>
                <a:ea typeface="Georgia" pitchFamily="34" charset="-122"/>
                <a:cs typeface="Georgia" pitchFamily="34" charset="-120"/>
              </a:rPr>
              <a:t>TV  =  FCFF′₁ × (1 + g) / (WACC − g)  =  15,123 × 1.05 / (10.68% − 5.00%)  =  </a:t>
            </a:r>
            <a:r>
              <a:rPr lang="en-US" sz="1150" b="1" dirty="0">
                <a:solidFill>
                  <a:srgbClr val="AA5A34"/>
                </a:solidFill>
                <a:latin typeface="Georgia" pitchFamily="34" charset="0"/>
                <a:ea typeface="Georgia" pitchFamily="34" charset="-122"/>
                <a:cs typeface="Georgia" pitchFamily="34" charset="-120"/>
              </a:rPr>
              <a:t>Rs. 2,79,328 crore</a:t>
            </a:r>
            <a:endParaRPr lang="en-US" sz="1150" dirty="0"/>
          </a:p>
        </p:txBody>
      </p:sp>
      <p:sp>
        <p:nvSpPr>
          <p:cNvPr id="26" name="Text 23"/>
          <p:cNvSpPr/>
          <p:nvPr/>
        </p:nvSpPr>
        <p:spPr>
          <a:xfrm>
            <a:off x="704088" y="3511296"/>
            <a:ext cx="10789920" cy="274320"/>
          </a:xfrm>
          <a:prstGeom prst="rect">
            <a:avLst/>
          </a:prstGeom>
          <a:noFill/>
          <a:ln/>
        </p:spPr>
        <p:txBody>
          <a:bodyPr wrap="square" rtlCol="0" anchor="ctr"/>
          <a:lstStyle/>
          <a:p>
            <a:pPr marL="0" indent="0">
              <a:buNone/>
            </a:pPr>
            <a:r>
              <a:rPr lang="en-US" sz="1050" dirty="0">
                <a:solidFill>
                  <a:srgbClr val="1E2A22"/>
                </a:solidFill>
                <a:latin typeface="Calibri" pitchFamily="34" charset="0"/>
                <a:ea typeface="Calibri" pitchFamily="34" charset="-122"/>
                <a:cs typeface="Calibri" pitchFamily="34" charset="-120"/>
              </a:rPr>
              <a:t>PV of Terminal Value  =  Rs. 2,79,328 cr × 0.602 (FY31E discount factor)  =  Rs. 1,68,143 crore</a:t>
            </a:r>
            <a:endParaRPr lang="en-US" sz="1050" dirty="0"/>
          </a:p>
        </p:txBody>
      </p:sp>
      <p:sp>
        <p:nvSpPr>
          <p:cNvPr id="27" name="Text 24"/>
          <p:cNvSpPr/>
          <p:nvPr/>
        </p:nvSpPr>
        <p:spPr>
          <a:xfrm>
            <a:off x="502920" y="4041648"/>
            <a:ext cx="7315200" cy="201168"/>
          </a:xfrm>
          <a:prstGeom prst="rect">
            <a:avLst/>
          </a:prstGeom>
          <a:noFill/>
          <a:ln/>
        </p:spPr>
        <p:txBody>
          <a:bodyPr wrap="square" rtlCol="0" anchor="ctr"/>
          <a:lstStyle/>
          <a:p>
            <a:pPr marL="0" indent="0">
              <a:buNone/>
            </a:pPr>
            <a:r>
              <a:rPr lang="en-US" sz="1150" b="1" kern="0" spc="120" dirty="0">
                <a:solidFill>
                  <a:srgbClr val="AA5A34"/>
                </a:solidFill>
                <a:latin typeface="Calibri" pitchFamily="34" charset="0"/>
                <a:ea typeface="Calibri" pitchFamily="34" charset="-122"/>
                <a:cs typeface="Calibri" pitchFamily="34" charset="-120"/>
              </a:rPr>
              <a:t>STEP 4 — ENTERPRISE VALUE TO EQUITY VALUE PER SHARE</a:t>
            </a:r>
            <a:endParaRPr lang="en-US" sz="1150" dirty="0"/>
          </a:p>
        </p:txBody>
      </p:sp>
      <p:sp>
        <p:nvSpPr>
          <p:cNvPr id="28" name="Shape 25"/>
          <p:cNvSpPr/>
          <p:nvPr/>
        </p:nvSpPr>
        <p:spPr>
          <a:xfrm>
            <a:off x="594360" y="4544568"/>
            <a:ext cx="7223760" cy="274320"/>
          </a:xfrm>
          <a:prstGeom prst="rect">
            <a:avLst/>
          </a:prstGeom>
          <a:solidFill>
            <a:srgbClr val="FFFFFF"/>
          </a:solidFill>
          <a:ln/>
        </p:spPr>
      </p:sp>
      <p:sp>
        <p:nvSpPr>
          <p:cNvPr id="29" name="Text 26"/>
          <p:cNvSpPr/>
          <p:nvPr/>
        </p:nvSpPr>
        <p:spPr>
          <a:xfrm>
            <a:off x="594360" y="4279392"/>
            <a:ext cx="5120640" cy="274320"/>
          </a:xfrm>
          <a:prstGeom prst="rect">
            <a:avLst/>
          </a:prstGeom>
          <a:noFill/>
          <a:ln/>
        </p:spPr>
        <p:txBody>
          <a:bodyPr wrap="square" rtlCol="0" anchor="ctr"/>
          <a:lstStyle/>
          <a:p>
            <a:pPr marL="0" indent="0">
              <a:buNone/>
            </a:pPr>
            <a:r>
              <a:rPr lang="en-US" sz="1100" dirty="0">
                <a:solidFill>
                  <a:srgbClr val="1E2A22"/>
                </a:solidFill>
                <a:latin typeface="Calibri" pitchFamily="34" charset="0"/>
                <a:ea typeface="Calibri" pitchFamily="34" charset="-122"/>
                <a:cs typeface="Calibri" pitchFamily="34" charset="-120"/>
              </a:rPr>
              <a:t>PV of explicit-period FCFF</a:t>
            </a:r>
            <a:endParaRPr lang="en-US" sz="1100" dirty="0"/>
          </a:p>
        </p:txBody>
      </p:sp>
      <p:sp>
        <p:nvSpPr>
          <p:cNvPr id="30" name="Text 27"/>
          <p:cNvSpPr/>
          <p:nvPr/>
        </p:nvSpPr>
        <p:spPr>
          <a:xfrm>
            <a:off x="5623560" y="4279392"/>
            <a:ext cx="2103120" cy="274320"/>
          </a:xfrm>
          <a:prstGeom prst="rect">
            <a:avLst/>
          </a:prstGeom>
          <a:noFill/>
          <a:ln/>
        </p:spPr>
        <p:txBody>
          <a:bodyPr wrap="square" rtlCol="0" anchor="ctr"/>
          <a:lstStyle/>
          <a:p>
            <a:pPr marL="0" indent="0" algn="r">
              <a:buNone/>
            </a:pPr>
            <a:r>
              <a:rPr lang="en-US" sz="1100" dirty="0">
                <a:solidFill>
                  <a:srgbClr val="1E2A22"/>
                </a:solidFill>
                <a:latin typeface="Calibri" pitchFamily="34" charset="0"/>
                <a:ea typeface="Calibri" pitchFamily="34" charset="-122"/>
                <a:cs typeface="Calibri" pitchFamily="34" charset="-120"/>
              </a:rPr>
              <a:t>Rs. 49,298 cr</a:t>
            </a:r>
            <a:endParaRPr lang="en-US" sz="1100" dirty="0"/>
          </a:p>
        </p:txBody>
      </p:sp>
      <p:sp>
        <p:nvSpPr>
          <p:cNvPr id="31" name="Shape 28"/>
          <p:cNvSpPr/>
          <p:nvPr/>
        </p:nvSpPr>
        <p:spPr>
          <a:xfrm>
            <a:off x="502920" y="4818888"/>
            <a:ext cx="7315200" cy="274320"/>
          </a:xfrm>
          <a:prstGeom prst="rect">
            <a:avLst/>
          </a:prstGeom>
          <a:solidFill>
            <a:srgbClr val="FFFFFF"/>
          </a:solidFill>
          <a:ln/>
        </p:spPr>
      </p:sp>
      <p:sp>
        <p:nvSpPr>
          <p:cNvPr id="32" name="Text 29"/>
          <p:cNvSpPr/>
          <p:nvPr/>
        </p:nvSpPr>
        <p:spPr>
          <a:xfrm>
            <a:off x="594360" y="4553712"/>
            <a:ext cx="5120640" cy="274320"/>
          </a:xfrm>
          <a:prstGeom prst="rect">
            <a:avLst/>
          </a:prstGeom>
          <a:noFill/>
          <a:ln/>
        </p:spPr>
        <p:txBody>
          <a:bodyPr wrap="square" rtlCol="0" anchor="ctr"/>
          <a:lstStyle/>
          <a:p>
            <a:pPr marL="0" indent="0">
              <a:buNone/>
            </a:pPr>
            <a:r>
              <a:rPr lang="en-US" sz="1100" dirty="0">
                <a:solidFill>
                  <a:srgbClr val="1E2A22"/>
                </a:solidFill>
                <a:latin typeface="Calibri" pitchFamily="34" charset="0"/>
                <a:ea typeface="Calibri" pitchFamily="34" charset="-122"/>
                <a:cs typeface="Calibri" pitchFamily="34" charset="-120"/>
              </a:rPr>
              <a:t>(+) PV of Terminal Value</a:t>
            </a:r>
            <a:endParaRPr lang="en-US" sz="1100" dirty="0"/>
          </a:p>
        </p:txBody>
      </p:sp>
      <p:sp>
        <p:nvSpPr>
          <p:cNvPr id="33" name="Text 30"/>
          <p:cNvSpPr/>
          <p:nvPr/>
        </p:nvSpPr>
        <p:spPr>
          <a:xfrm>
            <a:off x="5623560" y="4553712"/>
            <a:ext cx="2103120" cy="274320"/>
          </a:xfrm>
          <a:prstGeom prst="rect">
            <a:avLst/>
          </a:prstGeom>
          <a:noFill/>
          <a:ln/>
        </p:spPr>
        <p:txBody>
          <a:bodyPr wrap="square" rtlCol="0" anchor="ctr"/>
          <a:lstStyle/>
          <a:p>
            <a:pPr marL="0" indent="0" algn="r">
              <a:buNone/>
            </a:pPr>
            <a:r>
              <a:rPr lang="en-US" sz="1100" dirty="0">
                <a:solidFill>
                  <a:srgbClr val="1E2A22"/>
                </a:solidFill>
                <a:latin typeface="Calibri" pitchFamily="34" charset="0"/>
                <a:ea typeface="Calibri" pitchFamily="34" charset="-122"/>
                <a:cs typeface="Calibri" pitchFamily="34" charset="-120"/>
              </a:rPr>
              <a:t>Rs. 1,68,143 cr</a:t>
            </a:r>
            <a:endParaRPr lang="en-US" sz="1100" dirty="0"/>
          </a:p>
        </p:txBody>
      </p:sp>
      <p:sp>
        <p:nvSpPr>
          <p:cNvPr id="34" name="Shape 31"/>
          <p:cNvSpPr/>
          <p:nvPr/>
        </p:nvSpPr>
        <p:spPr>
          <a:xfrm>
            <a:off x="502920" y="5093208"/>
            <a:ext cx="7315200" cy="274320"/>
          </a:xfrm>
          <a:prstGeom prst="rect">
            <a:avLst/>
          </a:prstGeom>
          <a:solidFill>
            <a:srgbClr val="EEF1EC"/>
          </a:solidFill>
          <a:ln/>
        </p:spPr>
      </p:sp>
      <p:sp>
        <p:nvSpPr>
          <p:cNvPr id="35" name="Text 32"/>
          <p:cNvSpPr/>
          <p:nvPr/>
        </p:nvSpPr>
        <p:spPr>
          <a:xfrm>
            <a:off x="594360" y="4828032"/>
            <a:ext cx="5120640" cy="274320"/>
          </a:xfrm>
          <a:prstGeom prst="rect">
            <a:avLst/>
          </a:prstGeom>
          <a:noFill/>
          <a:ln/>
        </p:spPr>
        <p:txBody>
          <a:bodyPr wrap="square" rtlCol="0" anchor="ctr"/>
          <a:lstStyle/>
          <a:p>
            <a:pPr marL="0" indent="0">
              <a:buNone/>
            </a:pPr>
            <a:r>
              <a:rPr lang="en-US" sz="1100" b="1" dirty="0">
                <a:solidFill>
                  <a:srgbClr val="1E2A22"/>
                </a:solidFill>
                <a:latin typeface="Calibri" pitchFamily="34" charset="0"/>
                <a:ea typeface="Calibri" pitchFamily="34" charset="-122"/>
                <a:cs typeface="Calibri" pitchFamily="34" charset="-120"/>
              </a:rPr>
              <a:t>= Enterprise Value</a:t>
            </a:r>
            <a:endParaRPr lang="en-US" sz="1100" dirty="0"/>
          </a:p>
        </p:txBody>
      </p:sp>
      <p:sp>
        <p:nvSpPr>
          <p:cNvPr id="36" name="Text 33"/>
          <p:cNvSpPr/>
          <p:nvPr/>
        </p:nvSpPr>
        <p:spPr>
          <a:xfrm>
            <a:off x="5623560" y="4828032"/>
            <a:ext cx="2103120" cy="274320"/>
          </a:xfrm>
          <a:prstGeom prst="rect">
            <a:avLst/>
          </a:prstGeom>
          <a:noFill/>
          <a:ln/>
        </p:spPr>
        <p:txBody>
          <a:bodyPr wrap="square" rtlCol="0" anchor="ctr"/>
          <a:lstStyle/>
          <a:p>
            <a:pPr marL="0" indent="0" algn="r">
              <a:buNone/>
            </a:pPr>
            <a:r>
              <a:rPr lang="en-US" sz="1100" b="1" dirty="0">
                <a:solidFill>
                  <a:srgbClr val="AA5A34"/>
                </a:solidFill>
                <a:latin typeface="Calibri" pitchFamily="34" charset="0"/>
                <a:ea typeface="Calibri" pitchFamily="34" charset="-122"/>
                <a:cs typeface="Calibri" pitchFamily="34" charset="-120"/>
              </a:rPr>
              <a:t>Rs. 2,17,441 cr</a:t>
            </a:r>
            <a:endParaRPr lang="en-US" sz="1100" dirty="0"/>
          </a:p>
        </p:txBody>
      </p:sp>
      <p:sp>
        <p:nvSpPr>
          <p:cNvPr id="37" name="Shape 34"/>
          <p:cNvSpPr/>
          <p:nvPr/>
        </p:nvSpPr>
        <p:spPr>
          <a:xfrm>
            <a:off x="502920" y="5367528"/>
            <a:ext cx="7315200" cy="274320"/>
          </a:xfrm>
          <a:prstGeom prst="rect">
            <a:avLst/>
          </a:prstGeom>
          <a:solidFill>
            <a:srgbClr val="FFFFFF"/>
          </a:solidFill>
          <a:ln/>
        </p:spPr>
      </p:sp>
      <p:sp>
        <p:nvSpPr>
          <p:cNvPr id="38" name="Text 35"/>
          <p:cNvSpPr/>
          <p:nvPr/>
        </p:nvSpPr>
        <p:spPr>
          <a:xfrm>
            <a:off x="594360" y="5102352"/>
            <a:ext cx="5120640" cy="274320"/>
          </a:xfrm>
          <a:prstGeom prst="rect">
            <a:avLst/>
          </a:prstGeom>
          <a:noFill/>
          <a:ln/>
        </p:spPr>
        <p:txBody>
          <a:bodyPr wrap="square" rtlCol="0" anchor="ctr"/>
          <a:lstStyle/>
          <a:p>
            <a:pPr marL="0" indent="0">
              <a:buNone/>
            </a:pPr>
            <a:r>
              <a:rPr lang="en-US" sz="1100" dirty="0">
                <a:solidFill>
                  <a:srgbClr val="1E2A22"/>
                </a:solidFill>
                <a:latin typeface="Calibri" pitchFamily="34" charset="0"/>
                <a:ea typeface="Calibri" pitchFamily="34" charset="-122"/>
                <a:cs typeface="Calibri" pitchFamily="34" charset="-120"/>
              </a:rPr>
              <a:t>(−) Total debt, FY2026</a:t>
            </a:r>
            <a:endParaRPr lang="en-US" sz="1100" dirty="0"/>
          </a:p>
        </p:txBody>
      </p:sp>
      <p:sp>
        <p:nvSpPr>
          <p:cNvPr id="39" name="Text 36"/>
          <p:cNvSpPr/>
          <p:nvPr/>
        </p:nvSpPr>
        <p:spPr>
          <a:xfrm>
            <a:off x="5623560" y="5102352"/>
            <a:ext cx="2103120" cy="274320"/>
          </a:xfrm>
          <a:prstGeom prst="rect">
            <a:avLst/>
          </a:prstGeom>
          <a:noFill/>
          <a:ln/>
        </p:spPr>
        <p:txBody>
          <a:bodyPr wrap="square" rtlCol="0" anchor="ctr"/>
          <a:lstStyle/>
          <a:p>
            <a:pPr marL="0" indent="0" algn="r">
              <a:buNone/>
            </a:pPr>
            <a:r>
              <a:rPr lang="en-US" sz="1100" dirty="0">
                <a:solidFill>
                  <a:srgbClr val="1E2A22"/>
                </a:solidFill>
                <a:latin typeface="Calibri" pitchFamily="34" charset="0"/>
                <a:ea typeface="Calibri" pitchFamily="34" charset="-122"/>
                <a:cs typeface="Calibri" pitchFamily="34" charset="-120"/>
              </a:rPr>
              <a:t>Rs. 1,478 cr</a:t>
            </a:r>
            <a:endParaRPr lang="en-US" sz="1100" dirty="0"/>
          </a:p>
        </p:txBody>
      </p:sp>
      <p:sp>
        <p:nvSpPr>
          <p:cNvPr id="40" name="Shape 37"/>
          <p:cNvSpPr/>
          <p:nvPr/>
        </p:nvSpPr>
        <p:spPr>
          <a:xfrm>
            <a:off x="502920" y="5376672"/>
            <a:ext cx="7315200" cy="274320"/>
          </a:xfrm>
          <a:prstGeom prst="rect">
            <a:avLst/>
          </a:prstGeom>
          <a:solidFill>
            <a:srgbClr val="FFFFFF"/>
          </a:solidFill>
          <a:ln/>
        </p:spPr>
      </p:sp>
      <p:sp>
        <p:nvSpPr>
          <p:cNvPr id="41" name="Text 38"/>
          <p:cNvSpPr/>
          <p:nvPr/>
        </p:nvSpPr>
        <p:spPr>
          <a:xfrm>
            <a:off x="594360" y="5376672"/>
            <a:ext cx="5120640" cy="274320"/>
          </a:xfrm>
          <a:prstGeom prst="rect">
            <a:avLst/>
          </a:prstGeom>
          <a:noFill/>
          <a:ln/>
        </p:spPr>
        <p:txBody>
          <a:bodyPr wrap="square" rtlCol="0" anchor="ctr"/>
          <a:lstStyle/>
          <a:p>
            <a:pPr marL="0" indent="0">
              <a:buNone/>
            </a:pPr>
            <a:r>
              <a:rPr lang="en-US" sz="1100" dirty="0">
                <a:solidFill>
                  <a:srgbClr val="1E2A22"/>
                </a:solidFill>
                <a:latin typeface="Calibri" pitchFamily="34" charset="0"/>
                <a:ea typeface="Calibri" pitchFamily="34" charset="-122"/>
                <a:cs typeface="Calibri" pitchFamily="34" charset="-120"/>
              </a:rPr>
              <a:t>(+) Cash &amp; short-term investments, FY2026</a:t>
            </a:r>
            <a:endParaRPr lang="en-US" sz="1100" dirty="0"/>
          </a:p>
        </p:txBody>
      </p:sp>
      <p:sp>
        <p:nvSpPr>
          <p:cNvPr id="42" name="Text 39"/>
          <p:cNvSpPr/>
          <p:nvPr/>
        </p:nvSpPr>
        <p:spPr>
          <a:xfrm>
            <a:off x="5623560" y="5376672"/>
            <a:ext cx="2103120" cy="274320"/>
          </a:xfrm>
          <a:prstGeom prst="rect">
            <a:avLst/>
          </a:prstGeom>
          <a:noFill/>
          <a:ln/>
        </p:spPr>
        <p:txBody>
          <a:bodyPr wrap="square" rtlCol="0" anchor="ctr"/>
          <a:lstStyle/>
          <a:p>
            <a:pPr marL="0" indent="0" algn="r">
              <a:buNone/>
            </a:pPr>
            <a:r>
              <a:rPr lang="en-US" sz="1100" dirty="0">
                <a:solidFill>
                  <a:srgbClr val="1E2A22"/>
                </a:solidFill>
                <a:latin typeface="Calibri" pitchFamily="34" charset="0"/>
                <a:ea typeface="Calibri" pitchFamily="34" charset="-122"/>
                <a:cs typeface="Calibri" pitchFamily="34" charset="-120"/>
              </a:rPr>
              <a:t>Rs. 7,495 cr</a:t>
            </a:r>
            <a:endParaRPr lang="en-US" sz="1100" dirty="0"/>
          </a:p>
        </p:txBody>
      </p:sp>
      <p:sp>
        <p:nvSpPr>
          <p:cNvPr id="43" name="Shape 40"/>
          <p:cNvSpPr/>
          <p:nvPr/>
        </p:nvSpPr>
        <p:spPr>
          <a:xfrm>
            <a:off x="502920" y="5650992"/>
            <a:ext cx="7315200" cy="274320"/>
          </a:xfrm>
          <a:prstGeom prst="rect">
            <a:avLst/>
          </a:prstGeom>
          <a:solidFill>
            <a:srgbClr val="EEF1EC"/>
          </a:solidFill>
          <a:ln/>
        </p:spPr>
      </p:sp>
      <p:sp>
        <p:nvSpPr>
          <p:cNvPr id="44" name="Text 41"/>
          <p:cNvSpPr/>
          <p:nvPr/>
        </p:nvSpPr>
        <p:spPr>
          <a:xfrm>
            <a:off x="594360" y="5650992"/>
            <a:ext cx="5120640" cy="274320"/>
          </a:xfrm>
          <a:prstGeom prst="rect">
            <a:avLst/>
          </a:prstGeom>
          <a:noFill/>
          <a:ln/>
        </p:spPr>
        <p:txBody>
          <a:bodyPr wrap="square" rtlCol="0" anchor="ctr"/>
          <a:lstStyle/>
          <a:p>
            <a:pPr marL="0" indent="0">
              <a:buNone/>
            </a:pPr>
            <a:r>
              <a:rPr lang="en-US" sz="1100" b="1" dirty="0">
                <a:solidFill>
                  <a:srgbClr val="1E2A22"/>
                </a:solidFill>
                <a:latin typeface="Calibri" pitchFamily="34" charset="0"/>
                <a:ea typeface="Calibri" pitchFamily="34" charset="-122"/>
                <a:cs typeface="Calibri" pitchFamily="34" charset="-120"/>
              </a:rPr>
              <a:t>= Equity Value</a:t>
            </a:r>
            <a:endParaRPr lang="en-US" sz="1100" dirty="0"/>
          </a:p>
        </p:txBody>
      </p:sp>
      <p:sp>
        <p:nvSpPr>
          <p:cNvPr id="45" name="Text 42"/>
          <p:cNvSpPr/>
          <p:nvPr/>
        </p:nvSpPr>
        <p:spPr>
          <a:xfrm>
            <a:off x="5623560" y="5650992"/>
            <a:ext cx="2103120" cy="274320"/>
          </a:xfrm>
          <a:prstGeom prst="rect">
            <a:avLst/>
          </a:prstGeom>
          <a:noFill/>
          <a:ln/>
        </p:spPr>
        <p:txBody>
          <a:bodyPr wrap="square" rtlCol="0" anchor="ctr"/>
          <a:lstStyle/>
          <a:p>
            <a:pPr marL="0" indent="0" algn="r">
              <a:buNone/>
            </a:pPr>
            <a:r>
              <a:rPr lang="en-US" sz="1100" b="1" dirty="0">
                <a:solidFill>
                  <a:srgbClr val="AA5A34"/>
                </a:solidFill>
                <a:latin typeface="Calibri" pitchFamily="34" charset="0"/>
                <a:ea typeface="Calibri" pitchFamily="34" charset="-122"/>
                <a:cs typeface="Calibri" pitchFamily="34" charset="-120"/>
              </a:rPr>
              <a:t>Rs. 2,23,458 cr</a:t>
            </a:r>
            <a:endParaRPr lang="en-US" sz="1100" dirty="0"/>
          </a:p>
        </p:txBody>
      </p:sp>
      <p:sp>
        <p:nvSpPr>
          <p:cNvPr id="46" name="Shape 43"/>
          <p:cNvSpPr/>
          <p:nvPr/>
        </p:nvSpPr>
        <p:spPr>
          <a:xfrm>
            <a:off x="502920" y="5925312"/>
            <a:ext cx="7315200" cy="274320"/>
          </a:xfrm>
          <a:prstGeom prst="rect">
            <a:avLst/>
          </a:prstGeom>
          <a:solidFill>
            <a:srgbClr val="EEF1EC"/>
          </a:solidFill>
          <a:ln/>
        </p:spPr>
      </p:sp>
      <p:sp>
        <p:nvSpPr>
          <p:cNvPr id="47" name="Text 44"/>
          <p:cNvSpPr/>
          <p:nvPr/>
        </p:nvSpPr>
        <p:spPr>
          <a:xfrm>
            <a:off x="594360" y="5925312"/>
            <a:ext cx="5120640" cy="274320"/>
          </a:xfrm>
          <a:prstGeom prst="rect">
            <a:avLst/>
          </a:prstGeom>
          <a:noFill/>
          <a:ln/>
        </p:spPr>
        <p:txBody>
          <a:bodyPr wrap="square" rtlCol="0" anchor="ctr"/>
          <a:lstStyle/>
          <a:p>
            <a:pPr marL="0" indent="0">
              <a:buNone/>
            </a:pPr>
            <a:r>
              <a:rPr lang="en-US" sz="1100" b="1" dirty="0">
                <a:solidFill>
                  <a:srgbClr val="1E2A22"/>
                </a:solidFill>
                <a:latin typeface="Calibri" pitchFamily="34" charset="0"/>
                <a:ea typeface="Calibri" pitchFamily="34" charset="-122"/>
                <a:cs typeface="Calibri" pitchFamily="34" charset="-120"/>
              </a:rPr>
              <a:t>÷ Shares outstanding (235 cr) = Implied value / share</a:t>
            </a:r>
            <a:endParaRPr lang="en-US" sz="1100" dirty="0"/>
          </a:p>
        </p:txBody>
      </p:sp>
      <p:sp>
        <p:nvSpPr>
          <p:cNvPr id="48" name="Text 45"/>
          <p:cNvSpPr/>
          <p:nvPr/>
        </p:nvSpPr>
        <p:spPr>
          <a:xfrm>
            <a:off x="5623560" y="5925312"/>
            <a:ext cx="2103120" cy="274320"/>
          </a:xfrm>
          <a:prstGeom prst="rect">
            <a:avLst/>
          </a:prstGeom>
          <a:noFill/>
          <a:ln/>
        </p:spPr>
        <p:txBody>
          <a:bodyPr wrap="square" rtlCol="0" anchor="ctr"/>
          <a:lstStyle/>
          <a:p>
            <a:pPr marL="0" indent="0" algn="r">
              <a:buNone/>
            </a:pPr>
            <a:r>
              <a:rPr lang="en-US" sz="1100" b="1" dirty="0">
                <a:solidFill>
                  <a:srgbClr val="AA5A34"/>
                </a:solidFill>
                <a:latin typeface="Calibri" pitchFamily="34" charset="0"/>
                <a:ea typeface="Calibri" pitchFamily="34" charset="-122"/>
                <a:cs typeface="Calibri" pitchFamily="34" charset="-120"/>
              </a:rPr>
              <a:t>Rs. 951</a:t>
            </a:r>
            <a:endParaRPr lang="en-US" sz="1100" dirty="0"/>
          </a:p>
        </p:txBody>
      </p:sp>
      <p:sp>
        <p:nvSpPr>
          <p:cNvPr id="49" name="Shape 46"/>
          <p:cNvSpPr/>
          <p:nvPr/>
        </p:nvSpPr>
        <p:spPr>
          <a:xfrm>
            <a:off x="8046720" y="4114800"/>
            <a:ext cx="3639312" cy="2084832"/>
          </a:xfrm>
          <a:prstGeom prst="rect">
            <a:avLst/>
          </a:prstGeom>
          <a:solidFill>
            <a:srgbClr val="1E2A22"/>
          </a:solidFill>
          <a:ln/>
        </p:spPr>
      </p:sp>
      <p:sp>
        <p:nvSpPr>
          <p:cNvPr id="50" name="Text 47"/>
          <p:cNvSpPr/>
          <p:nvPr/>
        </p:nvSpPr>
        <p:spPr>
          <a:xfrm>
            <a:off x="8229600" y="4261104"/>
            <a:ext cx="3273552" cy="219456"/>
          </a:xfrm>
          <a:prstGeom prst="rect">
            <a:avLst/>
          </a:prstGeom>
          <a:noFill/>
          <a:ln/>
        </p:spPr>
        <p:txBody>
          <a:bodyPr wrap="square" rtlCol="0" anchor="ctr"/>
          <a:lstStyle/>
          <a:p>
            <a:pPr marL="0" indent="0">
              <a:buNone/>
            </a:pPr>
            <a:r>
              <a:rPr lang="en-US" sz="880" b="1" kern="0" spc="100" dirty="0">
                <a:solidFill>
                  <a:srgbClr val="D7B79A"/>
                </a:solidFill>
                <a:latin typeface="Calibri" pitchFamily="34" charset="0"/>
                <a:ea typeface="Calibri" pitchFamily="34" charset="-122"/>
                <a:cs typeface="Calibri" pitchFamily="34" charset="-120"/>
              </a:rPr>
              <a:t>IMPLIED VALUE / SHARE</a:t>
            </a:r>
            <a:endParaRPr lang="en-US" sz="880" dirty="0"/>
          </a:p>
        </p:txBody>
      </p:sp>
      <p:sp>
        <p:nvSpPr>
          <p:cNvPr id="51" name="Text 48"/>
          <p:cNvSpPr/>
          <p:nvPr/>
        </p:nvSpPr>
        <p:spPr>
          <a:xfrm>
            <a:off x="8229600" y="4480560"/>
            <a:ext cx="3273552" cy="457200"/>
          </a:xfrm>
          <a:prstGeom prst="rect">
            <a:avLst/>
          </a:prstGeom>
          <a:noFill/>
          <a:ln/>
        </p:spPr>
        <p:txBody>
          <a:bodyPr wrap="square"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Rs. 951</a:t>
            </a:r>
            <a:endParaRPr lang="en-US" sz="2400" dirty="0"/>
          </a:p>
        </p:txBody>
      </p:sp>
      <p:sp>
        <p:nvSpPr>
          <p:cNvPr id="52" name="Text 49"/>
          <p:cNvSpPr/>
          <p:nvPr/>
        </p:nvSpPr>
        <p:spPr>
          <a:xfrm>
            <a:off x="8229600" y="4956048"/>
            <a:ext cx="3273552" cy="640080"/>
          </a:xfrm>
          <a:prstGeom prst="rect">
            <a:avLst/>
          </a:prstGeom>
          <a:noFill/>
          <a:ln/>
        </p:spPr>
        <p:txBody>
          <a:bodyPr wrap="square" rtlCol="0" anchor="ctr"/>
          <a:lstStyle/>
          <a:p>
            <a:pPr marL="0" indent="0">
              <a:lnSpc>
                <a:spcPts val="1100"/>
              </a:lnSpc>
              <a:buNone/>
            </a:pPr>
            <a:r>
              <a:rPr lang="en-US" sz="1050" i="1" dirty="0">
                <a:solidFill>
                  <a:srgbClr val="C9D2C7"/>
                </a:solidFill>
                <a:latin typeface="Calibri" pitchFamily="34" charset="0"/>
                <a:ea typeface="Calibri" pitchFamily="34" charset="-122"/>
                <a:cs typeface="Calibri" pitchFamily="34" charset="-120"/>
              </a:rPr>
              <a:t>vs. CMP Rs. 2,108 — gap largely reflects brand strength and pricing power a 5-year model can't capture.</a:t>
            </a:r>
            <a:endParaRPr lang="en-US" sz="1050" dirty="0"/>
          </a:p>
        </p:txBody>
      </p:sp>
      <p:sp>
        <p:nvSpPr>
          <p:cNvPr id="55" name="Text 52"/>
          <p:cNvSpPr/>
          <p:nvPr/>
        </p:nvSpPr>
        <p:spPr>
          <a:xfrm>
            <a:off x="11231575" y="6473952"/>
            <a:ext cx="457200" cy="274320"/>
          </a:xfrm>
          <a:prstGeom prst="rect">
            <a:avLst/>
          </a:prstGeom>
          <a:noFill/>
          <a:ln/>
        </p:spPr>
        <p:txBody>
          <a:bodyPr wrap="square" rtlCol="0" anchor="ctr"/>
          <a:lstStyle/>
          <a:p>
            <a:pPr marL="0" indent="0" algn="r">
              <a:buNone/>
            </a:pPr>
            <a:r>
              <a:rPr lang="en-US" sz="850" dirty="0">
                <a:solidFill>
                  <a:srgbClr val="5B6058"/>
                </a:solidFill>
                <a:latin typeface="Calibri" pitchFamily="34" charset="0"/>
                <a:ea typeface="Calibri" pitchFamily="34" charset="-122"/>
                <a:cs typeface="Calibri" pitchFamily="34" charset="-120"/>
              </a:rPr>
              <a:t>9</a:t>
            </a:r>
            <a:endParaRPr lang="en-US" sz="8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65760"/>
            <a:ext cx="9144000" cy="256032"/>
          </a:xfrm>
          <a:prstGeom prst="rect">
            <a:avLst/>
          </a:prstGeom>
          <a:noFill/>
          <a:ln/>
        </p:spPr>
        <p:txBody>
          <a:bodyPr wrap="square" rtlCol="0" anchor="ctr"/>
          <a:lstStyle/>
          <a:p>
            <a:pPr marL="0" indent="0">
              <a:buNone/>
            </a:pPr>
            <a:r>
              <a:rPr lang="en-US" sz="1050" b="1" kern="0" spc="200" dirty="0">
                <a:solidFill>
                  <a:srgbClr val="AA5A34"/>
                </a:solidFill>
                <a:latin typeface="Calibri" pitchFamily="34" charset="0"/>
                <a:ea typeface="Calibri" pitchFamily="34" charset="-122"/>
                <a:cs typeface="Calibri" pitchFamily="34" charset="-120"/>
              </a:rPr>
              <a:t>VALUATION &amp; PROJECTIONS</a:t>
            </a:r>
            <a:endParaRPr lang="en-US" sz="1050" dirty="0"/>
          </a:p>
        </p:txBody>
      </p:sp>
      <p:sp>
        <p:nvSpPr>
          <p:cNvPr id="3" name="Text 1"/>
          <p:cNvSpPr/>
          <p:nvPr/>
        </p:nvSpPr>
        <p:spPr>
          <a:xfrm>
            <a:off x="502920" y="621792"/>
            <a:ext cx="10607040" cy="566928"/>
          </a:xfrm>
          <a:prstGeom prst="rect">
            <a:avLst/>
          </a:prstGeom>
          <a:noFill/>
          <a:ln/>
        </p:spPr>
        <p:txBody>
          <a:bodyPr wrap="square" rtlCol="0" anchor="ctr"/>
          <a:lstStyle/>
          <a:p>
            <a:pPr marL="0" indent="0">
              <a:lnSpc>
                <a:spcPts val="2600"/>
              </a:lnSpc>
              <a:buNone/>
            </a:pPr>
            <a:r>
              <a:rPr lang="en-US" sz="2200" b="1" dirty="0">
                <a:solidFill>
                  <a:srgbClr val="1E2A22"/>
                </a:solidFill>
                <a:latin typeface="Georgia" pitchFamily="34" charset="0"/>
                <a:ea typeface="Georgia" pitchFamily="34" charset="-122"/>
                <a:cs typeface="Georgia" pitchFamily="34" charset="-120"/>
              </a:rPr>
              <a:t>Free Cash Flow to the Firm Is Projected to Grow Steadily</a:t>
            </a:r>
            <a:endParaRPr lang="en-US" sz="2200" dirty="0"/>
          </a:p>
        </p:txBody>
      </p:sp>
      <p:graphicFrame>
        <p:nvGraphicFramePr>
          <p:cNvPr id="4" name="Chart 0"/>
          <p:cNvGraphicFramePr/>
          <p:nvPr/>
        </p:nvGraphicFramePr>
        <p:xfrm>
          <a:off x="502920" y="1463040"/>
          <a:ext cx="6903720" cy="420624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p:nvPr/>
        </p:nvSpPr>
        <p:spPr>
          <a:xfrm>
            <a:off x="7726680" y="1463040"/>
            <a:ext cx="4023360" cy="274320"/>
          </a:xfrm>
          <a:prstGeom prst="rect">
            <a:avLst/>
          </a:prstGeom>
          <a:noFill/>
          <a:ln/>
        </p:spPr>
        <p:txBody>
          <a:bodyPr wrap="square" rtlCol="0" anchor="ctr"/>
          <a:lstStyle/>
          <a:p>
            <a:pPr marL="0" indent="0">
              <a:buNone/>
            </a:pPr>
            <a:r>
              <a:rPr lang="en-US" sz="1050" b="1" kern="0" spc="150" dirty="0">
                <a:solidFill>
                  <a:srgbClr val="AA5A34"/>
                </a:solidFill>
                <a:latin typeface="Calibri" pitchFamily="34" charset="0"/>
                <a:ea typeface="Calibri" pitchFamily="34" charset="-122"/>
                <a:cs typeface="Calibri" pitchFamily="34" charset="-120"/>
              </a:rPr>
              <a:t>BUILD-UP OF FCFF</a:t>
            </a:r>
            <a:endParaRPr lang="en-US" sz="1050" dirty="0"/>
          </a:p>
        </p:txBody>
      </p:sp>
      <p:sp>
        <p:nvSpPr>
          <p:cNvPr id="6" name="Text 3"/>
          <p:cNvSpPr/>
          <p:nvPr/>
        </p:nvSpPr>
        <p:spPr>
          <a:xfrm>
            <a:off x="7726680" y="1828800"/>
            <a:ext cx="4023360" cy="274320"/>
          </a:xfrm>
          <a:prstGeom prst="rect">
            <a:avLst/>
          </a:prstGeom>
          <a:noFill/>
          <a:ln/>
        </p:spPr>
        <p:txBody>
          <a:bodyPr wrap="square" rtlCol="0" anchor="ctr"/>
          <a:lstStyle/>
          <a:p>
            <a:pPr marL="0" indent="0">
              <a:buNone/>
            </a:pPr>
            <a:r>
              <a:rPr lang="en-US" sz="1200" b="1" dirty="0">
                <a:solidFill>
                  <a:srgbClr val="1E2A22"/>
                </a:solidFill>
                <a:latin typeface="Calibri" pitchFamily="34" charset="0"/>
                <a:ea typeface="Calibri" pitchFamily="34" charset="-122"/>
                <a:cs typeface="Calibri" pitchFamily="34" charset="-120"/>
              </a:rPr>
              <a:t>NOPAT</a:t>
            </a:r>
            <a:endParaRPr lang="en-US" sz="1200" dirty="0"/>
          </a:p>
        </p:txBody>
      </p:sp>
      <p:sp>
        <p:nvSpPr>
          <p:cNvPr id="7" name="Text 4"/>
          <p:cNvSpPr/>
          <p:nvPr/>
        </p:nvSpPr>
        <p:spPr>
          <a:xfrm>
            <a:off x="7726680" y="2103120"/>
            <a:ext cx="4023360" cy="274320"/>
          </a:xfrm>
          <a:prstGeom prst="rect">
            <a:avLst/>
          </a:prstGeom>
          <a:noFill/>
          <a:ln/>
        </p:spPr>
        <p:txBody>
          <a:bodyPr wrap="square" rtlCol="0" anchor="ctr"/>
          <a:lstStyle/>
          <a:p>
            <a:pPr marL="0" indent="0">
              <a:buNone/>
            </a:pPr>
            <a:r>
              <a:rPr lang="en-US" sz="980" dirty="0">
                <a:solidFill>
                  <a:srgbClr val="5B6058"/>
                </a:solidFill>
                <a:latin typeface="Calibri" pitchFamily="34" charset="0"/>
                <a:ea typeface="Calibri" pitchFamily="34" charset="-122"/>
                <a:cs typeface="Calibri" pitchFamily="34" charset="-120"/>
              </a:rPr>
              <a:t>Post-tax operating profit</a:t>
            </a:r>
            <a:endParaRPr lang="en-US" sz="980" dirty="0"/>
          </a:p>
        </p:txBody>
      </p:sp>
      <p:sp>
        <p:nvSpPr>
          <p:cNvPr id="8" name="Text 5"/>
          <p:cNvSpPr/>
          <p:nvPr/>
        </p:nvSpPr>
        <p:spPr>
          <a:xfrm>
            <a:off x="7726680" y="2450592"/>
            <a:ext cx="4023360" cy="274320"/>
          </a:xfrm>
          <a:prstGeom prst="rect">
            <a:avLst/>
          </a:prstGeom>
          <a:noFill/>
          <a:ln/>
        </p:spPr>
        <p:txBody>
          <a:bodyPr wrap="square" rtlCol="0" anchor="ctr"/>
          <a:lstStyle/>
          <a:p>
            <a:pPr marL="0" indent="0">
              <a:buNone/>
            </a:pPr>
            <a:r>
              <a:rPr lang="en-US" sz="1200" b="1" dirty="0">
                <a:solidFill>
                  <a:srgbClr val="1E2A22"/>
                </a:solidFill>
                <a:latin typeface="Calibri" pitchFamily="34" charset="0"/>
                <a:ea typeface="Calibri" pitchFamily="34" charset="-122"/>
                <a:cs typeface="Calibri" pitchFamily="34" charset="-120"/>
              </a:rPr>
              <a:t>+ D&amp;A</a:t>
            </a:r>
            <a:endParaRPr lang="en-US" sz="1200" dirty="0"/>
          </a:p>
        </p:txBody>
      </p:sp>
      <p:sp>
        <p:nvSpPr>
          <p:cNvPr id="9" name="Text 6"/>
          <p:cNvSpPr/>
          <p:nvPr/>
        </p:nvSpPr>
        <p:spPr>
          <a:xfrm>
            <a:off x="7726680" y="2724912"/>
            <a:ext cx="4023360" cy="274320"/>
          </a:xfrm>
          <a:prstGeom prst="rect">
            <a:avLst/>
          </a:prstGeom>
          <a:noFill/>
          <a:ln/>
        </p:spPr>
        <p:txBody>
          <a:bodyPr wrap="square" rtlCol="0" anchor="ctr"/>
          <a:lstStyle/>
          <a:p>
            <a:pPr marL="0" indent="0">
              <a:buNone/>
            </a:pPr>
            <a:r>
              <a:rPr lang="en-US" sz="980" dirty="0">
                <a:solidFill>
                  <a:srgbClr val="5B6058"/>
                </a:solidFill>
                <a:latin typeface="Calibri" pitchFamily="34" charset="0"/>
                <a:ea typeface="Calibri" pitchFamily="34" charset="-122"/>
                <a:cs typeface="Calibri" pitchFamily="34" charset="-120"/>
              </a:rPr>
              <a:t>Non-cash add-back</a:t>
            </a:r>
            <a:endParaRPr lang="en-US" sz="980" dirty="0"/>
          </a:p>
        </p:txBody>
      </p:sp>
      <p:sp>
        <p:nvSpPr>
          <p:cNvPr id="10" name="Text 7"/>
          <p:cNvSpPr/>
          <p:nvPr/>
        </p:nvSpPr>
        <p:spPr>
          <a:xfrm>
            <a:off x="7726680" y="3072384"/>
            <a:ext cx="4023360" cy="274320"/>
          </a:xfrm>
          <a:prstGeom prst="rect">
            <a:avLst/>
          </a:prstGeom>
          <a:noFill/>
          <a:ln/>
        </p:spPr>
        <p:txBody>
          <a:bodyPr wrap="square" rtlCol="0" anchor="ctr"/>
          <a:lstStyle/>
          <a:p>
            <a:pPr marL="0" indent="0">
              <a:buNone/>
            </a:pPr>
            <a:r>
              <a:rPr lang="en-US" sz="1200" b="1" dirty="0">
                <a:solidFill>
                  <a:srgbClr val="1E2A22"/>
                </a:solidFill>
                <a:latin typeface="Calibri" pitchFamily="34" charset="0"/>
                <a:ea typeface="Calibri" pitchFamily="34" charset="-122"/>
                <a:cs typeface="Calibri" pitchFamily="34" charset="-120"/>
              </a:rPr>
              <a:t>– Capex</a:t>
            </a:r>
            <a:endParaRPr lang="en-US" sz="1200" dirty="0"/>
          </a:p>
        </p:txBody>
      </p:sp>
      <p:sp>
        <p:nvSpPr>
          <p:cNvPr id="11" name="Text 8"/>
          <p:cNvSpPr/>
          <p:nvPr/>
        </p:nvSpPr>
        <p:spPr>
          <a:xfrm>
            <a:off x="7726680" y="3346704"/>
            <a:ext cx="4023360" cy="274320"/>
          </a:xfrm>
          <a:prstGeom prst="rect">
            <a:avLst/>
          </a:prstGeom>
          <a:noFill/>
          <a:ln/>
        </p:spPr>
        <p:txBody>
          <a:bodyPr wrap="square" rtlCol="0" anchor="ctr"/>
          <a:lstStyle/>
          <a:p>
            <a:pPr marL="0" indent="0">
              <a:buNone/>
            </a:pPr>
            <a:r>
              <a:rPr lang="en-US" sz="980" dirty="0">
                <a:solidFill>
                  <a:srgbClr val="5B6058"/>
                </a:solidFill>
                <a:latin typeface="Calibri" pitchFamily="34" charset="0"/>
                <a:ea typeface="Calibri" pitchFamily="34" charset="-122"/>
                <a:cs typeface="Calibri" pitchFamily="34" charset="-120"/>
              </a:rPr>
              <a:t>Reinvestment in fixed assets</a:t>
            </a:r>
            <a:endParaRPr lang="en-US" sz="980" dirty="0"/>
          </a:p>
        </p:txBody>
      </p:sp>
      <p:sp>
        <p:nvSpPr>
          <p:cNvPr id="12" name="Text 9"/>
          <p:cNvSpPr/>
          <p:nvPr/>
        </p:nvSpPr>
        <p:spPr>
          <a:xfrm>
            <a:off x="7726680" y="3694176"/>
            <a:ext cx="4023360" cy="274320"/>
          </a:xfrm>
          <a:prstGeom prst="rect">
            <a:avLst/>
          </a:prstGeom>
          <a:noFill/>
          <a:ln/>
        </p:spPr>
        <p:txBody>
          <a:bodyPr wrap="square" rtlCol="0" anchor="ctr"/>
          <a:lstStyle/>
          <a:p>
            <a:pPr marL="0" indent="0">
              <a:buNone/>
            </a:pPr>
            <a:r>
              <a:rPr lang="en-US" sz="1200" b="1" dirty="0">
                <a:solidFill>
                  <a:srgbClr val="1E2A22"/>
                </a:solidFill>
                <a:latin typeface="Calibri" pitchFamily="34" charset="0"/>
                <a:ea typeface="Calibri" pitchFamily="34" charset="-122"/>
                <a:cs typeface="Calibri" pitchFamily="34" charset="-120"/>
              </a:rPr>
              <a:t>– Δ NWC</a:t>
            </a:r>
            <a:endParaRPr lang="en-US" sz="1200" dirty="0"/>
          </a:p>
        </p:txBody>
      </p:sp>
      <p:sp>
        <p:nvSpPr>
          <p:cNvPr id="13" name="Text 10"/>
          <p:cNvSpPr/>
          <p:nvPr/>
        </p:nvSpPr>
        <p:spPr>
          <a:xfrm>
            <a:off x="7726680" y="3968496"/>
            <a:ext cx="4023360" cy="274320"/>
          </a:xfrm>
          <a:prstGeom prst="rect">
            <a:avLst/>
          </a:prstGeom>
          <a:noFill/>
          <a:ln/>
        </p:spPr>
        <p:txBody>
          <a:bodyPr wrap="square" rtlCol="0" anchor="ctr"/>
          <a:lstStyle/>
          <a:p>
            <a:pPr marL="0" indent="0">
              <a:buNone/>
            </a:pPr>
            <a:r>
              <a:rPr lang="en-US" sz="980" dirty="0">
                <a:solidFill>
                  <a:srgbClr val="5B6058"/>
                </a:solidFill>
                <a:latin typeface="Calibri" pitchFamily="34" charset="0"/>
                <a:ea typeface="Calibri" pitchFamily="34" charset="-122"/>
                <a:cs typeface="Calibri" pitchFamily="34" charset="-120"/>
              </a:rPr>
              <a:t>Working-capital investment</a:t>
            </a:r>
            <a:endParaRPr lang="en-US" sz="980" dirty="0"/>
          </a:p>
        </p:txBody>
      </p:sp>
      <p:sp>
        <p:nvSpPr>
          <p:cNvPr id="14" name="Text 11"/>
          <p:cNvSpPr/>
          <p:nvPr/>
        </p:nvSpPr>
        <p:spPr>
          <a:xfrm>
            <a:off x="7726680" y="4315968"/>
            <a:ext cx="4023360" cy="274320"/>
          </a:xfrm>
          <a:prstGeom prst="rect">
            <a:avLst/>
          </a:prstGeom>
          <a:noFill/>
          <a:ln/>
        </p:spPr>
        <p:txBody>
          <a:bodyPr wrap="square" rtlCol="0" anchor="ctr"/>
          <a:lstStyle/>
          <a:p>
            <a:pPr marL="0" indent="0">
              <a:buNone/>
            </a:pPr>
            <a:r>
              <a:rPr lang="en-US" sz="1200" b="1" dirty="0">
                <a:solidFill>
                  <a:srgbClr val="AA5A34"/>
                </a:solidFill>
                <a:latin typeface="Calibri" pitchFamily="34" charset="0"/>
                <a:ea typeface="Calibri" pitchFamily="34" charset="-122"/>
                <a:cs typeface="Calibri" pitchFamily="34" charset="-120"/>
              </a:rPr>
              <a:t>= FCFF</a:t>
            </a:r>
            <a:endParaRPr lang="en-US" sz="1200" dirty="0"/>
          </a:p>
        </p:txBody>
      </p:sp>
      <p:sp>
        <p:nvSpPr>
          <p:cNvPr id="15" name="Text 12"/>
          <p:cNvSpPr/>
          <p:nvPr/>
        </p:nvSpPr>
        <p:spPr>
          <a:xfrm>
            <a:off x="7726680" y="4590288"/>
            <a:ext cx="4023360" cy="274320"/>
          </a:xfrm>
          <a:prstGeom prst="rect">
            <a:avLst/>
          </a:prstGeom>
          <a:noFill/>
          <a:ln/>
        </p:spPr>
        <p:txBody>
          <a:bodyPr wrap="square" rtlCol="0" anchor="ctr"/>
          <a:lstStyle/>
          <a:p>
            <a:pPr marL="0" indent="0">
              <a:buNone/>
            </a:pPr>
            <a:r>
              <a:rPr lang="en-US" sz="980" dirty="0">
                <a:solidFill>
                  <a:srgbClr val="5B6058"/>
                </a:solidFill>
                <a:latin typeface="Calibri" pitchFamily="34" charset="0"/>
                <a:ea typeface="Calibri" pitchFamily="34" charset="-122"/>
                <a:cs typeface="Calibri" pitchFamily="34" charset="-120"/>
              </a:rPr>
              <a:t>Cash available to all capital providers</a:t>
            </a:r>
            <a:endParaRPr lang="en-US" sz="980" dirty="0"/>
          </a:p>
        </p:txBody>
      </p:sp>
      <p:sp>
        <p:nvSpPr>
          <p:cNvPr id="16" name="Shape 13"/>
          <p:cNvSpPr/>
          <p:nvPr/>
        </p:nvSpPr>
        <p:spPr>
          <a:xfrm>
            <a:off x="7726680" y="5074920"/>
            <a:ext cx="4023360" cy="1051560"/>
          </a:xfrm>
          <a:prstGeom prst="rect">
            <a:avLst/>
          </a:prstGeom>
          <a:solidFill>
            <a:srgbClr val="EEF1EC"/>
          </a:solidFill>
          <a:ln/>
        </p:spPr>
      </p:sp>
      <p:sp>
        <p:nvSpPr>
          <p:cNvPr id="17" name="Text 14"/>
          <p:cNvSpPr/>
          <p:nvPr/>
        </p:nvSpPr>
        <p:spPr>
          <a:xfrm>
            <a:off x="7955280" y="5257800"/>
            <a:ext cx="3566160" cy="777240"/>
          </a:xfrm>
          <a:prstGeom prst="rect">
            <a:avLst/>
          </a:prstGeom>
          <a:noFill/>
          <a:ln/>
        </p:spPr>
        <p:txBody>
          <a:bodyPr wrap="square" rtlCol="0" anchor="ctr"/>
          <a:lstStyle/>
          <a:p>
            <a:pPr marL="0" indent="0">
              <a:lnSpc>
                <a:spcPts val="1350"/>
              </a:lnSpc>
              <a:buNone/>
            </a:pPr>
            <a:r>
              <a:rPr lang="en-US" sz="1000" i="1" dirty="0">
                <a:solidFill>
                  <a:srgbClr val="1E2A22"/>
                </a:solidFill>
                <a:latin typeface="Calibri" pitchFamily="34" charset="0"/>
                <a:ea typeface="Calibri" pitchFamily="34" charset="-122"/>
                <a:cs typeface="Calibri" pitchFamily="34" charset="-120"/>
              </a:rPr>
              <a:t>Revenue is projected to grow from Rs. 69,625 crore (FY2027E) to Rs. 89,567 crore (FY2031E) on the tapering growth assumption.</a:t>
            </a:r>
            <a:endParaRPr lang="en-US" sz="1000" dirty="0"/>
          </a:p>
        </p:txBody>
      </p:sp>
      <p:sp>
        <p:nvSpPr>
          <p:cNvPr id="19" name="Text 16"/>
          <p:cNvSpPr/>
          <p:nvPr/>
        </p:nvSpPr>
        <p:spPr>
          <a:xfrm>
            <a:off x="11231575" y="6473952"/>
            <a:ext cx="457200" cy="274320"/>
          </a:xfrm>
          <a:prstGeom prst="rect">
            <a:avLst/>
          </a:prstGeom>
          <a:noFill/>
          <a:ln/>
        </p:spPr>
        <p:txBody>
          <a:bodyPr wrap="square" rtlCol="0" anchor="ctr"/>
          <a:lstStyle/>
          <a:p>
            <a:pPr marL="0" indent="0" algn="r">
              <a:buNone/>
            </a:pPr>
            <a:r>
              <a:rPr lang="en-US" sz="850" dirty="0">
                <a:solidFill>
                  <a:srgbClr val="5B6058"/>
                </a:solidFill>
                <a:latin typeface="Calibri" pitchFamily="34" charset="0"/>
                <a:ea typeface="Calibri" pitchFamily="34" charset="-122"/>
                <a:cs typeface="Calibri" pitchFamily="34" charset="-120"/>
              </a:rPr>
              <a:t>10</a:t>
            </a:r>
            <a:endParaRPr lang="en-US" sz="8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65760"/>
            <a:ext cx="9144000" cy="256032"/>
          </a:xfrm>
          <a:prstGeom prst="rect">
            <a:avLst/>
          </a:prstGeom>
          <a:noFill/>
          <a:ln/>
        </p:spPr>
        <p:txBody>
          <a:bodyPr wrap="square" rtlCol="0" anchor="ctr"/>
          <a:lstStyle/>
          <a:p>
            <a:pPr marL="0" indent="0">
              <a:buNone/>
            </a:pPr>
            <a:r>
              <a:rPr lang="en-US" sz="1050" b="1" kern="0" spc="200" dirty="0">
                <a:solidFill>
                  <a:srgbClr val="AA5A34"/>
                </a:solidFill>
                <a:latin typeface="Calibri" pitchFamily="34" charset="0"/>
                <a:ea typeface="Calibri" pitchFamily="34" charset="-122"/>
                <a:cs typeface="Calibri" pitchFamily="34" charset="-120"/>
              </a:rPr>
              <a:t>VALUATION &amp; PROJECTIONS</a:t>
            </a:r>
            <a:endParaRPr lang="en-US" sz="1050" dirty="0"/>
          </a:p>
        </p:txBody>
      </p:sp>
      <p:sp>
        <p:nvSpPr>
          <p:cNvPr id="3" name="Text 1"/>
          <p:cNvSpPr/>
          <p:nvPr/>
        </p:nvSpPr>
        <p:spPr>
          <a:xfrm>
            <a:off x="502920" y="621792"/>
            <a:ext cx="10607040" cy="566928"/>
          </a:xfrm>
          <a:prstGeom prst="rect">
            <a:avLst/>
          </a:prstGeom>
          <a:noFill/>
          <a:ln/>
        </p:spPr>
        <p:txBody>
          <a:bodyPr wrap="square" rtlCol="0" anchor="ctr"/>
          <a:lstStyle/>
          <a:p>
            <a:pPr marL="0" indent="0">
              <a:lnSpc>
                <a:spcPts val="2600"/>
              </a:lnSpc>
              <a:buNone/>
            </a:pPr>
            <a:r>
              <a:rPr lang="en-US" sz="2200" b="1" dirty="0">
                <a:solidFill>
                  <a:srgbClr val="1E2A22"/>
                </a:solidFill>
                <a:latin typeface="Georgia" pitchFamily="34" charset="0"/>
                <a:ea typeface="Georgia" pitchFamily="34" charset="-122"/>
                <a:cs typeface="Georgia" pitchFamily="34" charset="-120"/>
              </a:rPr>
              <a:t>Three Valuation Methods Bracket the Current Market Price</a:t>
            </a:r>
            <a:endParaRPr lang="en-US" sz="2200" dirty="0"/>
          </a:p>
        </p:txBody>
      </p:sp>
      <p:graphicFrame>
        <p:nvGraphicFramePr>
          <p:cNvPr id="4" name="Chart 0"/>
          <p:cNvGraphicFramePr/>
          <p:nvPr/>
        </p:nvGraphicFramePr>
        <p:xfrm>
          <a:off x="502920" y="1463040"/>
          <a:ext cx="6903720" cy="420624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7726680" y="1463040"/>
            <a:ext cx="4023360" cy="4206240"/>
          </a:xfrm>
          <a:prstGeom prst="rect">
            <a:avLst/>
          </a:prstGeom>
          <a:solidFill>
            <a:srgbClr val="1E2A22"/>
          </a:solidFill>
          <a:ln/>
        </p:spPr>
      </p:sp>
      <p:sp>
        <p:nvSpPr>
          <p:cNvPr id="6" name="Text 3"/>
          <p:cNvSpPr/>
          <p:nvPr/>
        </p:nvSpPr>
        <p:spPr>
          <a:xfrm>
            <a:off x="8001000" y="1783080"/>
            <a:ext cx="3474720" cy="274320"/>
          </a:xfrm>
          <a:prstGeom prst="rect">
            <a:avLst/>
          </a:prstGeom>
          <a:noFill/>
          <a:ln/>
        </p:spPr>
        <p:txBody>
          <a:bodyPr wrap="square" rtlCol="0" anchor="ctr"/>
          <a:lstStyle/>
          <a:p>
            <a:pPr marL="0" indent="0">
              <a:buNone/>
            </a:pPr>
            <a:r>
              <a:rPr lang="en-US" sz="1050" b="1" kern="0" spc="200" dirty="0">
                <a:solidFill>
                  <a:srgbClr val="D7B79A"/>
                </a:solidFill>
                <a:latin typeface="Calibri" pitchFamily="34" charset="0"/>
                <a:ea typeface="Calibri" pitchFamily="34" charset="-122"/>
                <a:cs typeface="Calibri" pitchFamily="34" charset="-120"/>
              </a:rPr>
              <a:t>RECOMMENDATION</a:t>
            </a:r>
            <a:endParaRPr lang="en-US" sz="1050" dirty="0"/>
          </a:p>
        </p:txBody>
      </p:sp>
      <p:sp>
        <p:nvSpPr>
          <p:cNvPr id="7" name="Text 4"/>
          <p:cNvSpPr/>
          <p:nvPr/>
        </p:nvSpPr>
        <p:spPr>
          <a:xfrm>
            <a:off x="8001000" y="2103120"/>
            <a:ext cx="3474720" cy="822960"/>
          </a:xfrm>
          <a:prstGeom prst="rect">
            <a:avLst/>
          </a:prstGeom>
          <a:noFill/>
          <a:ln/>
        </p:spPr>
        <p:txBody>
          <a:bodyPr wrap="square" rtlCol="0" anchor="ctr"/>
          <a:lstStyle/>
          <a:p>
            <a:pPr marL="0" indent="0">
              <a:buNone/>
            </a:pPr>
            <a:r>
              <a:rPr lang="en-US" sz="4400" b="1" dirty="0">
                <a:solidFill>
                  <a:srgbClr val="FFFFFF"/>
                </a:solidFill>
                <a:latin typeface="Georgia" pitchFamily="34" charset="0"/>
                <a:ea typeface="Georgia" pitchFamily="34" charset="-122"/>
                <a:cs typeface="Georgia" pitchFamily="34" charset="-120"/>
              </a:rPr>
              <a:t>HOLD</a:t>
            </a:r>
            <a:endParaRPr lang="en-US" sz="4400" dirty="0"/>
          </a:p>
        </p:txBody>
      </p:sp>
      <p:sp>
        <p:nvSpPr>
          <p:cNvPr id="8" name="Text 5"/>
          <p:cNvSpPr/>
          <p:nvPr/>
        </p:nvSpPr>
        <p:spPr>
          <a:xfrm>
            <a:off x="8001000" y="3063240"/>
            <a:ext cx="3474720" cy="1234440"/>
          </a:xfrm>
          <a:prstGeom prst="rect">
            <a:avLst/>
          </a:prstGeom>
          <a:noFill/>
          <a:ln/>
        </p:spPr>
        <p:txBody>
          <a:bodyPr wrap="square" rtlCol="0" anchor="ctr"/>
          <a:lstStyle/>
          <a:p>
            <a:pPr marL="0" indent="0">
              <a:lnSpc>
                <a:spcPts val="1450"/>
              </a:lnSpc>
              <a:buNone/>
            </a:pPr>
            <a:r>
              <a:rPr lang="en-US" sz="1080" dirty="0">
                <a:solidFill>
                  <a:srgbClr val="E4E8E1"/>
                </a:solidFill>
                <a:latin typeface="Calibri" pitchFamily="34" charset="0"/>
                <a:ea typeface="Calibri" pitchFamily="34" charset="-122"/>
                <a:cs typeface="Calibri" pitchFamily="34" charset="-120"/>
              </a:rPr>
              <a:t>The DCF (Rs. 951) and relative valuation (Rs. 2,261–2,594) point in very different directions; the market price of Rs. 2,108 sits closer to the relative-valuation band.</a:t>
            </a:r>
            <a:endParaRPr lang="en-US" sz="1080" dirty="0"/>
          </a:p>
        </p:txBody>
      </p:sp>
      <p:sp>
        <p:nvSpPr>
          <p:cNvPr id="9" name="Shape 6"/>
          <p:cNvSpPr/>
          <p:nvPr/>
        </p:nvSpPr>
        <p:spPr>
          <a:xfrm>
            <a:off x="8001000" y="4343400"/>
            <a:ext cx="3474720" cy="0"/>
          </a:xfrm>
          <a:prstGeom prst="line">
            <a:avLst/>
          </a:prstGeom>
          <a:noFill/>
          <a:ln w="9525">
            <a:solidFill>
              <a:srgbClr val="44503F"/>
            </a:solidFill>
            <a:prstDash val="solid"/>
          </a:ln>
        </p:spPr>
      </p:sp>
      <p:sp>
        <p:nvSpPr>
          <p:cNvPr id="10" name="Text 7"/>
          <p:cNvSpPr/>
          <p:nvPr/>
        </p:nvSpPr>
        <p:spPr>
          <a:xfrm>
            <a:off x="8001000" y="4526280"/>
            <a:ext cx="3474720" cy="1051560"/>
          </a:xfrm>
          <a:prstGeom prst="rect">
            <a:avLst/>
          </a:prstGeom>
          <a:noFill/>
          <a:ln/>
        </p:spPr>
        <p:txBody>
          <a:bodyPr wrap="square" rtlCol="0" anchor="ctr"/>
          <a:lstStyle/>
          <a:p>
            <a:pPr marL="0" indent="0">
              <a:lnSpc>
                <a:spcPts val="1450"/>
              </a:lnSpc>
              <a:buNone/>
            </a:pPr>
            <a:r>
              <a:rPr lang="en-US" sz="1080" dirty="0">
                <a:solidFill>
                  <a:srgbClr val="E4E8E1"/>
                </a:solidFill>
                <a:latin typeface="Calibri" pitchFamily="34" charset="0"/>
                <a:ea typeface="Calibri" pitchFamily="34" charset="-122"/>
                <a:cs typeface="Calibri" pitchFamily="34" charset="-120"/>
              </a:rPr>
              <a:t>Existing holders: retain. Fresh buyers: better served waiting for a pullback toward the DCF range, or clear evidence of reaccelerating volume growth.</a:t>
            </a:r>
            <a:endParaRPr lang="en-US" sz="1080" dirty="0"/>
          </a:p>
        </p:txBody>
      </p:sp>
      <p:sp>
        <p:nvSpPr>
          <p:cNvPr id="12" name="Text 9"/>
          <p:cNvSpPr/>
          <p:nvPr/>
        </p:nvSpPr>
        <p:spPr>
          <a:xfrm>
            <a:off x="11231575" y="6473952"/>
            <a:ext cx="457200" cy="274320"/>
          </a:xfrm>
          <a:prstGeom prst="rect">
            <a:avLst/>
          </a:prstGeom>
          <a:noFill/>
          <a:ln/>
        </p:spPr>
        <p:txBody>
          <a:bodyPr wrap="square" rtlCol="0" anchor="ctr"/>
          <a:lstStyle/>
          <a:p>
            <a:pPr marL="0" indent="0" algn="r">
              <a:buNone/>
            </a:pPr>
            <a:r>
              <a:rPr lang="en-US" sz="850" dirty="0">
                <a:solidFill>
                  <a:srgbClr val="5B6058"/>
                </a:solidFill>
                <a:latin typeface="Calibri" pitchFamily="34" charset="0"/>
                <a:ea typeface="Calibri" pitchFamily="34" charset="-122"/>
                <a:cs typeface="Calibri" pitchFamily="34" charset="-120"/>
              </a:rPr>
              <a:t>11</a:t>
            </a:r>
            <a:endParaRPr lang="en-US" sz="8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65760"/>
            <a:ext cx="9144000" cy="256032"/>
          </a:xfrm>
          <a:prstGeom prst="rect">
            <a:avLst/>
          </a:prstGeom>
          <a:noFill/>
          <a:ln/>
        </p:spPr>
        <p:txBody>
          <a:bodyPr wrap="square" rtlCol="0" anchor="ctr"/>
          <a:lstStyle/>
          <a:p>
            <a:pPr marL="0" indent="0">
              <a:buNone/>
            </a:pPr>
            <a:r>
              <a:rPr lang="en-US" sz="1050" b="1" kern="0" spc="200" dirty="0">
                <a:solidFill>
                  <a:srgbClr val="AA5A34"/>
                </a:solidFill>
                <a:latin typeface="Calibri" pitchFamily="34" charset="0"/>
                <a:ea typeface="Calibri" pitchFamily="34" charset="-122"/>
                <a:cs typeface="Calibri" pitchFamily="34" charset="-120"/>
              </a:rPr>
              <a:t>RISK &amp; MITIGATION</a:t>
            </a:r>
            <a:endParaRPr lang="en-US" sz="1050" dirty="0"/>
          </a:p>
        </p:txBody>
      </p:sp>
      <p:sp>
        <p:nvSpPr>
          <p:cNvPr id="3" name="Text 1"/>
          <p:cNvSpPr/>
          <p:nvPr/>
        </p:nvSpPr>
        <p:spPr>
          <a:xfrm>
            <a:off x="502920" y="621792"/>
            <a:ext cx="10607040" cy="566928"/>
          </a:xfrm>
          <a:prstGeom prst="rect">
            <a:avLst/>
          </a:prstGeom>
          <a:noFill/>
          <a:ln/>
        </p:spPr>
        <p:txBody>
          <a:bodyPr wrap="square" rtlCol="0" anchor="ctr"/>
          <a:lstStyle/>
          <a:p>
            <a:pPr marL="0" indent="0">
              <a:lnSpc>
                <a:spcPts val="2900"/>
              </a:lnSpc>
              <a:buNone/>
            </a:pPr>
            <a:r>
              <a:rPr lang="en-US" sz="2500" b="1" dirty="0">
                <a:solidFill>
                  <a:srgbClr val="1E2A22"/>
                </a:solidFill>
                <a:latin typeface="Georgia" pitchFamily="34" charset="0"/>
                <a:ea typeface="Georgia" pitchFamily="34" charset="-122"/>
                <a:cs typeface="Georgia" pitchFamily="34" charset="-120"/>
              </a:rPr>
              <a:t>Key Risks to the Recommendation</a:t>
            </a:r>
            <a:endParaRPr lang="en-US" sz="2500" dirty="0"/>
          </a:p>
        </p:txBody>
      </p:sp>
      <p:sp>
        <p:nvSpPr>
          <p:cNvPr id="4" name="Shape 2"/>
          <p:cNvSpPr/>
          <p:nvPr/>
        </p:nvSpPr>
        <p:spPr>
          <a:xfrm>
            <a:off x="502920" y="1508760"/>
            <a:ext cx="3611880" cy="1965960"/>
          </a:xfrm>
          <a:prstGeom prst="rect">
            <a:avLst/>
          </a:prstGeom>
          <a:solidFill>
            <a:srgbClr val="EEF1EC"/>
          </a:solidFill>
          <a:ln w="9525">
            <a:solidFill>
              <a:srgbClr val="CDD3CB"/>
            </a:solidFill>
            <a:prstDash val="solid"/>
          </a:ln>
        </p:spPr>
      </p:sp>
      <p:sp>
        <p:nvSpPr>
          <p:cNvPr id="5" name="Text 3"/>
          <p:cNvSpPr/>
          <p:nvPr/>
        </p:nvSpPr>
        <p:spPr>
          <a:xfrm>
            <a:off x="685800" y="1645920"/>
            <a:ext cx="914400" cy="320040"/>
          </a:xfrm>
          <a:prstGeom prst="rect">
            <a:avLst/>
          </a:prstGeom>
          <a:noFill/>
          <a:ln/>
        </p:spPr>
        <p:txBody>
          <a:bodyPr wrap="square" rtlCol="0" anchor="ctr"/>
          <a:lstStyle/>
          <a:p>
            <a:pPr marL="0" indent="0">
              <a:buNone/>
            </a:pPr>
            <a:r>
              <a:rPr lang="en-US" sz="1500" b="1" dirty="0">
                <a:solidFill>
                  <a:srgbClr val="AA5A34"/>
                </a:solidFill>
                <a:latin typeface="Georgia" pitchFamily="34" charset="0"/>
                <a:ea typeface="Georgia" pitchFamily="34" charset="-122"/>
                <a:cs typeface="Georgia" pitchFamily="34" charset="-120"/>
              </a:rPr>
              <a:t>01</a:t>
            </a:r>
            <a:endParaRPr lang="en-US" sz="1500" dirty="0"/>
          </a:p>
        </p:txBody>
      </p:sp>
      <p:sp>
        <p:nvSpPr>
          <p:cNvPr id="6" name="Text 4"/>
          <p:cNvSpPr/>
          <p:nvPr/>
        </p:nvSpPr>
        <p:spPr>
          <a:xfrm>
            <a:off x="685800" y="1965960"/>
            <a:ext cx="3246120" cy="411480"/>
          </a:xfrm>
          <a:prstGeom prst="rect">
            <a:avLst/>
          </a:prstGeom>
          <a:noFill/>
          <a:ln/>
        </p:spPr>
        <p:txBody>
          <a:bodyPr wrap="square" rtlCol="0" anchor="ctr"/>
          <a:lstStyle/>
          <a:p>
            <a:pPr marL="0" indent="0">
              <a:buNone/>
            </a:pPr>
            <a:r>
              <a:rPr lang="en-US" sz="1250" b="1" dirty="0">
                <a:solidFill>
                  <a:srgbClr val="1E2A22"/>
                </a:solidFill>
                <a:latin typeface="Calibri" pitchFamily="34" charset="0"/>
                <a:ea typeface="Calibri" pitchFamily="34" charset="-122"/>
                <a:cs typeface="Calibri" pitchFamily="34" charset="-120"/>
              </a:rPr>
              <a:t>Input cost inflation</a:t>
            </a:r>
            <a:endParaRPr lang="en-US" sz="1250" dirty="0"/>
          </a:p>
        </p:txBody>
      </p:sp>
      <p:sp>
        <p:nvSpPr>
          <p:cNvPr id="7" name="Text 5"/>
          <p:cNvSpPr/>
          <p:nvPr/>
        </p:nvSpPr>
        <p:spPr>
          <a:xfrm>
            <a:off x="685800" y="2377440"/>
            <a:ext cx="3246120" cy="1005840"/>
          </a:xfrm>
          <a:prstGeom prst="rect">
            <a:avLst/>
          </a:prstGeom>
          <a:noFill/>
          <a:ln/>
        </p:spPr>
        <p:txBody>
          <a:bodyPr wrap="square" rtlCol="0" anchor="ctr"/>
          <a:lstStyle/>
          <a:p>
            <a:pPr marL="0" indent="0">
              <a:lnSpc>
                <a:spcPts val="1350"/>
              </a:lnSpc>
              <a:buNone/>
            </a:pPr>
            <a:r>
              <a:rPr lang="en-US" sz="1050" dirty="0">
                <a:solidFill>
                  <a:srgbClr val="5B6058"/>
                </a:solidFill>
                <a:latin typeface="Calibri" pitchFamily="34" charset="0"/>
                <a:ea typeface="Calibri" pitchFamily="34" charset="-122"/>
                <a:cs typeface="Calibri" pitchFamily="34" charset="-120"/>
              </a:rPr>
              <a:t>A rise in palm oil, crude derivatives or tea prices would compress the 23.5% operating margin assumed throughout the projection.</a:t>
            </a:r>
            <a:endParaRPr lang="en-US" sz="1050" dirty="0"/>
          </a:p>
        </p:txBody>
      </p:sp>
      <p:sp>
        <p:nvSpPr>
          <p:cNvPr id="8" name="Shape 6"/>
          <p:cNvSpPr/>
          <p:nvPr/>
        </p:nvSpPr>
        <p:spPr>
          <a:xfrm>
            <a:off x="4288536" y="1508760"/>
            <a:ext cx="3611880" cy="1965960"/>
          </a:xfrm>
          <a:prstGeom prst="rect">
            <a:avLst/>
          </a:prstGeom>
          <a:solidFill>
            <a:srgbClr val="EEF1EC"/>
          </a:solidFill>
          <a:ln w="9525">
            <a:solidFill>
              <a:srgbClr val="CDD3CB"/>
            </a:solidFill>
            <a:prstDash val="solid"/>
          </a:ln>
        </p:spPr>
      </p:sp>
      <p:sp>
        <p:nvSpPr>
          <p:cNvPr id="9" name="Text 7"/>
          <p:cNvSpPr/>
          <p:nvPr/>
        </p:nvSpPr>
        <p:spPr>
          <a:xfrm>
            <a:off x="4471416" y="1645920"/>
            <a:ext cx="914400" cy="320040"/>
          </a:xfrm>
          <a:prstGeom prst="rect">
            <a:avLst/>
          </a:prstGeom>
          <a:noFill/>
          <a:ln/>
        </p:spPr>
        <p:txBody>
          <a:bodyPr wrap="square" rtlCol="0" anchor="ctr"/>
          <a:lstStyle/>
          <a:p>
            <a:pPr marL="0" indent="0">
              <a:buNone/>
            </a:pPr>
            <a:r>
              <a:rPr lang="en-US" sz="1500" b="1" dirty="0">
                <a:solidFill>
                  <a:srgbClr val="AA5A34"/>
                </a:solidFill>
                <a:latin typeface="Georgia" pitchFamily="34" charset="0"/>
                <a:ea typeface="Georgia" pitchFamily="34" charset="-122"/>
                <a:cs typeface="Georgia" pitchFamily="34" charset="-120"/>
              </a:rPr>
              <a:t>02</a:t>
            </a:r>
            <a:endParaRPr lang="en-US" sz="1500" dirty="0"/>
          </a:p>
        </p:txBody>
      </p:sp>
      <p:sp>
        <p:nvSpPr>
          <p:cNvPr id="10" name="Text 8"/>
          <p:cNvSpPr/>
          <p:nvPr/>
        </p:nvSpPr>
        <p:spPr>
          <a:xfrm>
            <a:off x="4471416" y="1965960"/>
            <a:ext cx="3246120" cy="411480"/>
          </a:xfrm>
          <a:prstGeom prst="rect">
            <a:avLst/>
          </a:prstGeom>
          <a:noFill/>
          <a:ln/>
        </p:spPr>
        <p:txBody>
          <a:bodyPr wrap="square" rtlCol="0" anchor="ctr"/>
          <a:lstStyle/>
          <a:p>
            <a:pPr marL="0" indent="0">
              <a:buNone/>
            </a:pPr>
            <a:r>
              <a:rPr lang="en-US" sz="1250" b="1" dirty="0">
                <a:solidFill>
                  <a:srgbClr val="1E2A22"/>
                </a:solidFill>
                <a:latin typeface="Calibri" pitchFamily="34" charset="0"/>
                <a:ea typeface="Calibri" pitchFamily="34" charset="-122"/>
                <a:cs typeface="Calibri" pitchFamily="34" charset="-120"/>
              </a:rPr>
              <a:t>Competitive intensity</a:t>
            </a:r>
            <a:endParaRPr lang="en-US" sz="1250" dirty="0"/>
          </a:p>
        </p:txBody>
      </p:sp>
      <p:sp>
        <p:nvSpPr>
          <p:cNvPr id="11" name="Text 9"/>
          <p:cNvSpPr/>
          <p:nvPr/>
        </p:nvSpPr>
        <p:spPr>
          <a:xfrm>
            <a:off x="4471416" y="2377440"/>
            <a:ext cx="3246120" cy="1005840"/>
          </a:xfrm>
          <a:prstGeom prst="rect">
            <a:avLst/>
          </a:prstGeom>
          <a:noFill/>
          <a:ln/>
        </p:spPr>
        <p:txBody>
          <a:bodyPr wrap="square" rtlCol="0" anchor="ctr"/>
          <a:lstStyle/>
          <a:p>
            <a:pPr marL="0" indent="0">
              <a:lnSpc>
                <a:spcPts val="1350"/>
              </a:lnSpc>
              <a:buNone/>
            </a:pPr>
            <a:r>
              <a:rPr lang="en-US" sz="1050" dirty="0">
                <a:solidFill>
                  <a:srgbClr val="5B6058"/>
                </a:solidFill>
                <a:latin typeface="Calibri" pitchFamily="34" charset="0"/>
                <a:ea typeface="Calibri" pitchFamily="34" charset="-122"/>
                <a:cs typeface="Calibri" pitchFamily="34" charset="-120"/>
              </a:rPr>
              <a:t>Regional and direct-to-consumer brands continue gaining share, which may limit both volume growth and pricing power.</a:t>
            </a:r>
            <a:endParaRPr lang="en-US" sz="1050" dirty="0"/>
          </a:p>
        </p:txBody>
      </p:sp>
      <p:sp>
        <p:nvSpPr>
          <p:cNvPr id="12" name="Shape 10"/>
          <p:cNvSpPr/>
          <p:nvPr/>
        </p:nvSpPr>
        <p:spPr>
          <a:xfrm>
            <a:off x="8074152" y="1508760"/>
            <a:ext cx="3611880" cy="1965960"/>
          </a:xfrm>
          <a:prstGeom prst="rect">
            <a:avLst/>
          </a:prstGeom>
          <a:solidFill>
            <a:srgbClr val="EEF1EC"/>
          </a:solidFill>
          <a:ln w="9525">
            <a:solidFill>
              <a:srgbClr val="CDD3CB"/>
            </a:solidFill>
            <a:prstDash val="solid"/>
          </a:ln>
        </p:spPr>
      </p:sp>
      <p:sp>
        <p:nvSpPr>
          <p:cNvPr id="13" name="Text 11"/>
          <p:cNvSpPr/>
          <p:nvPr/>
        </p:nvSpPr>
        <p:spPr>
          <a:xfrm>
            <a:off x="8257032" y="1645920"/>
            <a:ext cx="914400" cy="320040"/>
          </a:xfrm>
          <a:prstGeom prst="rect">
            <a:avLst/>
          </a:prstGeom>
          <a:noFill/>
          <a:ln/>
        </p:spPr>
        <p:txBody>
          <a:bodyPr wrap="square" rtlCol="0" anchor="ctr"/>
          <a:lstStyle/>
          <a:p>
            <a:pPr marL="0" indent="0">
              <a:buNone/>
            </a:pPr>
            <a:r>
              <a:rPr lang="en-US" sz="1500" b="1" dirty="0">
                <a:solidFill>
                  <a:srgbClr val="AA5A34"/>
                </a:solidFill>
                <a:latin typeface="Georgia" pitchFamily="34" charset="0"/>
                <a:ea typeface="Georgia" pitchFamily="34" charset="-122"/>
                <a:cs typeface="Georgia" pitchFamily="34" charset="-120"/>
              </a:rPr>
              <a:t>03</a:t>
            </a:r>
            <a:endParaRPr lang="en-US" sz="1500" dirty="0"/>
          </a:p>
        </p:txBody>
      </p:sp>
      <p:sp>
        <p:nvSpPr>
          <p:cNvPr id="14" name="Text 12"/>
          <p:cNvSpPr/>
          <p:nvPr/>
        </p:nvSpPr>
        <p:spPr>
          <a:xfrm>
            <a:off x="8257032" y="1965960"/>
            <a:ext cx="3246120" cy="411480"/>
          </a:xfrm>
          <a:prstGeom prst="rect">
            <a:avLst/>
          </a:prstGeom>
          <a:noFill/>
          <a:ln/>
        </p:spPr>
        <p:txBody>
          <a:bodyPr wrap="square" rtlCol="0" anchor="ctr"/>
          <a:lstStyle/>
          <a:p>
            <a:pPr marL="0" indent="0">
              <a:buNone/>
            </a:pPr>
            <a:r>
              <a:rPr lang="en-US" sz="1250" b="1" dirty="0">
                <a:solidFill>
                  <a:srgbClr val="1E2A22"/>
                </a:solidFill>
                <a:latin typeface="Calibri" pitchFamily="34" charset="0"/>
                <a:ea typeface="Calibri" pitchFamily="34" charset="-122"/>
                <a:cs typeface="Calibri" pitchFamily="34" charset="-120"/>
              </a:rPr>
              <a:t>Rural demand volatility</a:t>
            </a:r>
            <a:endParaRPr lang="en-US" sz="1250" dirty="0"/>
          </a:p>
        </p:txBody>
      </p:sp>
      <p:sp>
        <p:nvSpPr>
          <p:cNvPr id="15" name="Text 13"/>
          <p:cNvSpPr/>
          <p:nvPr/>
        </p:nvSpPr>
        <p:spPr>
          <a:xfrm>
            <a:off x="8257032" y="2377440"/>
            <a:ext cx="3246120" cy="1005840"/>
          </a:xfrm>
          <a:prstGeom prst="rect">
            <a:avLst/>
          </a:prstGeom>
          <a:noFill/>
          <a:ln/>
        </p:spPr>
        <p:txBody>
          <a:bodyPr wrap="square" rtlCol="0" anchor="ctr"/>
          <a:lstStyle/>
          <a:p>
            <a:pPr marL="0" indent="0">
              <a:lnSpc>
                <a:spcPts val="1350"/>
              </a:lnSpc>
              <a:buNone/>
            </a:pPr>
            <a:r>
              <a:rPr lang="en-US" sz="1050" dirty="0">
                <a:solidFill>
                  <a:srgbClr val="5B6058"/>
                </a:solidFill>
                <a:latin typeface="Calibri" pitchFamily="34" charset="0"/>
                <a:ea typeface="Calibri" pitchFamily="34" charset="-122"/>
                <a:cs typeface="Calibri" pitchFamily="34" charset="-120"/>
              </a:rPr>
              <a:t>A weak monsoon or slower rural income growth would directly affect volumes, given rural markets' large revenue share.</a:t>
            </a:r>
            <a:endParaRPr lang="en-US" sz="1050" dirty="0"/>
          </a:p>
        </p:txBody>
      </p:sp>
      <p:sp>
        <p:nvSpPr>
          <p:cNvPr id="16" name="Shape 14"/>
          <p:cNvSpPr/>
          <p:nvPr/>
        </p:nvSpPr>
        <p:spPr>
          <a:xfrm>
            <a:off x="502920" y="3657600"/>
            <a:ext cx="3611880" cy="1965960"/>
          </a:xfrm>
          <a:prstGeom prst="rect">
            <a:avLst/>
          </a:prstGeom>
          <a:solidFill>
            <a:srgbClr val="FFFFFF"/>
          </a:solidFill>
          <a:ln w="9525">
            <a:solidFill>
              <a:srgbClr val="CDD3CB"/>
            </a:solidFill>
            <a:prstDash val="solid"/>
          </a:ln>
        </p:spPr>
      </p:sp>
      <p:sp>
        <p:nvSpPr>
          <p:cNvPr id="17" name="Text 15"/>
          <p:cNvSpPr/>
          <p:nvPr/>
        </p:nvSpPr>
        <p:spPr>
          <a:xfrm>
            <a:off x="685800" y="3794760"/>
            <a:ext cx="914400" cy="320040"/>
          </a:xfrm>
          <a:prstGeom prst="rect">
            <a:avLst/>
          </a:prstGeom>
          <a:noFill/>
          <a:ln/>
        </p:spPr>
        <p:txBody>
          <a:bodyPr wrap="square" rtlCol="0" anchor="ctr"/>
          <a:lstStyle/>
          <a:p>
            <a:pPr marL="0" indent="0">
              <a:buNone/>
            </a:pPr>
            <a:r>
              <a:rPr lang="en-US" sz="1500" b="1" dirty="0">
                <a:solidFill>
                  <a:srgbClr val="AA5A34"/>
                </a:solidFill>
                <a:latin typeface="Georgia" pitchFamily="34" charset="0"/>
                <a:ea typeface="Georgia" pitchFamily="34" charset="-122"/>
                <a:cs typeface="Georgia" pitchFamily="34" charset="-120"/>
              </a:rPr>
              <a:t>04</a:t>
            </a:r>
            <a:endParaRPr lang="en-US" sz="1500" dirty="0"/>
          </a:p>
        </p:txBody>
      </p:sp>
      <p:sp>
        <p:nvSpPr>
          <p:cNvPr id="18" name="Text 16"/>
          <p:cNvSpPr/>
          <p:nvPr/>
        </p:nvSpPr>
        <p:spPr>
          <a:xfrm>
            <a:off x="685800" y="4114800"/>
            <a:ext cx="3246120" cy="411480"/>
          </a:xfrm>
          <a:prstGeom prst="rect">
            <a:avLst/>
          </a:prstGeom>
          <a:noFill/>
          <a:ln/>
        </p:spPr>
        <p:txBody>
          <a:bodyPr wrap="square" rtlCol="0" anchor="ctr"/>
          <a:lstStyle/>
          <a:p>
            <a:pPr marL="0" indent="0">
              <a:buNone/>
            </a:pPr>
            <a:r>
              <a:rPr lang="en-US" sz="1250" b="1" dirty="0">
                <a:solidFill>
                  <a:srgbClr val="1E2A22"/>
                </a:solidFill>
                <a:latin typeface="Calibri" pitchFamily="34" charset="0"/>
                <a:ea typeface="Calibri" pitchFamily="34" charset="-122"/>
                <a:cs typeface="Calibri" pitchFamily="34" charset="-120"/>
              </a:rPr>
              <a:t>Valuation / multiple risk</a:t>
            </a:r>
            <a:endParaRPr lang="en-US" sz="1250" dirty="0"/>
          </a:p>
        </p:txBody>
      </p:sp>
      <p:sp>
        <p:nvSpPr>
          <p:cNvPr id="19" name="Text 17"/>
          <p:cNvSpPr/>
          <p:nvPr/>
        </p:nvSpPr>
        <p:spPr>
          <a:xfrm>
            <a:off x="685800" y="4526280"/>
            <a:ext cx="3246120" cy="1005840"/>
          </a:xfrm>
          <a:prstGeom prst="rect">
            <a:avLst/>
          </a:prstGeom>
          <a:noFill/>
          <a:ln/>
        </p:spPr>
        <p:txBody>
          <a:bodyPr wrap="square" rtlCol="0" anchor="ctr"/>
          <a:lstStyle/>
          <a:p>
            <a:pPr marL="0" indent="0">
              <a:lnSpc>
                <a:spcPts val="1350"/>
              </a:lnSpc>
              <a:buNone/>
            </a:pPr>
            <a:r>
              <a:rPr lang="en-US" sz="1050" dirty="0">
                <a:solidFill>
                  <a:srgbClr val="5B6058"/>
                </a:solidFill>
                <a:latin typeface="Calibri" pitchFamily="34" charset="0"/>
                <a:ea typeface="Calibri" pitchFamily="34" charset="-122"/>
                <a:cs typeface="Calibri" pitchFamily="34" charset="-120"/>
              </a:rPr>
              <a:t>HUL trades at a P/E well above the peer median; earnings disappointment could trigger both a multiple de-rating and an earnings fall.</a:t>
            </a:r>
            <a:endParaRPr lang="en-US" sz="1050" dirty="0"/>
          </a:p>
        </p:txBody>
      </p:sp>
      <p:sp>
        <p:nvSpPr>
          <p:cNvPr id="20" name="Shape 18"/>
          <p:cNvSpPr/>
          <p:nvPr/>
        </p:nvSpPr>
        <p:spPr>
          <a:xfrm>
            <a:off x="4288536" y="3657600"/>
            <a:ext cx="3611880" cy="1965960"/>
          </a:xfrm>
          <a:prstGeom prst="rect">
            <a:avLst/>
          </a:prstGeom>
          <a:solidFill>
            <a:srgbClr val="FFFFFF"/>
          </a:solidFill>
          <a:ln w="9525">
            <a:solidFill>
              <a:srgbClr val="CDD3CB"/>
            </a:solidFill>
            <a:prstDash val="solid"/>
          </a:ln>
        </p:spPr>
      </p:sp>
      <p:sp>
        <p:nvSpPr>
          <p:cNvPr id="21" name="Text 19"/>
          <p:cNvSpPr/>
          <p:nvPr/>
        </p:nvSpPr>
        <p:spPr>
          <a:xfrm>
            <a:off x="4471416" y="3794760"/>
            <a:ext cx="914400" cy="320040"/>
          </a:xfrm>
          <a:prstGeom prst="rect">
            <a:avLst/>
          </a:prstGeom>
          <a:noFill/>
          <a:ln/>
        </p:spPr>
        <p:txBody>
          <a:bodyPr wrap="square" rtlCol="0" anchor="ctr"/>
          <a:lstStyle/>
          <a:p>
            <a:pPr marL="0" indent="0">
              <a:buNone/>
            </a:pPr>
            <a:r>
              <a:rPr lang="en-US" sz="1500" b="1" dirty="0">
                <a:solidFill>
                  <a:srgbClr val="AA5A34"/>
                </a:solidFill>
                <a:latin typeface="Georgia" pitchFamily="34" charset="0"/>
                <a:ea typeface="Georgia" pitchFamily="34" charset="-122"/>
                <a:cs typeface="Georgia" pitchFamily="34" charset="-120"/>
              </a:rPr>
              <a:t>05</a:t>
            </a:r>
            <a:endParaRPr lang="en-US" sz="1500" dirty="0"/>
          </a:p>
        </p:txBody>
      </p:sp>
      <p:sp>
        <p:nvSpPr>
          <p:cNvPr id="22" name="Text 20"/>
          <p:cNvSpPr/>
          <p:nvPr/>
        </p:nvSpPr>
        <p:spPr>
          <a:xfrm>
            <a:off x="4471416" y="4114800"/>
            <a:ext cx="3246120" cy="411480"/>
          </a:xfrm>
          <a:prstGeom prst="rect">
            <a:avLst/>
          </a:prstGeom>
          <a:noFill/>
          <a:ln/>
        </p:spPr>
        <p:txBody>
          <a:bodyPr wrap="square" rtlCol="0" anchor="ctr"/>
          <a:lstStyle/>
          <a:p>
            <a:pPr marL="0" indent="0">
              <a:buNone/>
            </a:pPr>
            <a:r>
              <a:rPr lang="en-US" sz="1250" b="1" dirty="0">
                <a:solidFill>
                  <a:srgbClr val="1E2A22"/>
                </a:solidFill>
                <a:latin typeface="Calibri" pitchFamily="34" charset="0"/>
                <a:ea typeface="Calibri" pitchFamily="34" charset="-122"/>
                <a:cs typeface="Calibri" pitchFamily="34" charset="-120"/>
              </a:rPr>
              <a:t>Assumption sensitivity</a:t>
            </a:r>
            <a:endParaRPr lang="en-US" sz="1250" dirty="0"/>
          </a:p>
        </p:txBody>
      </p:sp>
      <p:sp>
        <p:nvSpPr>
          <p:cNvPr id="23" name="Text 21"/>
          <p:cNvSpPr/>
          <p:nvPr/>
        </p:nvSpPr>
        <p:spPr>
          <a:xfrm>
            <a:off x="4471416" y="4526280"/>
            <a:ext cx="3246120" cy="1005840"/>
          </a:xfrm>
          <a:prstGeom prst="rect">
            <a:avLst/>
          </a:prstGeom>
          <a:noFill/>
          <a:ln/>
        </p:spPr>
        <p:txBody>
          <a:bodyPr wrap="square" rtlCol="0" anchor="ctr"/>
          <a:lstStyle/>
          <a:p>
            <a:pPr marL="0" indent="0">
              <a:lnSpc>
                <a:spcPts val="1350"/>
              </a:lnSpc>
              <a:buNone/>
            </a:pPr>
            <a:r>
              <a:rPr lang="en-US" sz="1050" dirty="0">
                <a:solidFill>
                  <a:srgbClr val="5B6058"/>
                </a:solidFill>
                <a:latin typeface="Calibri" pitchFamily="34" charset="0"/>
                <a:ea typeface="Calibri" pitchFamily="34" charset="-122"/>
                <a:cs typeface="Calibri" pitchFamily="34" charset="-120"/>
              </a:rPr>
              <a:t>The DCF value ranges from roughly Rs. 580 to Rs. 4,940 per share across the tested WACC and terminal-growth combinations.</a:t>
            </a:r>
            <a:endParaRPr lang="en-US" sz="1050" dirty="0"/>
          </a:p>
        </p:txBody>
      </p:sp>
      <p:sp>
        <p:nvSpPr>
          <p:cNvPr id="24" name="Shape 22"/>
          <p:cNvSpPr/>
          <p:nvPr/>
        </p:nvSpPr>
        <p:spPr>
          <a:xfrm>
            <a:off x="8074152" y="3657600"/>
            <a:ext cx="3611880" cy="1965960"/>
          </a:xfrm>
          <a:prstGeom prst="rect">
            <a:avLst/>
          </a:prstGeom>
          <a:solidFill>
            <a:srgbClr val="FFFFFF"/>
          </a:solidFill>
          <a:ln w="9525">
            <a:solidFill>
              <a:srgbClr val="CDD3CB"/>
            </a:solidFill>
            <a:prstDash val="solid"/>
          </a:ln>
        </p:spPr>
      </p:sp>
      <p:sp>
        <p:nvSpPr>
          <p:cNvPr id="25" name="Text 23"/>
          <p:cNvSpPr/>
          <p:nvPr/>
        </p:nvSpPr>
        <p:spPr>
          <a:xfrm>
            <a:off x="8257032" y="3794760"/>
            <a:ext cx="914400" cy="320040"/>
          </a:xfrm>
          <a:prstGeom prst="rect">
            <a:avLst/>
          </a:prstGeom>
          <a:noFill/>
          <a:ln/>
        </p:spPr>
        <p:txBody>
          <a:bodyPr wrap="square" rtlCol="0" anchor="ctr"/>
          <a:lstStyle/>
          <a:p>
            <a:pPr marL="0" indent="0">
              <a:buNone/>
            </a:pPr>
            <a:r>
              <a:rPr lang="en-US" sz="1500" b="1" dirty="0">
                <a:solidFill>
                  <a:srgbClr val="AA5A34"/>
                </a:solidFill>
                <a:latin typeface="Georgia" pitchFamily="34" charset="0"/>
                <a:ea typeface="Georgia" pitchFamily="34" charset="-122"/>
                <a:cs typeface="Georgia" pitchFamily="34" charset="-120"/>
              </a:rPr>
              <a:t>06</a:t>
            </a:r>
            <a:endParaRPr lang="en-US" sz="1500" dirty="0"/>
          </a:p>
        </p:txBody>
      </p:sp>
      <p:sp>
        <p:nvSpPr>
          <p:cNvPr id="26" name="Text 24"/>
          <p:cNvSpPr/>
          <p:nvPr/>
        </p:nvSpPr>
        <p:spPr>
          <a:xfrm>
            <a:off x="8257032" y="4114800"/>
            <a:ext cx="3246120" cy="411480"/>
          </a:xfrm>
          <a:prstGeom prst="rect">
            <a:avLst/>
          </a:prstGeom>
          <a:noFill/>
          <a:ln/>
        </p:spPr>
        <p:txBody>
          <a:bodyPr wrap="square" rtlCol="0" anchor="ctr"/>
          <a:lstStyle/>
          <a:p>
            <a:pPr marL="0" indent="0">
              <a:buNone/>
            </a:pPr>
            <a:r>
              <a:rPr lang="en-US" sz="1250" b="1" dirty="0">
                <a:solidFill>
                  <a:srgbClr val="1E2A22"/>
                </a:solidFill>
                <a:latin typeface="Calibri" pitchFamily="34" charset="0"/>
                <a:ea typeface="Calibri" pitchFamily="34" charset="-122"/>
                <a:cs typeface="Calibri" pitchFamily="34" charset="-120"/>
              </a:rPr>
              <a:t>Receivables collection</a:t>
            </a:r>
            <a:endParaRPr lang="en-US" sz="1250" dirty="0"/>
          </a:p>
        </p:txBody>
      </p:sp>
      <p:sp>
        <p:nvSpPr>
          <p:cNvPr id="27" name="Text 25"/>
          <p:cNvSpPr/>
          <p:nvPr/>
        </p:nvSpPr>
        <p:spPr>
          <a:xfrm>
            <a:off x="8257032" y="4526280"/>
            <a:ext cx="3246120" cy="1005840"/>
          </a:xfrm>
          <a:prstGeom prst="rect">
            <a:avLst/>
          </a:prstGeom>
          <a:noFill/>
          <a:ln/>
        </p:spPr>
        <p:txBody>
          <a:bodyPr wrap="square" rtlCol="0" anchor="ctr"/>
          <a:lstStyle/>
          <a:p>
            <a:pPr marL="0" indent="0">
              <a:lnSpc>
                <a:spcPts val="1350"/>
              </a:lnSpc>
              <a:buNone/>
            </a:pPr>
            <a:r>
              <a:rPr lang="en-US" sz="1050" dirty="0">
                <a:solidFill>
                  <a:srgbClr val="5B6058"/>
                </a:solidFill>
                <a:latin typeface="Calibri" pitchFamily="34" charset="0"/>
                <a:ea typeface="Calibri" pitchFamily="34" charset="-122"/>
                <a:cs typeface="Calibri" pitchFamily="34" charset="-120"/>
              </a:rPr>
              <a:t>Debtors turnover has fallen from ~30x to ~18x over the decade — the clearest area of working-capital deterioration.</a:t>
            </a:r>
            <a:endParaRPr lang="en-US" sz="1050" dirty="0"/>
          </a:p>
        </p:txBody>
      </p:sp>
      <p:sp>
        <p:nvSpPr>
          <p:cNvPr id="29" name="Text 27"/>
          <p:cNvSpPr/>
          <p:nvPr/>
        </p:nvSpPr>
        <p:spPr>
          <a:xfrm>
            <a:off x="11231575" y="6473952"/>
            <a:ext cx="457200" cy="274320"/>
          </a:xfrm>
          <a:prstGeom prst="rect">
            <a:avLst/>
          </a:prstGeom>
          <a:noFill/>
          <a:ln/>
        </p:spPr>
        <p:txBody>
          <a:bodyPr wrap="square" rtlCol="0" anchor="ctr"/>
          <a:lstStyle/>
          <a:p>
            <a:pPr marL="0" indent="0" algn="r">
              <a:buNone/>
            </a:pPr>
            <a:r>
              <a:rPr lang="en-US" sz="850" dirty="0">
                <a:solidFill>
                  <a:srgbClr val="5B6058"/>
                </a:solidFill>
                <a:latin typeface="Calibri" pitchFamily="34" charset="0"/>
                <a:ea typeface="Calibri" pitchFamily="34" charset="-122"/>
                <a:cs typeface="Calibri" pitchFamily="34" charset="-120"/>
              </a:rPr>
              <a:t>12</a:t>
            </a:r>
            <a:endParaRPr lang="en-US" sz="8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65760"/>
            <a:ext cx="9144000" cy="256032"/>
          </a:xfrm>
          <a:prstGeom prst="rect">
            <a:avLst/>
          </a:prstGeom>
          <a:noFill/>
          <a:ln/>
        </p:spPr>
        <p:txBody>
          <a:bodyPr wrap="square" rtlCol="0" anchor="ctr"/>
          <a:lstStyle/>
          <a:p>
            <a:pPr marL="0" indent="0">
              <a:buNone/>
            </a:pPr>
            <a:r>
              <a:rPr lang="en-US" sz="1050" b="1" kern="0" spc="200" dirty="0">
                <a:solidFill>
                  <a:srgbClr val="AA5A34"/>
                </a:solidFill>
                <a:latin typeface="Calibri" pitchFamily="34" charset="0"/>
                <a:ea typeface="Calibri" pitchFamily="34" charset="-122"/>
                <a:cs typeface="Calibri" pitchFamily="34" charset="-120"/>
              </a:rPr>
              <a:t>ACTIONABLE INSIGHTS</a:t>
            </a:r>
            <a:endParaRPr lang="en-US" sz="1050" dirty="0"/>
          </a:p>
        </p:txBody>
      </p:sp>
      <p:sp>
        <p:nvSpPr>
          <p:cNvPr id="3" name="Text 1"/>
          <p:cNvSpPr/>
          <p:nvPr/>
        </p:nvSpPr>
        <p:spPr>
          <a:xfrm>
            <a:off x="502920" y="621792"/>
            <a:ext cx="10607040" cy="566928"/>
          </a:xfrm>
          <a:prstGeom prst="rect">
            <a:avLst/>
          </a:prstGeom>
          <a:noFill/>
          <a:ln/>
        </p:spPr>
        <p:txBody>
          <a:bodyPr wrap="square" rtlCol="0" anchor="ctr"/>
          <a:lstStyle/>
          <a:p>
            <a:pPr marL="0" indent="0">
              <a:lnSpc>
                <a:spcPts val="2900"/>
              </a:lnSpc>
              <a:buNone/>
            </a:pPr>
            <a:r>
              <a:rPr lang="en-US" sz="2500" b="1" dirty="0">
                <a:solidFill>
                  <a:srgbClr val="1E2A22"/>
                </a:solidFill>
                <a:latin typeface="Georgia" pitchFamily="34" charset="0"/>
                <a:ea typeface="Georgia" pitchFamily="34" charset="-122"/>
                <a:cs typeface="Georgia" pitchFamily="34" charset="-120"/>
              </a:rPr>
              <a:t>Recommendations to Management</a:t>
            </a:r>
            <a:endParaRPr lang="en-US" sz="2500" dirty="0"/>
          </a:p>
        </p:txBody>
      </p:sp>
      <p:sp>
        <p:nvSpPr>
          <p:cNvPr id="4" name="Shape 2"/>
          <p:cNvSpPr/>
          <p:nvPr/>
        </p:nvSpPr>
        <p:spPr>
          <a:xfrm>
            <a:off x="502920" y="1463040"/>
            <a:ext cx="11183112" cy="768096"/>
          </a:xfrm>
          <a:prstGeom prst="rect">
            <a:avLst/>
          </a:prstGeom>
          <a:solidFill>
            <a:srgbClr val="EEF1EC"/>
          </a:solidFill>
          <a:ln/>
        </p:spPr>
      </p:sp>
      <p:sp>
        <p:nvSpPr>
          <p:cNvPr id="5" name="Text 3"/>
          <p:cNvSpPr/>
          <p:nvPr/>
        </p:nvSpPr>
        <p:spPr>
          <a:xfrm>
            <a:off x="731520" y="1463040"/>
            <a:ext cx="2651760" cy="768096"/>
          </a:xfrm>
          <a:prstGeom prst="rect">
            <a:avLst/>
          </a:prstGeom>
          <a:noFill/>
          <a:ln/>
        </p:spPr>
        <p:txBody>
          <a:bodyPr wrap="square" rtlCol="0" anchor="ctr"/>
          <a:lstStyle/>
          <a:p>
            <a:pPr marL="0" indent="0">
              <a:buNone/>
            </a:pPr>
            <a:r>
              <a:rPr lang="en-US" sz="1250" b="1" dirty="0">
                <a:solidFill>
                  <a:srgbClr val="AA5A34"/>
                </a:solidFill>
                <a:latin typeface="Calibri" pitchFamily="34" charset="0"/>
                <a:ea typeface="Calibri" pitchFamily="34" charset="-122"/>
                <a:cs typeface="Calibri" pitchFamily="34" charset="-120"/>
              </a:rPr>
              <a:t>Receivables management</a:t>
            </a:r>
            <a:endParaRPr lang="en-US" sz="1250" dirty="0"/>
          </a:p>
        </p:txBody>
      </p:sp>
      <p:sp>
        <p:nvSpPr>
          <p:cNvPr id="6" name="Text 4"/>
          <p:cNvSpPr/>
          <p:nvPr/>
        </p:nvSpPr>
        <p:spPr>
          <a:xfrm>
            <a:off x="3520440" y="1463040"/>
            <a:ext cx="7863840" cy="768096"/>
          </a:xfrm>
          <a:prstGeom prst="rect">
            <a:avLst/>
          </a:prstGeom>
          <a:noFill/>
          <a:ln/>
        </p:spPr>
        <p:txBody>
          <a:bodyPr wrap="square" rtlCol="0" anchor="ctr"/>
          <a:lstStyle/>
          <a:p>
            <a:pPr marL="0" indent="0">
              <a:lnSpc>
                <a:spcPts val="1400"/>
              </a:lnSpc>
              <a:buNone/>
            </a:pPr>
            <a:r>
              <a:rPr lang="en-US" sz="1080" dirty="0">
                <a:solidFill>
                  <a:srgbClr val="1E2A22"/>
                </a:solidFill>
                <a:latin typeface="Calibri" pitchFamily="34" charset="0"/>
                <a:ea typeface="Calibri" pitchFamily="34" charset="-122"/>
                <a:cs typeface="Calibri" pitchFamily="34" charset="-120"/>
              </a:rPr>
              <a:t>Tighten distributor credit terms and monitor overdue balances more closely to release working capital and shorten the cash conversion cycle.</a:t>
            </a:r>
            <a:endParaRPr lang="en-US" sz="1080" dirty="0"/>
          </a:p>
        </p:txBody>
      </p:sp>
      <p:sp>
        <p:nvSpPr>
          <p:cNvPr id="7" name="Shape 5"/>
          <p:cNvSpPr/>
          <p:nvPr/>
        </p:nvSpPr>
        <p:spPr>
          <a:xfrm>
            <a:off x="502920" y="2359152"/>
            <a:ext cx="11183112" cy="768096"/>
          </a:xfrm>
          <a:prstGeom prst="rect">
            <a:avLst/>
          </a:prstGeom>
          <a:solidFill>
            <a:srgbClr val="FFFFFF"/>
          </a:solidFill>
          <a:ln/>
        </p:spPr>
      </p:sp>
      <p:sp>
        <p:nvSpPr>
          <p:cNvPr id="8" name="Text 6"/>
          <p:cNvSpPr/>
          <p:nvPr/>
        </p:nvSpPr>
        <p:spPr>
          <a:xfrm>
            <a:off x="731520" y="2359152"/>
            <a:ext cx="2651760" cy="768096"/>
          </a:xfrm>
          <a:prstGeom prst="rect">
            <a:avLst/>
          </a:prstGeom>
          <a:noFill/>
          <a:ln/>
        </p:spPr>
        <p:txBody>
          <a:bodyPr wrap="square" rtlCol="0" anchor="ctr"/>
          <a:lstStyle/>
          <a:p>
            <a:pPr marL="0" indent="0">
              <a:buNone/>
            </a:pPr>
            <a:r>
              <a:rPr lang="en-US" sz="1250" b="1" dirty="0">
                <a:solidFill>
                  <a:srgbClr val="AA5A34"/>
                </a:solidFill>
                <a:latin typeface="Calibri" pitchFamily="34" charset="0"/>
                <a:ea typeface="Calibri" pitchFamily="34" charset="-122"/>
                <a:cs typeface="Calibri" pitchFamily="34" charset="-120"/>
              </a:rPr>
              <a:t>Revenue growth</a:t>
            </a:r>
            <a:endParaRPr lang="en-US" sz="1250" dirty="0"/>
          </a:p>
        </p:txBody>
      </p:sp>
      <p:sp>
        <p:nvSpPr>
          <p:cNvPr id="9" name="Text 7"/>
          <p:cNvSpPr/>
          <p:nvPr/>
        </p:nvSpPr>
        <p:spPr>
          <a:xfrm>
            <a:off x="3520440" y="2359152"/>
            <a:ext cx="7863840" cy="768096"/>
          </a:xfrm>
          <a:prstGeom prst="rect">
            <a:avLst/>
          </a:prstGeom>
          <a:noFill/>
          <a:ln/>
        </p:spPr>
        <p:txBody>
          <a:bodyPr wrap="square" rtlCol="0" anchor="ctr"/>
          <a:lstStyle/>
          <a:p>
            <a:pPr marL="0" indent="0">
              <a:lnSpc>
                <a:spcPts val="1400"/>
              </a:lnSpc>
              <a:buNone/>
            </a:pPr>
            <a:r>
              <a:rPr lang="en-US" sz="1080" dirty="0">
                <a:solidFill>
                  <a:srgbClr val="1E2A22"/>
                </a:solidFill>
                <a:latin typeface="Calibri" pitchFamily="34" charset="0"/>
                <a:ea typeface="Calibri" pitchFamily="34" charset="-122"/>
                <a:cs typeface="Calibri" pitchFamily="34" charset="-120"/>
              </a:rPr>
              <a:t>Continue investing in premium and health-oriented categories, rural distribution and digital channels to restore mid-to-high single-digit volume growth.</a:t>
            </a:r>
            <a:endParaRPr lang="en-US" sz="1080" dirty="0"/>
          </a:p>
        </p:txBody>
      </p:sp>
      <p:sp>
        <p:nvSpPr>
          <p:cNvPr id="10" name="Shape 8"/>
          <p:cNvSpPr/>
          <p:nvPr/>
        </p:nvSpPr>
        <p:spPr>
          <a:xfrm>
            <a:off x="502920" y="3255264"/>
            <a:ext cx="11183112" cy="768096"/>
          </a:xfrm>
          <a:prstGeom prst="rect">
            <a:avLst/>
          </a:prstGeom>
          <a:solidFill>
            <a:srgbClr val="EEF1EC"/>
          </a:solidFill>
          <a:ln/>
        </p:spPr>
      </p:sp>
      <p:sp>
        <p:nvSpPr>
          <p:cNvPr id="11" name="Text 9"/>
          <p:cNvSpPr/>
          <p:nvPr/>
        </p:nvSpPr>
        <p:spPr>
          <a:xfrm>
            <a:off x="731520" y="3255264"/>
            <a:ext cx="2651760" cy="768096"/>
          </a:xfrm>
          <a:prstGeom prst="rect">
            <a:avLst/>
          </a:prstGeom>
          <a:noFill/>
          <a:ln/>
        </p:spPr>
        <p:txBody>
          <a:bodyPr wrap="square" rtlCol="0" anchor="ctr"/>
          <a:lstStyle/>
          <a:p>
            <a:pPr marL="0" indent="0">
              <a:buNone/>
            </a:pPr>
            <a:r>
              <a:rPr lang="en-US" sz="1250" b="1" dirty="0">
                <a:solidFill>
                  <a:srgbClr val="AA5A34"/>
                </a:solidFill>
                <a:latin typeface="Calibri" pitchFamily="34" charset="0"/>
                <a:ea typeface="Calibri" pitchFamily="34" charset="-122"/>
                <a:cs typeface="Calibri" pitchFamily="34" charset="-120"/>
              </a:rPr>
              <a:t>Margin management</a:t>
            </a:r>
            <a:endParaRPr lang="en-US" sz="1250" dirty="0"/>
          </a:p>
        </p:txBody>
      </p:sp>
      <p:sp>
        <p:nvSpPr>
          <p:cNvPr id="12" name="Text 10"/>
          <p:cNvSpPr/>
          <p:nvPr/>
        </p:nvSpPr>
        <p:spPr>
          <a:xfrm>
            <a:off x="3520440" y="3255264"/>
            <a:ext cx="7863840" cy="768096"/>
          </a:xfrm>
          <a:prstGeom prst="rect">
            <a:avLst/>
          </a:prstGeom>
          <a:noFill/>
          <a:ln/>
        </p:spPr>
        <p:txBody>
          <a:bodyPr wrap="square" rtlCol="0" anchor="ctr"/>
          <a:lstStyle/>
          <a:p>
            <a:pPr marL="0" indent="0">
              <a:lnSpc>
                <a:spcPts val="1400"/>
              </a:lnSpc>
              <a:buNone/>
            </a:pPr>
            <a:r>
              <a:rPr lang="en-US" sz="1080" dirty="0">
                <a:solidFill>
                  <a:srgbClr val="1E2A22"/>
                </a:solidFill>
                <a:latin typeface="Calibri" pitchFamily="34" charset="0"/>
                <a:ea typeface="Calibri" pitchFamily="34" charset="-122"/>
                <a:cs typeface="Calibri" pitchFamily="34" charset="-120"/>
              </a:rPr>
              <a:t>Pursue further gains through mix improvement and cost efficiency rather than price increases, which could weaken volumes competitively.</a:t>
            </a:r>
            <a:endParaRPr lang="en-US" sz="1080" dirty="0"/>
          </a:p>
        </p:txBody>
      </p:sp>
      <p:sp>
        <p:nvSpPr>
          <p:cNvPr id="13" name="Shape 11"/>
          <p:cNvSpPr/>
          <p:nvPr/>
        </p:nvSpPr>
        <p:spPr>
          <a:xfrm>
            <a:off x="502920" y="4151376"/>
            <a:ext cx="11183112" cy="768096"/>
          </a:xfrm>
          <a:prstGeom prst="rect">
            <a:avLst/>
          </a:prstGeom>
          <a:solidFill>
            <a:srgbClr val="FFFFFF"/>
          </a:solidFill>
          <a:ln/>
        </p:spPr>
      </p:sp>
      <p:sp>
        <p:nvSpPr>
          <p:cNvPr id="14" name="Text 12"/>
          <p:cNvSpPr/>
          <p:nvPr/>
        </p:nvSpPr>
        <p:spPr>
          <a:xfrm>
            <a:off x="731520" y="4151376"/>
            <a:ext cx="2651760" cy="768096"/>
          </a:xfrm>
          <a:prstGeom prst="rect">
            <a:avLst/>
          </a:prstGeom>
          <a:noFill/>
          <a:ln/>
        </p:spPr>
        <p:txBody>
          <a:bodyPr wrap="square" rtlCol="0" anchor="ctr"/>
          <a:lstStyle/>
          <a:p>
            <a:pPr marL="0" indent="0">
              <a:buNone/>
            </a:pPr>
            <a:r>
              <a:rPr lang="en-US" sz="1250" b="1" dirty="0">
                <a:solidFill>
                  <a:srgbClr val="AA5A34"/>
                </a:solidFill>
                <a:latin typeface="Calibri" pitchFamily="34" charset="0"/>
                <a:ea typeface="Calibri" pitchFamily="34" charset="-122"/>
                <a:cs typeface="Calibri" pitchFamily="34" charset="-120"/>
              </a:rPr>
              <a:t>Capital allocation</a:t>
            </a:r>
            <a:endParaRPr lang="en-US" sz="1250" dirty="0"/>
          </a:p>
        </p:txBody>
      </p:sp>
      <p:sp>
        <p:nvSpPr>
          <p:cNvPr id="15" name="Text 13"/>
          <p:cNvSpPr/>
          <p:nvPr/>
        </p:nvSpPr>
        <p:spPr>
          <a:xfrm>
            <a:off x="3520440" y="4151376"/>
            <a:ext cx="7863840" cy="768096"/>
          </a:xfrm>
          <a:prstGeom prst="rect">
            <a:avLst/>
          </a:prstGeom>
          <a:noFill/>
          <a:ln/>
        </p:spPr>
        <p:txBody>
          <a:bodyPr wrap="square" rtlCol="0" anchor="ctr"/>
          <a:lstStyle/>
          <a:p>
            <a:pPr marL="0" indent="0">
              <a:lnSpc>
                <a:spcPts val="1400"/>
              </a:lnSpc>
              <a:buNone/>
            </a:pPr>
            <a:r>
              <a:rPr lang="en-US" sz="1080" dirty="0">
                <a:solidFill>
                  <a:srgbClr val="1E2A22"/>
                </a:solidFill>
                <a:latin typeface="Calibri" pitchFamily="34" charset="0"/>
                <a:ea typeface="Calibri" pitchFamily="34" charset="-122"/>
                <a:cs typeface="Calibri" pitchFamily="34" charset="-120"/>
              </a:rPr>
              <a:t>With negligible debt and a ~64% payout ratio, HUL has ample headroom to fund acquisitions in premium and wellness categories.</a:t>
            </a:r>
            <a:endParaRPr lang="en-US" sz="1080" dirty="0"/>
          </a:p>
        </p:txBody>
      </p:sp>
      <p:sp>
        <p:nvSpPr>
          <p:cNvPr id="16" name="Shape 14"/>
          <p:cNvSpPr/>
          <p:nvPr/>
        </p:nvSpPr>
        <p:spPr>
          <a:xfrm>
            <a:off x="502920" y="5047488"/>
            <a:ext cx="11183112" cy="768096"/>
          </a:xfrm>
          <a:prstGeom prst="rect">
            <a:avLst/>
          </a:prstGeom>
          <a:solidFill>
            <a:srgbClr val="EEF1EC"/>
          </a:solidFill>
          <a:ln/>
        </p:spPr>
      </p:sp>
      <p:sp>
        <p:nvSpPr>
          <p:cNvPr id="17" name="Text 15"/>
          <p:cNvSpPr/>
          <p:nvPr/>
        </p:nvSpPr>
        <p:spPr>
          <a:xfrm>
            <a:off x="731520" y="5047488"/>
            <a:ext cx="2651760" cy="768096"/>
          </a:xfrm>
          <a:prstGeom prst="rect">
            <a:avLst/>
          </a:prstGeom>
          <a:noFill/>
          <a:ln/>
        </p:spPr>
        <p:txBody>
          <a:bodyPr wrap="square" rtlCol="0" anchor="ctr"/>
          <a:lstStyle/>
          <a:p>
            <a:pPr marL="0" indent="0">
              <a:buNone/>
            </a:pPr>
            <a:r>
              <a:rPr lang="en-US" sz="1250" b="1" dirty="0">
                <a:solidFill>
                  <a:srgbClr val="AA5A34"/>
                </a:solidFill>
                <a:latin typeface="Calibri" pitchFamily="34" charset="0"/>
                <a:ea typeface="Calibri" pitchFamily="34" charset="-122"/>
                <a:cs typeface="Calibri" pitchFamily="34" charset="-120"/>
              </a:rPr>
              <a:t>Disclosure</a:t>
            </a:r>
            <a:endParaRPr lang="en-US" sz="1250" dirty="0"/>
          </a:p>
        </p:txBody>
      </p:sp>
      <p:sp>
        <p:nvSpPr>
          <p:cNvPr id="18" name="Text 16"/>
          <p:cNvSpPr/>
          <p:nvPr/>
        </p:nvSpPr>
        <p:spPr>
          <a:xfrm>
            <a:off x="3520440" y="5047488"/>
            <a:ext cx="7863840" cy="768096"/>
          </a:xfrm>
          <a:prstGeom prst="rect">
            <a:avLst/>
          </a:prstGeom>
          <a:noFill/>
          <a:ln/>
        </p:spPr>
        <p:txBody>
          <a:bodyPr wrap="square" rtlCol="0" anchor="ctr"/>
          <a:lstStyle/>
          <a:p>
            <a:pPr marL="0" indent="0">
              <a:lnSpc>
                <a:spcPts val="1400"/>
              </a:lnSpc>
              <a:buNone/>
            </a:pPr>
            <a:r>
              <a:rPr lang="en-US" sz="1080" dirty="0">
                <a:solidFill>
                  <a:srgbClr val="1E2A22"/>
                </a:solidFill>
                <a:latin typeface="Calibri" pitchFamily="34" charset="0"/>
                <a:ea typeface="Calibri" pitchFamily="34" charset="-122"/>
                <a:cs typeface="Calibri" pitchFamily="34" charset="-120"/>
              </a:rPr>
              <a:t>Present a clear reconciliation of underlying versus reported earnings, given the FY2026 divestment gain materially distorts reported profit and tax rate.</a:t>
            </a:r>
            <a:endParaRPr lang="en-US" sz="1080" dirty="0"/>
          </a:p>
        </p:txBody>
      </p:sp>
      <p:sp>
        <p:nvSpPr>
          <p:cNvPr id="20" name="Text 18"/>
          <p:cNvSpPr/>
          <p:nvPr/>
        </p:nvSpPr>
        <p:spPr>
          <a:xfrm>
            <a:off x="11231575" y="6473952"/>
            <a:ext cx="457200" cy="274320"/>
          </a:xfrm>
          <a:prstGeom prst="rect">
            <a:avLst/>
          </a:prstGeom>
          <a:noFill/>
          <a:ln/>
        </p:spPr>
        <p:txBody>
          <a:bodyPr wrap="square" rtlCol="0" anchor="ctr"/>
          <a:lstStyle/>
          <a:p>
            <a:pPr marL="0" indent="0" algn="r">
              <a:buNone/>
            </a:pPr>
            <a:r>
              <a:rPr lang="en-US" sz="850" dirty="0">
                <a:solidFill>
                  <a:srgbClr val="5B6058"/>
                </a:solidFill>
                <a:latin typeface="Calibri" pitchFamily="34" charset="0"/>
                <a:ea typeface="Calibri" pitchFamily="34" charset="-122"/>
                <a:cs typeface="Calibri" pitchFamily="34" charset="-120"/>
              </a:rPr>
              <a:t>13</a:t>
            </a:r>
            <a:endParaRPr lang="en-US" sz="8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E2A22"/>
        </a:solidFill>
        <a:effectLst/>
      </p:bgPr>
    </p:bg>
    <p:spTree>
      <p:nvGrpSpPr>
        <p:cNvPr id="1" name=""/>
        <p:cNvGrpSpPr/>
        <p:nvPr/>
      </p:nvGrpSpPr>
      <p:grpSpPr>
        <a:xfrm>
          <a:off x="0" y="0"/>
          <a:ext cx="0" cy="0"/>
          <a:chOff x="0" y="0"/>
          <a:chExt cx="0" cy="0"/>
        </a:xfrm>
      </p:grpSpPr>
      <p:sp>
        <p:nvSpPr>
          <p:cNvPr id="2" name="Text 0"/>
          <p:cNvSpPr/>
          <p:nvPr/>
        </p:nvSpPr>
        <p:spPr>
          <a:xfrm>
            <a:off x="502920" y="365760"/>
            <a:ext cx="9144000" cy="256032"/>
          </a:xfrm>
          <a:prstGeom prst="rect">
            <a:avLst/>
          </a:prstGeom>
          <a:noFill/>
          <a:ln/>
        </p:spPr>
        <p:txBody>
          <a:bodyPr wrap="square" rtlCol="0" anchor="ctr"/>
          <a:lstStyle/>
          <a:p>
            <a:pPr marL="0" indent="0">
              <a:buNone/>
            </a:pPr>
            <a:r>
              <a:rPr lang="en-US" sz="1050" b="1" kern="0" spc="200" dirty="0">
                <a:solidFill>
                  <a:srgbClr val="D7B79A"/>
                </a:solidFill>
                <a:latin typeface="Calibri" pitchFamily="34" charset="0"/>
                <a:ea typeface="Calibri" pitchFamily="34" charset="-122"/>
                <a:cs typeface="Calibri" pitchFamily="34" charset="-120"/>
              </a:rPr>
              <a:t>SUMMARY</a:t>
            </a:r>
            <a:endParaRPr lang="en-US" sz="1050" dirty="0"/>
          </a:p>
        </p:txBody>
      </p:sp>
      <p:sp>
        <p:nvSpPr>
          <p:cNvPr id="3" name="Text 1"/>
          <p:cNvSpPr/>
          <p:nvPr/>
        </p:nvSpPr>
        <p:spPr>
          <a:xfrm>
            <a:off x="502920" y="621792"/>
            <a:ext cx="10607040" cy="566928"/>
          </a:xfrm>
          <a:prstGeom prst="rect">
            <a:avLst/>
          </a:prstGeom>
          <a:noFill/>
          <a:ln/>
        </p:spPr>
        <p:txBody>
          <a:bodyPr wrap="square" rtlCol="0" anchor="ctr"/>
          <a:lstStyle/>
          <a:p>
            <a:pPr marL="0" indent="0">
              <a:buNone/>
            </a:pPr>
            <a:r>
              <a:rPr lang="en-US" sz="2500" b="1" dirty="0">
                <a:solidFill>
                  <a:srgbClr val="FFFFFF"/>
                </a:solidFill>
                <a:latin typeface="Georgia" pitchFamily="34" charset="0"/>
                <a:ea typeface="Georgia" pitchFamily="34" charset="-122"/>
                <a:cs typeface="Georgia" pitchFamily="34" charset="-120"/>
              </a:rPr>
              <a:t>Key Takeaways</a:t>
            </a:r>
            <a:endParaRPr lang="en-US" sz="2500" dirty="0"/>
          </a:p>
        </p:txBody>
      </p:sp>
      <p:sp>
        <p:nvSpPr>
          <p:cNvPr id="4" name="Text 2"/>
          <p:cNvSpPr/>
          <p:nvPr/>
        </p:nvSpPr>
        <p:spPr>
          <a:xfrm>
            <a:off x="502920" y="1508760"/>
            <a:ext cx="502920" cy="502920"/>
          </a:xfrm>
          <a:prstGeom prst="rect">
            <a:avLst/>
          </a:prstGeom>
          <a:noFill/>
          <a:ln/>
        </p:spPr>
        <p:txBody>
          <a:bodyPr wrap="square" rtlCol="0" anchor="ctr"/>
          <a:lstStyle/>
          <a:p>
            <a:pPr marL="0" indent="0">
              <a:buNone/>
            </a:pPr>
            <a:r>
              <a:rPr lang="en-US" sz="2000" b="1" dirty="0">
                <a:solidFill>
                  <a:srgbClr val="D7B79A"/>
                </a:solidFill>
                <a:latin typeface="Georgia" pitchFamily="34" charset="0"/>
                <a:ea typeface="Georgia" pitchFamily="34" charset="-122"/>
                <a:cs typeface="Georgia" pitchFamily="34" charset="-120"/>
              </a:rPr>
              <a:t>1</a:t>
            </a:r>
            <a:endParaRPr lang="en-US" sz="2000" dirty="0"/>
          </a:p>
        </p:txBody>
      </p:sp>
      <p:sp>
        <p:nvSpPr>
          <p:cNvPr id="5" name="Text 3"/>
          <p:cNvSpPr/>
          <p:nvPr/>
        </p:nvSpPr>
        <p:spPr>
          <a:xfrm>
            <a:off x="1097280" y="1508760"/>
            <a:ext cx="3017520" cy="50292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Financially sound</a:t>
            </a:r>
            <a:endParaRPr lang="en-US" sz="1300" dirty="0"/>
          </a:p>
        </p:txBody>
      </p:sp>
      <p:sp>
        <p:nvSpPr>
          <p:cNvPr id="6" name="Text 4"/>
          <p:cNvSpPr/>
          <p:nvPr/>
        </p:nvSpPr>
        <p:spPr>
          <a:xfrm>
            <a:off x="4251960" y="1508760"/>
            <a:ext cx="7406640" cy="502920"/>
          </a:xfrm>
          <a:prstGeom prst="rect">
            <a:avLst/>
          </a:prstGeom>
          <a:noFill/>
          <a:ln/>
        </p:spPr>
        <p:txBody>
          <a:bodyPr wrap="square" rtlCol="0" anchor="ctr"/>
          <a:lstStyle/>
          <a:p>
            <a:pPr marL="0" indent="0">
              <a:lnSpc>
                <a:spcPts val="1400"/>
              </a:lnSpc>
              <a:buNone/>
            </a:pPr>
            <a:r>
              <a:rPr lang="en-US" sz="1200" dirty="0">
                <a:solidFill>
                  <a:srgbClr val="C9D2C7"/>
                </a:solidFill>
                <a:latin typeface="Calibri" pitchFamily="34" charset="0"/>
                <a:ea typeface="Calibri" pitchFamily="34" charset="-122"/>
                <a:cs typeface="Calibri" pitchFamily="34" charset="-120"/>
              </a:rPr>
              <a:t>Returns comfortably clear the ~10.5% cost of capital; the balance sheet carries almost no debt (D/E of 0.06x).</a:t>
            </a:r>
            <a:endParaRPr lang="en-US" sz="1200" dirty="0"/>
          </a:p>
        </p:txBody>
      </p:sp>
      <p:sp>
        <p:nvSpPr>
          <p:cNvPr id="7" name="Shape 5"/>
          <p:cNvSpPr/>
          <p:nvPr/>
        </p:nvSpPr>
        <p:spPr>
          <a:xfrm>
            <a:off x="502920" y="2075688"/>
            <a:ext cx="11183112" cy="0"/>
          </a:xfrm>
          <a:prstGeom prst="line">
            <a:avLst/>
          </a:prstGeom>
          <a:noFill/>
          <a:ln w="9525">
            <a:solidFill>
              <a:srgbClr val="3A4738"/>
            </a:solidFill>
            <a:prstDash val="solid"/>
          </a:ln>
        </p:spPr>
      </p:sp>
      <p:sp>
        <p:nvSpPr>
          <p:cNvPr id="8" name="Text 6"/>
          <p:cNvSpPr/>
          <p:nvPr/>
        </p:nvSpPr>
        <p:spPr>
          <a:xfrm>
            <a:off x="502920" y="2286000"/>
            <a:ext cx="502920" cy="502920"/>
          </a:xfrm>
          <a:prstGeom prst="rect">
            <a:avLst/>
          </a:prstGeom>
          <a:noFill/>
          <a:ln/>
        </p:spPr>
        <p:txBody>
          <a:bodyPr wrap="square" rtlCol="0" anchor="ctr"/>
          <a:lstStyle/>
          <a:p>
            <a:pPr marL="0" indent="0">
              <a:buNone/>
            </a:pPr>
            <a:r>
              <a:rPr lang="en-US" sz="2000" b="1" dirty="0">
                <a:solidFill>
                  <a:srgbClr val="D7B79A"/>
                </a:solidFill>
                <a:latin typeface="Georgia" pitchFamily="34" charset="0"/>
                <a:ea typeface="Georgia" pitchFamily="34" charset="-122"/>
                <a:cs typeface="Georgia" pitchFamily="34" charset="-120"/>
              </a:rPr>
              <a:t>2</a:t>
            </a:r>
            <a:endParaRPr lang="en-US" sz="2000" dirty="0"/>
          </a:p>
        </p:txBody>
      </p:sp>
      <p:sp>
        <p:nvSpPr>
          <p:cNvPr id="9" name="Text 7"/>
          <p:cNvSpPr/>
          <p:nvPr/>
        </p:nvSpPr>
        <p:spPr>
          <a:xfrm>
            <a:off x="1097280" y="2286000"/>
            <a:ext cx="3017520" cy="50292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Clean risk checks</a:t>
            </a:r>
            <a:endParaRPr lang="en-US" sz="1300" dirty="0"/>
          </a:p>
        </p:txBody>
      </p:sp>
      <p:sp>
        <p:nvSpPr>
          <p:cNvPr id="10" name="Text 8"/>
          <p:cNvSpPr/>
          <p:nvPr/>
        </p:nvSpPr>
        <p:spPr>
          <a:xfrm>
            <a:off x="4251960" y="2286000"/>
            <a:ext cx="7406640" cy="502920"/>
          </a:xfrm>
          <a:prstGeom prst="rect">
            <a:avLst/>
          </a:prstGeom>
          <a:noFill/>
          <a:ln/>
        </p:spPr>
        <p:txBody>
          <a:bodyPr wrap="square" rtlCol="0" anchor="ctr"/>
          <a:lstStyle/>
          <a:p>
            <a:pPr marL="0" indent="0">
              <a:lnSpc>
                <a:spcPts val="1400"/>
              </a:lnSpc>
              <a:buNone/>
            </a:pPr>
            <a:r>
              <a:rPr lang="en-US" sz="1200" dirty="0">
                <a:solidFill>
                  <a:srgbClr val="C9D2C7"/>
                </a:solidFill>
                <a:latin typeface="Calibri" pitchFamily="34" charset="0"/>
                <a:ea typeface="Calibri" pitchFamily="34" charset="-122"/>
                <a:cs typeface="Calibri" pitchFamily="34" charset="-120"/>
              </a:rPr>
              <a:t>Altman Z-Score (6.1) and Beneish M-Score (–2.34) show no signs of distress or earnings manipulation in FY2026.</a:t>
            </a:r>
            <a:endParaRPr lang="en-US" sz="1200" dirty="0"/>
          </a:p>
        </p:txBody>
      </p:sp>
      <p:sp>
        <p:nvSpPr>
          <p:cNvPr id="11" name="Shape 9"/>
          <p:cNvSpPr/>
          <p:nvPr/>
        </p:nvSpPr>
        <p:spPr>
          <a:xfrm>
            <a:off x="502920" y="2852928"/>
            <a:ext cx="11183112" cy="0"/>
          </a:xfrm>
          <a:prstGeom prst="line">
            <a:avLst/>
          </a:prstGeom>
          <a:noFill/>
          <a:ln w="9525">
            <a:solidFill>
              <a:srgbClr val="3A4738"/>
            </a:solidFill>
            <a:prstDash val="solid"/>
          </a:ln>
        </p:spPr>
      </p:sp>
      <p:sp>
        <p:nvSpPr>
          <p:cNvPr id="12" name="Text 10"/>
          <p:cNvSpPr/>
          <p:nvPr/>
        </p:nvSpPr>
        <p:spPr>
          <a:xfrm>
            <a:off x="502920" y="3063240"/>
            <a:ext cx="502920" cy="502920"/>
          </a:xfrm>
          <a:prstGeom prst="rect">
            <a:avLst/>
          </a:prstGeom>
          <a:noFill/>
          <a:ln/>
        </p:spPr>
        <p:txBody>
          <a:bodyPr wrap="square" rtlCol="0" anchor="ctr"/>
          <a:lstStyle/>
          <a:p>
            <a:pPr marL="0" indent="0">
              <a:buNone/>
            </a:pPr>
            <a:r>
              <a:rPr lang="en-US" sz="2000" b="1" dirty="0">
                <a:solidFill>
                  <a:srgbClr val="D7B79A"/>
                </a:solidFill>
                <a:latin typeface="Georgia" pitchFamily="34" charset="0"/>
                <a:ea typeface="Georgia" pitchFamily="34" charset="-122"/>
                <a:cs typeface="Georgia" pitchFamily="34" charset="-120"/>
              </a:rPr>
              <a:t>3</a:t>
            </a:r>
            <a:endParaRPr lang="en-US" sz="2000" dirty="0"/>
          </a:p>
        </p:txBody>
      </p:sp>
      <p:sp>
        <p:nvSpPr>
          <p:cNvPr id="13" name="Text 11"/>
          <p:cNvSpPr/>
          <p:nvPr/>
        </p:nvSpPr>
        <p:spPr>
          <a:xfrm>
            <a:off x="1097280" y="3063240"/>
            <a:ext cx="3017520" cy="50292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Valuation is mixed</a:t>
            </a:r>
            <a:endParaRPr lang="en-US" sz="1300" dirty="0"/>
          </a:p>
        </p:txBody>
      </p:sp>
      <p:sp>
        <p:nvSpPr>
          <p:cNvPr id="14" name="Text 12"/>
          <p:cNvSpPr/>
          <p:nvPr/>
        </p:nvSpPr>
        <p:spPr>
          <a:xfrm>
            <a:off x="4251960" y="3063240"/>
            <a:ext cx="7406640" cy="502920"/>
          </a:xfrm>
          <a:prstGeom prst="rect">
            <a:avLst/>
          </a:prstGeom>
          <a:noFill/>
          <a:ln/>
        </p:spPr>
        <p:txBody>
          <a:bodyPr wrap="square" rtlCol="0" anchor="ctr"/>
          <a:lstStyle/>
          <a:p>
            <a:pPr marL="0" indent="0">
              <a:lnSpc>
                <a:spcPts val="1400"/>
              </a:lnSpc>
              <a:buNone/>
            </a:pPr>
            <a:r>
              <a:rPr lang="en-US" sz="1200" dirty="0">
                <a:solidFill>
                  <a:srgbClr val="C9D2C7"/>
                </a:solidFill>
                <a:latin typeface="Calibri" pitchFamily="34" charset="0"/>
                <a:ea typeface="Calibri" pitchFamily="34" charset="-122"/>
                <a:cs typeface="Calibri" pitchFamily="34" charset="-120"/>
              </a:rPr>
              <a:t>Relative valuation (Rs. 2,261–2,594) suggests fair-to-cheap; the DCF (Rs. 951) suggests the market price bakes in a substantial brand premium.</a:t>
            </a:r>
            <a:endParaRPr lang="en-US" sz="1200" dirty="0"/>
          </a:p>
        </p:txBody>
      </p:sp>
      <p:sp>
        <p:nvSpPr>
          <p:cNvPr id="15" name="Shape 13"/>
          <p:cNvSpPr/>
          <p:nvPr/>
        </p:nvSpPr>
        <p:spPr>
          <a:xfrm>
            <a:off x="502920" y="3630168"/>
            <a:ext cx="11183112" cy="0"/>
          </a:xfrm>
          <a:prstGeom prst="line">
            <a:avLst/>
          </a:prstGeom>
          <a:noFill/>
          <a:ln w="9525">
            <a:solidFill>
              <a:srgbClr val="3A4738"/>
            </a:solidFill>
            <a:prstDash val="solid"/>
          </a:ln>
        </p:spPr>
      </p:sp>
      <p:sp>
        <p:nvSpPr>
          <p:cNvPr id="16" name="Text 14"/>
          <p:cNvSpPr/>
          <p:nvPr/>
        </p:nvSpPr>
        <p:spPr>
          <a:xfrm>
            <a:off x="502920" y="3840480"/>
            <a:ext cx="502920" cy="502920"/>
          </a:xfrm>
          <a:prstGeom prst="rect">
            <a:avLst/>
          </a:prstGeom>
          <a:noFill/>
          <a:ln/>
        </p:spPr>
        <p:txBody>
          <a:bodyPr wrap="square" rtlCol="0" anchor="ctr"/>
          <a:lstStyle/>
          <a:p>
            <a:pPr marL="0" indent="0">
              <a:buNone/>
            </a:pPr>
            <a:r>
              <a:rPr lang="en-US" sz="2000" b="1" dirty="0">
                <a:solidFill>
                  <a:srgbClr val="D7B79A"/>
                </a:solidFill>
                <a:latin typeface="Georgia" pitchFamily="34" charset="0"/>
                <a:ea typeface="Georgia" pitchFamily="34" charset="-122"/>
                <a:cs typeface="Georgia" pitchFamily="34" charset="-120"/>
              </a:rPr>
              <a:t>4</a:t>
            </a:r>
            <a:endParaRPr lang="en-US" sz="2000" dirty="0"/>
          </a:p>
        </p:txBody>
      </p:sp>
      <p:sp>
        <p:nvSpPr>
          <p:cNvPr id="17" name="Text 15"/>
          <p:cNvSpPr/>
          <p:nvPr/>
        </p:nvSpPr>
        <p:spPr>
          <a:xfrm>
            <a:off x="1097280" y="3840480"/>
            <a:ext cx="3017520" cy="50292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Watch points</a:t>
            </a:r>
            <a:endParaRPr lang="en-US" sz="1300" dirty="0"/>
          </a:p>
        </p:txBody>
      </p:sp>
      <p:sp>
        <p:nvSpPr>
          <p:cNvPr id="18" name="Text 16"/>
          <p:cNvSpPr/>
          <p:nvPr/>
        </p:nvSpPr>
        <p:spPr>
          <a:xfrm>
            <a:off x="4251960" y="3840480"/>
            <a:ext cx="7406640" cy="502920"/>
          </a:xfrm>
          <a:prstGeom prst="rect">
            <a:avLst/>
          </a:prstGeom>
          <a:noFill/>
          <a:ln/>
        </p:spPr>
        <p:txBody>
          <a:bodyPr wrap="square" rtlCol="0" anchor="ctr"/>
          <a:lstStyle/>
          <a:p>
            <a:pPr marL="0" indent="0">
              <a:lnSpc>
                <a:spcPts val="1400"/>
              </a:lnSpc>
              <a:buNone/>
            </a:pPr>
            <a:r>
              <a:rPr lang="en-US" sz="1200" dirty="0">
                <a:solidFill>
                  <a:srgbClr val="C9D2C7"/>
                </a:solidFill>
                <a:latin typeface="Calibri" pitchFamily="34" charset="0"/>
                <a:ea typeface="Calibri" pitchFamily="34" charset="-122"/>
                <a:cs typeface="Calibri" pitchFamily="34" charset="-120"/>
              </a:rPr>
              <a:t>Slowing receivables collection, moderating revenue growth (~5%), and persistently negative working capital.</a:t>
            </a:r>
            <a:endParaRPr lang="en-US" sz="1200" dirty="0"/>
          </a:p>
        </p:txBody>
      </p:sp>
      <p:sp>
        <p:nvSpPr>
          <p:cNvPr id="19" name="Shape 17"/>
          <p:cNvSpPr/>
          <p:nvPr/>
        </p:nvSpPr>
        <p:spPr>
          <a:xfrm>
            <a:off x="502920" y="4407408"/>
            <a:ext cx="11183112" cy="0"/>
          </a:xfrm>
          <a:prstGeom prst="line">
            <a:avLst/>
          </a:prstGeom>
          <a:noFill/>
          <a:ln w="9525">
            <a:solidFill>
              <a:srgbClr val="3A4738"/>
            </a:solidFill>
            <a:prstDash val="solid"/>
          </a:ln>
        </p:spPr>
      </p:sp>
      <p:sp>
        <p:nvSpPr>
          <p:cNvPr id="20" name="Text 18"/>
          <p:cNvSpPr/>
          <p:nvPr/>
        </p:nvSpPr>
        <p:spPr>
          <a:xfrm>
            <a:off x="502920" y="4617720"/>
            <a:ext cx="502920" cy="502920"/>
          </a:xfrm>
          <a:prstGeom prst="rect">
            <a:avLst/>
          </a:prstGeom>
          <a:noFill/>
          <a:ln/>
        </p:spPr>
        <p:txBody>
          <a:bodyPr wrap="square" rtlCol="0" anchor="ctr"/>
          <a:lstStyle/>
          <a:p>
            <a:pPr marL="0" indent="0">
              <a:buNone/>
            </a:pPr>
            <a:r>
              <a:rPr lang="en-US" sz="2000" b="1" dirty="0">
                <a:solidFill>
                  <a:srgbClr val="D7B79A"/>
                </a:solidFill>
                <a:latin typeface="Georgia" pitchFamily="34" charset="0"/>
                <a:ea typeface="Georgia" pitchFamily="34" charset="-122"/>
                <a:cs typeface="Georgia" pitchFamily="34" charset="-120"/>
              </a:rPr>
              <a:t>5</a:t>
            </a:r>
            <a:endParaRPr lang="en-US" sz="2000" dirty="0"/>
          </a:p>
        </p:txBody>
      </p:sp>
      <p:sp>
        <p:nvSpPr>
          <p:cNvPr id="21" name="Text 19"/>
          <p:cNvSpPr/>
          <p:nvPr/>
        </p:nvSpPr>
        <p:spPr>
          <a:xfrm>
            <a:off x="1097280" y="4617720"/>
            <a:ext cx="3017520" cy="50292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Recommendation: HOLD</a:t>
            </a:r>
            <a:endParaRPr lang="en-US" sz="1300" dirty="0"/>
          </a:p>
        </p:txBody>
      </p:sp>
      <p:sp>
        <p:nvSpPr>
          <p:cNvPr id="22" name="Text 20"/>
          <p:cNvSpPr/>
          <p:nvPr/>
        </p:nvSpPr>
        <p:spPr>
          <a:xfrm>
            <a:off x="4251960" y="4617720"/>
            <a:ext cx="7406640" cy="502920"/>
          </a:xfrm>
          <a:prstGeom prst="rect">
            <a:avLst/>
          </a:prstGeom>
          <a:noFill/>
          <a:ln/>
        </p:spPr>
        <p:txBody>
          <a:bodyPr wrap="square" rtlCol="0" anchor="ctr"/>
          <a:lstStyle/>
          <a:p>
            <a:pPr marL="0" indent="0">
              <a:lnSpc>
                <a:spcPts val="1400"/>
              </a:lnSpc>
              <a:buNone/>
            </a:pPr>
            <a:r>
              <a:rPr lang="en-US" sz="1200" dirty="0">
                <a:solidFill>
                  <a:srgbClr val="C9D2C7"/>
                </a:solidFill>
                <a:latin typeface="Calibri" pitchFamily="34" charset="0"/>
                <a:ea typeface="Calibri" pitchFamily="34" charset="-122"/>
                <a:cs typeface="Calibri" pitchFamily="34" charset="-120"/>
              </a:rPr>
              <a:t>Existing holders retain; fresh buyers should wait for a pullback toward the DCF range or a genuine pickup in volume growth.</a:t>
            </a:r>
            <a:endParaRPr lang="en-US" sz="1200" dirty="0"/>
          </a:p>
        </p:txBody>
      </p:sp>
      <p:sp>
        <p:nvSpPr>
          <p:cNvPr id="24" name="Text 22"/>
          <p:cNvSpPr/>
          <p:nvPr/>
        </p:nvSpPr>
        <p:spPr>
          <a:xfrm>
            <a:off x="11231575" y="6309360"/>
            <a:ext cx="457200" cy="274320"/>
          </a:xfrm>
          <a:prstGeom prst="rect">
            <a:avLst/>
          </a:prstGeom>
          <a:noFill/>
          <a:ln/>
        </p:spPr>
        <p:txBody>
          <a:bodyPr wrap="square" rtlCol="0" anchor="ctr"/>
          <a:lstStyle/>
          <a:p>
            <a:pPr marL="0" indent="0" algn="r">
              <a:buNone/>
            </a:pPr>
            <a:r>
              <a:rPr lang="en-US" sz="850" dirty="0">
                <a:solidFill>
                  <a:srgbClr val="9AA79C"/>
                </a:solidFill>
                <a:latin typeface="Calibri" pitchFamily="34" charset="0"/>
                <a:ea typeface="Calibri" pitchFamily="34" charset="-122"/>
                <a:cs typeface="Calibri" pitchFamily="34" charset="-120"/>
              </a:rPr>
              <a:t>14</a:t>
            </a:r>
            <a:endParaRPr lang="en-US" sz="850" dirty="0"/>
          </a:p>
        </p:txBody>
      </p:sp>
      <p:sp>
        <p:nvSpPr>
          <p:cNvPr id="23" name="TextBox 22">
            <a:extLst>
              <a:ext uri="{FF2B5EF4-FFF2-40B4-BE49-F238E27FC236}">
                <a16:creationId xmlns:a16="http://schemas.microsoft.com/office/drawing/2014/main" id="{1E1C92F2-2F8F-7E15-8F11-7E059F8662DB}"/>
              </a:ext>
            </a:extLst>
          </p:cNvPr>
          <p:cNvSpPr txBox="1"/>
          <p:nvPr/>
        </p:nvSpPr>
        <p:spPr>
          <a:xfrm>
            <a:off x="1230283" y="5636043"/>
            <a:ext cx="9576262" cy="369332"/>
          </a:xfrm>
          <a:prstGeom prst="rect">
            <a:avLst/>
          </a:prstGeom>
          <a:noFill/>
        </p:spPr>
        <p:txBody>
          <a:bodyPr wrap="square" rtlCol="0">
            <a:spAutoFit/>
          </a:bodyPr>
          <a:lstStyle/>
          <a:p>
            <a:r>
              <a:rPr lang="en-US" dirty="0">
                <a:solidFill>
                  <a:schemeClr val="bg1"/>
                </a:solidFill>
              </a:rPr>
              <a:t>Excel: </a:t>
            </a:r>
            <a:r>
              <a:rPr lang="en-US" dirty="0">
                <a:solidFill>
                  <a:schemeClr val="bg1"/>
                </a:solidFill>
                <a:hlinkClick r:id="rId3"/>
              </a:rPr>
              <a:t>HUL Full Valuation</a:t>
            </a:r>
            <a:endParaRPr lang="en-US" dirty="0">
              <a:solidFill>
                <a:schemeClr val="bg1"/>
              </a:solidFill>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34</TotalTime>
  <Words>2139</Words>
  <Application>Microsoft Office PowerPoint</Application>
  <PresentationFormat>Widescreen</PresentationFormat>
  <Paragraphs>362</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Raunak Singh</cp:lastModifiedBy>
  <cp:revision>3</cp:revision>
  <dcterms:created xsi:type="dcterms:W3CDTF">2026-08-22T17:51:23Z</dcterms:created>
  <dcterms:modified xsi:type="dcterms:W3CDTF">2026-08-29T20:15:01Z</dcterms:modified>
</cp:coreProperties>
</file>